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64" r:id="rId3"/>
    <p:sldId id="291" r:id="rId4"/>
    <p:sldId id="292" r:id="rId5"/>
    <p:sldId id="293" r:id="rId6"/>
    <p:sldId id="257" r:id="rId7"/>
    <p:sldId id="303" r:id="rId8"/>
    <p:sldId id="267" r:id="rId9"/>
    <p:sldId id="258" r:id="rId10"/>
    <p:sldId id="278" r:id="rId11"/>
    <p:sldId id="259" r:id="rId12"/>
    <p:sldId id="282" r:id="rId13"/>
    <p:sldId id="271" r:id="rId14"/>
    <p:sldId id="273" r:id="rId15"/>
    <p:sldId id="277" r:id="rId16"/>
    <p:sldId id="275" r:id="rId17"/>
    <p:sldId id="283" r:id="rId18"/>
    <p:sldId id="284" r:id="rId19"/>
    <p:sldId id="288" r:id="rId20"/>
    <p:sldId id="286" r:id="rId21"/>
    <p:sldId id="301" r:id="rId22"/>
    <p:sldId id="261" r:id="rId23"/>
    <p:sldId id="285" r:id="rId24"/>
    <p:sldId id="294" r:id="rId25"/>
    <p:sldId id="295" r:id="rId26"/>
    <p:sldId id="296" r:id="rId27"/>
    <p:sldId id="270" r:id="rId28"/>
    <p:sldId id="302" r:id="rId29"/>
    <p:sldId id="297" r:id="rId30"/>
    <p:sldId id="287" r:id="rId31"/>
    <p:sldId id="300" r:id="rId32"/>
    <p:sldId id="298" r:id="rId33"/>
    <p:sldId id="290" r:id="rId34"/>
    <p:sldId id="299" r:id="rId35"/>
    <p:sldId id="266" r:id="rId36"/>
    <p:sldId id="30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250329-9472-4EB4-95DC-0A3648275C70}" v="186" dt="2026-04-07T17:16:34.5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523" autoAdjust="0"/>
  </p:normalViewPr>
  <p:slideViewPr>
    <p:cSldViewPr snapToGrid="0">
      <p:cViewPr varScale="1">
        <p:scale>
          <a:sx n="82" d="100"/>
          <a:sy n="82" d="100"/>
        </p:scale>
        <p:origin x="73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zra Weible" userId="67bcaf2f89c4552e" providerId="LiveId" clId="{E4E19776-AA89-4579-B0CB-50FEF10C4E93}"/>
    <pc:docChg chg="undo redo custSel addSld delSld modSld sldOrd">
      <pc:chgData name="Ezra Weible" userId="67bcaf2f89c4552e" providerId="LiveId" clId="{E4E19776-AA89-4579-B0CB-50FEF10C4E93}" dt="2026-04-07T20:56:03.178" v="21888" actId="20577"/>
      <pc:docMkLst>
        <pc:docMk/>
      </pc:docMkLst>
      <pc:sldChg chg="modSp mod modNotesTx">
        <pc:chgData name="Ezra Weible" userId="67bcaf2f89c4552e" providerId="LiveId" clId="{E4E19776-AA89-4579-B0CB-50FEF10C4E93}" dt="2026-04-07T17:27:31.494" v="19637" actId="1076"/>
        <pc:sldMkLst>
          <pc:docMk/>
          <pc:sldMk cId="875189208" sldId="256"/>
        </pc:sldMkLst>
        <pc:spChg chg="mod">
          <ac:chgData name="Ezra Weible" userId="67bcaf2f89c4552e" providerId="LiveId" clId="{E4E19776-AA89-4579-B0CB-50FEF10C4E93}" dt="2026-04-07T17:27:31.494" v="19637" actId="1076"/>
          <ac:spMkLst>
            <pc:docMk/>
            <pc:sldMk cId="875189208" sldId="256"/>
            <ac:spMk id="2" creationId="{5F017E96-B33B-8FB2-5D5A-4B75BC8D79AE}"/>
          </ac:spMkLst>
        </pc:spChg>
        <pc:spChg chg="mod">
          <ac:chgData name="Ezra Weible" userId="67bcaf2f89c4552e" providerId="LiveId" clId="{E4E19776-AA89-4579-B0CB-50FEF10C4E93}" dt="2026-04-07T17:27:31.494" v="19637" actId="1076"/>
          <ac:spMkLst>
            <pc:docMk/>
            <pc:sldMk cId="875189208" sldId="256"/>
            <ac:spMk id="3" creationId="{2B385980-EBF2-C4F0-4F70-8E2F48576F4F}"/>
          </ac:spMkLst>
        </pc:spChg>
      </pc:sldChg>
      <pc:sldChg chg="modSp mod modNotesTx">
        <pc:chgData name="Ezra Weible" userId="67bcaf2f89c4552e" providerId="LiveId" clId="{E4E19776-AA89-4579-B0CB-50FEF10C4E93}" dt="2026-04-07T17:32:52.549" v="19643" actId="20577"/>
        <pc:sldMkLst>
          <pc:docMk/>
          <pc:sldMk cId="559391358" sldId="257"/>
        </pc:sldMkLst>
        <pc:spChg chg="mod">
          <ac:chgData name="Ezra Weible" userId="67bcaf2f89c4552e" providerId="LiveId" clId="{E4E19776-AA89-4579-B0CB-50FEF10C4E93}" dt="2026-04-07T17:32:52.549" v="19643" actId="20577"/>
          <ac:spMkLst>
            <pc:docMk/>
            <pc:sldMk cId="559391358" sldId="257"/>
            <ac:spMk id="3" creationId="{2A8C60A8-B7A3-E1E6-BD3D-1A6BF6006A12}"/>
          </ac:spMkLst>
        </pc:spChg>
        <pc:spChg chg="mod">
          <ac:chgData name="Ezra Weible" userId="67bcaf2f89c4552e" providerId="LiveId" clId="{E4E19776-AA89-4579-B0CB-50FEF10C4E93}" dt="2026-04-03T17:14:44.846" v="7579" actId="20577"/>
          <ac:spMkLst>
            <pc:docMk/>
            <pc:sldMk cId="559391358" sldId="257"/>
            <ac:spMk id="4" creationId="{57495DBD-827A-8358-14ED-24B2B6E83542}"/>
          </ac:spMkLst>
        </pc:spChg>
      </pc:sldChg>
      <pc:sldChg chg="modSp mod">
        <pc:chgData name="Ezra Weible" userId="67bcaf2f89c4552e" providerId="LiveId" clId="{E4E19776-AA89-4579-B0CB-50FEF10C4E93}" dt="2026-04-07T17:39:36.719" v="19646" actId="20577"/>
        <pc:sldMkLst>
          <pc:docMk/>
          <pc:sldMk cId="3674859345" sldId="258"/>
        </pc:sldMkLst>
        <pc:spChg chg="mod">
          <ac:chgData name="Ezra Weible" userId="67bcaf2f89c4552e" providerId="LiveId" clId="{E4E19776-AA89-4579-B0CB-50FEF10C4E93}" dt="2026-04-07T17:39:36.719" v="19646" actId="20577"/>
          <ac:spMkLst>
            <pc:docMk/>
            <pc:sldMk cId="3674859345" sldId="258"/>
            <ac:spMk id="3" creationId="{72BF229D-4DF7-F8D0-B34B-83C1AF2ABE70}"/>
          </ac:spMkLst>
        </pc:spChg>
      </pc:sldChg>
      <pc:sldChg chg="addSp delSp modSp mod modAnim modNotesTx">
        <pc:chgData name="Ezra Weible" userId="67bcaf2f89c4552e" providerId="LiveId" clId="{E4E19776-AA89-4579-B0CB-50FEF10C4E93}" dt="2026-04-07T17:23:54.027" v="19621" actId="20577"/>
        <pc:sldMkLst>
          <pc:docMk/>
          <pc:sldMk cId="2767281801" sldId="259"/>
        </pc:sldMkLst>
        <pc:spChg chg="mod">
          <ac:chgData name="Ezra Weible" userId="67bcaf2f89c4552e" providerId="LiveId" clId="{E4E19776-AA89-4579-B0CB-50FEF10C4E93}" dt="2026-04-03T02:30:41.847" v="1395" actId="14100"/>
          <ac:spMkLst>
            <pc:docMk/>
            <pc:sldMk cId="2767281801" sldId="259"/>
            <ac:spMk id="3" creationId="{41478F2E-9D04-8D83-7477-95FC9D46E58A}"/>
          </ac:spMkLst>
        </pc:spChg>
        <pc:graphicFrameChg chg="add mod modGraphic">
          <ac:chgData name="Ezra Weible" userId="67bcaf2f89c4552e" providerId="LiveId" clId="{E4E19776-AA89-4579-B0CB-50FEF10C4E93}" dt="2026-04-03T02:25:59.927" v="1348" actId="207"/>
          <ac:graphicFrameMkLst>
            <pc:docMk/>
            <pc:sldMk cId="2767281801" sldId="259"/>
            <ac:graphicFrameMk id="6" creationId="{8EF1DD9A-15D6-1ECB-B162-E7432C084779}"/>
          </ac:graphicFrameMkLst>
        </pc:graphicFrameChg>
        <pc:graphicFrameChg chg="add mod modGraphic">
          <ac:chgData name="Ezra Weible" userId="67bcaf2f89c4552e" providerId="LiveId" clId="{E4E19776-AA89-4579-B0CB-50FEF10C4E93}" dt="2026-04-03T02:28:19.538" v="1364" actId="1076"/>
          <ac:graphicFrameMkLst>
            <pc:docMk/>
            <pc:sldMk cId="2767281801" sldId="259"/>
            <ac:graphicFrameMk id="9" creationId="{0CF60853-D038-8390-3029-9427AF7CE1C0}"/>
          </ac:graphicFrameMkLst>
        </pc:graphicFrameChg>
        <pc:graphicFrameChg chg="add del mod modGraphic">
          <ac:chgData name="Ezra Weible" userId="67bcaf2f89c4552e" providerId="LiveId" clId="{E4E19776-AA89-4579-B0CB-50FEF10C4E93}" dt="2026-04-03T02:32:33.848" v="1411" actId="1076"/>
          <ac:graphicFrameMkLst>
            <pc:docMk/>
            <pc:sldMk cId="2767281801" sldId="259"/>
            <ac:graphicFrameMk id="18" creationId="{07B8F4BF-D49C-65D1-E8D0-977C142BBEF9}"/>
          </ac:graphicFrameMkLst>
        </pc:graphicFrameChg>
        <pc:graphicFrameChg chg="add mod ord modGraphic">
          <ac:chgData name="Ezra Weible" userId="67bcaf2f89c4552e" providerId="LiveId" clId="{E4E19776-AA89-4579-B0CB-50FEF10C4E93}" dt="2026-04-03T02:30:53.286" v="1397" actId="166"/>
          <ac:graphicFrameMkLst>
            <pc:docMk/>
            <pc:sldMk cId="2767281801" sldId="259"/>
            <ac:graphicFrameMk id="20" creationId="{43150FF3-A97D-FF45-69B7-ACDBB8FF05F4}"/>
          </ac:graphicFrameMkLst>
        </pc:graphicFrameChg>
        <pc:graphicFrameChg chg="add mod ord">
          <ac:chgData name="Ezra Weible" userId="67bcaf2f89c4552e" providerId="LiveId" clId="{E4E19776-AA89-4579-B0CB-50FEF10C4E93}" dt="2026-04-03T02:28:51.953" v="1371" actId="1076"/>
          <ac:graphicFrameMkLst>
            <pc:docMk/>
            <pc:sldMk cId="2767281801" sldId="259"/>
            <ac:graphicFrameMk id="29" creationId="{464F2507-7604-CADB-B93B-2590A44E42C1}"/>
          </ac:graphicFrameMkLst>
        </pc:graphicFrameChg>
        <pc:picChg chg="add mod ord">
          <ac:chgData name="Ezra Weible" userId="67bcaf2f89c4552e" providerId="LiveId" clId="{E4E19776-AA89-4579-B0CB-50FEF10C4E93}" dt="2026-04-03T02:33:35.873" v="1420" actId="14100"/>
          <ac:picMkLst>
            <pc:docMk/>
            <pc:sldMk cId="2767281801" sldId="259"/>
            <ac:picMk id="26" creationId="{246888AF-ED92-F70E-4A27-0A157B3D718A}"/>
          </ac:picMkLst>
        </pc:picChg>
        <pc:picChg chg="add mod ord">
          <ac:chgData name="Ezra Weible" userId="67bcaf2f89c4552e" providerId="LiveId" clId="{E4E19776-AA89-4579-B0CB-50FEF10C4E93}" dt="2026-04-03T02:33:59.270" v="1424" actId="1076"/>
          <ac:picMkLst>
            <pc:docMk/>
            <pc:sldMk cId="2767281801" sldId="259"/>
            <ac:picMk id="40" creationId="{F0D9F668-5E6B-BEE5-2CD4-C32EBCBAF9B4}"/>
          </ac:picMkLst>
        </pc:picChg>
        <pc:cxnChg chg="add mod">
          <ac:chgData name="Ezra Weible" userId="67bcaf2f89c4552e" providerId="LiveId" clId="{E4E19776-AA89-4579-B0CB-50FEF10C4E93}" dt="2026-04-03T02:22:16.515" v="1305" actId="1582"/>
          <ac:cxnSpMkLst>
            <pc:docMk/>
            <pc:sldMk cId="2767281801" sldId="259"/>
            <ac:cxnSpMk id="12" creationId="{C0FF964D-41DD-044C-74F2-FF4032C4098E}"/>
          </ac:cxnSpMkLst>
        </pc:cxnChg>
        <pc:cxnChg chg="add mod">
          <ac:chgData name="Ezra Weible" userId="67bcaf2f89c4552e" providerId="LiveId" clId="{E4E19776-AA89-4579-B0CB-50FEF10C4E93}" dt="2026-04-03T02:22:28.275" v="1308" actId="14100"/>
          <ac:cxnSpMkLst>
            <pc:docMk/>
            <pc:sldMk cId="2767281801" sldId="259"/>
            <ac:cxnSpMk id="13" creationId="{494787E1-510C-9BA3-0CFB-AFC42196DB98}"/>
          </ac:cxnSpMkLst>
        </pc:cxnChg>
        <pc:cxnChg chg="add mod">
          <ac:chgData name="Ezra Weible" userId="67bcaf2f89c4552e" providerId="LiveId" clId="{E4E19776-AA89-4579-B0CB-50FEF10C4E93}" dt="2026-04-03T02:32:22.344" v="1409" actId="14100"/>
          <ac:cxnSpMkLst>
            <pc:docMk/>
            <pc:sldMk cId="2767281801" sldId="259"/>
            <ac:cxnSpMk id="17" creationId="{B4F2A27F-F594-73C0-C6B0-89E621DBC8D6}"/>
          </ac:cxnSpMkLst>
        </pc:cxnChg>
        <pc:cxnChg chg="add mod">
          <ac:chgData name="Ezra Weible" userId="67bcaf2f89c4552e" providerId="LiveId" clId="{E4E19776-AA89-4579-B0CB-50FEF10C4E93}" dt="2026-04-03T02:29:58.310" v="1385" actId="14100"/>
          <ac:cxnSpMkLst>
            <pc:docMk/>
            <pc:sldMk cId="2767281801" sldId="259"/>
            <ac:cxnSpMk id="22" creationId="{7132000C-D765-06CB-450C-F488B8A60BEE}"/>
          </ac:cxnSpMkLst>
        </pc:cxnChg>
        <pc:cxnChg chg="add mod">
          <ac:chgData name="Ezra Weible" userId="67bcaf2f89c4552e" providerId="LiveId" clId="{E4E19776-AA89-4579-B0CB-50FEF10C4E93}" dt="2026-04-03T02:31:32.627" v="1402" actId="14100"/>
          <ac:cxnSpMkLst>
            <pc:docMk/>
            <pc:sldMk cId="2767281801" sldId="259"/>
            <ac:cxnSpMk id="24" creationId="{E57F6A2D-6B05-8606-3E75-7118D45A26ED}"/>
          </ac:cxnSpMkLst>
        </pc:cxnChg>
      </pc:sldChg>
      <pc:sldChg chg="addSp delSp modSp mod modNotesTx">
        <pc:chgData name="Ezra Weible" userId="67bcaf2f89c4552e" providerId="LiveId" clId="{E4E19776-AA89-4579-B0CB-50FEF10C4E93}" dt="2026-04-06T16:54:21.737" v="18712" actId="14100"/>
        <pc:sldMkLst>
          <pc:docMk/>
          <pc:sldMk cId="1181814461" sldId="261"/>
        </pc:sldMkLst>
        <pc:spChg chg="mod">
          <ac:chgData name="Ezra Weible" userId="67bcaf2f89c4552e" providerId="LiveId" clId="{E4E19776-AA89-4579-B0CB-50FEF10C4E93}" dt="2026-04-03T02:38:59.820" v="1453" actId="1076"/>
          <ac:spMkLst>
            <pc:docMk/>
            <pc:sldMk cId="1181814461" sldId="261"/>
            <ac:spMk id="2" creationId="{76D52E80-C66E-B530-C62B-57A792302831}"/>
          </ac:spMkLst>
        </pc:spChg>
        <pc:spChg chg="add mod">
          <ac:chgData name="Ezra Weible" userId="67bcaf2f89c4552e" providerId="LiveId" clId="{E4E19776-AA89-4579-B0CB-50FEF10C4E93}" dt="2026-04-05T16:05:10.379" v="14207" actId="14100"/>
          <ac:spMkLst>
            <pc:docMk/>
            <pc:sldMk cId="1181814461" sldId="261"/>
            <ac:spMk id="9" creationId="{2963F7AD-1CEA-B133-E013-8E382E66BD49}"/>
          </ac:spMkLst>
        </pc:spChg>
        <pc:graphicFrameChg chg="add mod ord modGraphic">
          <ac:chgData name="Ezra Weible" userId="67bcaf2f89c4552e" providerId="LiveId" clId="{E4E19776-AA89-4579-B0CB-50FEF10C4E93}" dt="2026-04-06T16:54:21.737" v="18712" actId="14100"/>
          <ac:graphicFrameMkLst>
            <pc:docMk/>
            <pc:sldMk cId="1181814461" sldId="261"/>
            <ac:graphicFrameMk id="3" creationId="{FD91F20C-B56F-DBD9-6BFB-596A276FDF71}"/>
          </ac:graphicFrameMkLst>
        </pc:graphicFrameChg>
      </pc:sldChg>
      <pc:sldChg chg="addSp delSp modSp mod modNotesTx">
        <pc:chgData name="Ezra Weible" userId="67bcaf2f89c4552e" providerId="LiveId" clId="{E4E19776-AA89-4579-B0CB-50FEF10C4E93}" dt="2026-04-03T17:18:11.715" v="7614" actId="20577"/>
        <pc:sldMkLst>
          <pc:docMk/>
          <pc:sldMk cId="2598015972" sldId="264"/>
        </pc:sldMkLst>
        <pc:spChg chg="add mod">
          <ac:chgData name="Ezra Weible" userId="67bcaf2f89c4552e" providerId="LiveId" clId="{E4E19776-AA89-4579-B0CB-50FEF10C4E93}" dt="2026-04-03T00:42:44.233" v="868" actId="6549"/>
          <ac:spMkLst>
            <pc:docMk/>
            <pc:sldMk cId="2598015972" sldId="264"/>
            <ac:spMk id="4" creationId="{6A9B69EF-3401-CDF8-2419-A4762D6375B8}"/>
          </ac:spMkLst>
        </pc:spChg>
        <pc:picChg chg="mod">
          <ac:chgData name="Ezra Weible" userId="67bcaf2f89c4552e" providerId="LiveId" clId="{E4E19776-AA89-4579-B0CB-50FEF10C4E93}" dt="2026-04-03T00:42:51.595" v="870" actId="1076"/>
          <ac:picMkLst>
            <pc:docMk/>
            <pc:sldMk cId="2598015972" sldId="264"/>
            <ac:picMk id="2" creationId="{8430187A-38FE-2A2E-FEE8-F467EBEC8FC4}"/>
          </ac:picMkLst>
        </pc:picChg>
      </pc:sldChg>
      <pc:sldChg chg="modSp mod ord modNotesTx">
        <pc:chgData name="Ezra Weible" userId="67bcaf2f89c4552e" providerId="LiveId" clId="{E4E19776-AA89-4579-B0CB-50FEF10C4E93}" dt="2026-04-07T20:14:56.540" v="20183" actId="20577"/>
        <pc:sldMkLst>
          <pc:docMk/>
          <pc:sldMk cId="3696649212" sldId="266"/>
        </pc:sldMkLst>
        <pc:spChg chg="mod">
          <ac:chgData name="Ezra Weible" userId="67bcaf2f89c4552e" providerId="LiveId" clId="{E4E19776-AA89-4579-B0CB-50FEF10C4E93}" dt="2026-04-03T17:26:44.366" v="9019" actId="20577"/>
          <ac:spMkLst>
            <pc:docMk/>
            <pc:sldMk cId="3696649212" sldId="266"/>
            <ac:spMk id="3" creationId="{C6386B26-18CF-6CFA-F951-B0EFB5197476}"/>
          </ac:spMkLst>
        </pc:spChg>
        <pc:picChg chg="mod">
          <ac:chgData name="Ezra Weible" userId="67bcaf2f89c4552e" providerId="LiveId" clId="{E4E19776-AA89-4579-B0CB-50FEF10C4E93}" dt="2026-03-31T19:06:22.512" v="466" actId="1076"/>
          <ac:picMkLst>
            <pc:docMk/>
            <pc:sldMk cId="3696649212" sldId="266"/>
            <ac:picMk id="11" creationId="{53E39670-9FC3-8385-88EA-FDE9E1C354B0}"/>
          </ac:picMkLst>
        </pc:picChg>
      </pc:sldChg>
      <pc:sldChg chg="modSp mod modNotesTx">
        <pc:chgData name="Ezra Weible" userId="67bcaf2f89c4552e" providerId="LiveId" clId="{E4E19776-AA89-4579-B0CB-50FEF10C4E93}" dt="2026-04-06T16:36:16.424" v="16805" actId="20577"/>
        <pc:sldMkLst>
          <pc:docMk/>
          <pc:sldMk cId="1467921255" sldId="267"/>
        </pc:sldMkLst>
        <pc:spChg chg="mod">
          <ac:chgData name="Ezra Weible" userId="67bcaf2f89c4552e" providerId="LiveId" clId="{E4E19776-AA89-4579-B0CB-50FEF10C4E93}" dt="2026-04-05T18:38:31.528" v="15281" actId="14100"/>
          <ac:spMkLst>
            <pc:docMk/>
            <pc:sldMk cId="1467921255" sldId="267"/>
            <ac:spMk id="3" creationId="{F14A6AE9-CF3B-A0E6-184E-7E3598F6BB0C}"/>
          </ac:spMkLst>
        </pc:spChg>
        <pc:picChg chg="mod">
          <ac:chgData name="Ezra Weible" userId="67bcaf2f89c4552e" providerId="LiveId" clId="{E4E19776-AA89-4579-B0CB-50FEF10C4E93}" dt="2026-04-03T18:15:58.546" v="10489" actId="1076"/>
          <ac:picMkLst>
            <pc:docMk/>
            <pc:sldMk cId="1467921255" sldId="267"/>
            <ac:picMk id="2054" creationId="{125A97CC-B521-F49B-911A-8C0157756CEA}"/>
          </ac:picMkLst>
        </pc:picChg>
      </pc:sldChg>
      <pc:sldChg chg="modSp mod modNotesTx">
        <pc:chgData name="Ezra Weible" userId="67bcaf2f89c4552e" providerId="LiveId" clId="{E4E19776-AA89-4579-B0CB-50FEF10C4E93}" dt="2026-04-06T19:34:32.182" v="19092" actId="20577"/>
        <pc:sldMkLst>
          <pc:docMk/>
          <pc:sldMk cId="4251989772" sldId="270"/>
        </pc:sldMkLst>
        <pc:spChg chg="mod">
          <ac:chgData name="Ezra Weible" userId="67bcaf2f89c4552e" providerId="LiveId" clId="{E4E19776-AA89-4579-B0CB-50FEF10C4E93}" dt="2026-04-03T03:05:08.639" v="3867" actId="20577"/>
          <ac:spMkLst>
            <pc:docMk/>
            <pc:sldMk cId="4251989772" sldId="270"/>
            <ac:spMk id="2" creationId="{F7370A1A-3BEA-D55F-8C29-2D404CFDF1FA}"/>
          </ac:spMkLst>
        </pc:spChg>
        <pc:spChg chg="mod">
          <ac:chgData name="Ezra Weible" userId="67bcaf2f89c4552e" providerId="LiveId" clId="{E4E19776-AA89-4579-B0CB-50FEF10C4E93}" dt="2026-04-06T19:34:32.182" v="19092" actId="20577"/>
          <ac:spMkLst>
            <pc:docMk/>
            <pc:sldMk cId="4251989772" sldId="270"/>
            <ac:spMk id="3" creationId="{3E37B686-DD44-AA29-A5F3-326530CE8FC5}"/>
          </ac:spMkLst>
        </pc:spChg>
      </pc:sldChg>
      <pc:sldChg chg="modSp mod modNotesTx">
        <pc:chgData name="Ezra Weible" userId="67bcaf2f89c4552e" providerId="LiveId" clId="{E4E19776-AA89-4579-B0CB-50FEF10C4E93}" dt="2026-04-05T18:42:13.585" v="15617" actId="20577"/>
        <pc:sldMkLst>
          <pc:docMk/>
          <pc:sldMk cId="318814614" sldId="271"/>
        </pc:sldMkLst>
        <pc:spChg chg="mod">
          <ac:chgData name="Ezra Weible" userId="67bcaf2f89c4552e" providerId="LiveId" clId="{E4E19776-AA89-4579-B0CB-50FEF10C4E93}" dt="2026-04-03T03:37:57.590" v="4922" actId="27636"/>
          <ac:spMkLst>
            <pc:docMk/>
            <pc:sldMk cId="318814614" sldId="271"/>
            <ac:spMk id="10" creationId="{8F54C25E-ADAA-5203-7182-733C640B47B4}"/>
          </ac:spMkLst>
        </pc:spChg>
      </pc:sldChg>
      <pc:sldChg chg="modSp mod modNotesTx">
        <pc:chgData name="Ezra Weible" userId="67bcaf2f89c4552e" providerId="LiveId" clId="{E4E19776-AA89-4579-B0CB-50FEF10C4E93}" dt="2026-04-07T02:27:23.431" v="19188" actId="20577"/>
        <pc:sldMkLst>
          <pc:docMk/>
          <pc:sldMk cId="4002789189" sldId="273"/>
        </pc:sldMkLst>
        <pc:spChg chg="mod">
          <ac:chgData name="Ezra Weible" userId="67bcaf2f89c4552e" providerId="LiveId" clId="{E4E19776-AA89-4579-B0CB-50FEF10C4E93}" dt="2026-04-06T16:48:32.821" v="18148"/>
          <ac:spMkLst>
            <pc:docMk/>
            <pc:sldMk cId="4002789189" sldId="273"/>
            <ac:spMk id="8" creationId="{A568AA2D-152F-3939-BC1B-C0315A9075F8}"/>
          </ac:spMkLst>
        </pc:spChg>
        <pc:spChg chg="mod">
          <ac:chgData name="Ezra Weible" userId="67bcaf2f89c4552e" providerId="LiveId" clId="{E4E19776-AA89-4579-B0CB-50FEF10C4E93}" dt="2026-04-03T03:38:17.760" v="4924" actId="207"/>
          <ac:spMkLst>
            <pc:docMk/>
            <pc:sldMk cId="4002789189" sldId="273"/>
            <ac:spMk id="12" creationId="{6E14B25A-471D-3DE4-411A-85D9AB2E4A8A}"/>
          </ac:spMkLst>
        </pc:spChg>
      </pc:sldChg>
      <pc:sldChg chg="addSp modSp mod modNotesTx">
        <pc:chgData name="Ezra Weible" userId="67bcaf2f89c4552e" providerId="LiveId" clId="{E4E19776-AA89-4579-B0CB-50FEF10C4E93}" dt="2026-04-06T16:50:43.420" v="18710" actId="20577"/>
        <pc:sldMkLst>
          <pc:docMk/>
          <pc:sldMk cId="2927433502" sldId="275"/>
        </pc:sldMkLst>
        <pc:spChg chg="add mod">
          <ac:chgData name="Ezra Weible" userId="67bcaf2f89c4552e" providerId="LiveId" clId="{E4E19776-AA89-4579-B0CB-50FEF10C4E93}" dt="2026-04-03T02:45:57.445" v="1795" actId="27636"/>
          <ac:spMkLst>
            <pc:docMk/>
            <pc:sldMk cId="2927433502" sldId="275"/>
            <ac:spMk id="3" creationId="{E86AADF7-B492-CA7A-0771-3EAFB2893A65}"/>
          </ac:spMkLst>
        </pc:spChg>
        <pc:picChg chg="mod">
          <ac:chgData name="Ezra Weible" userId="67bcaf2f89c4552e" providerId="LiveId" clId="{E4E19776-AA89-4579-B0CB-50FEF10C4E93}" dt="2026-04-03T02:45:08.653" v="1588" actId="1076"/>
          <ac:picMkLst>
            <pc:docMk/>
            <pc:sldMk cId="2927433502" sldId="275"/>
            <ac:picMk id="4" creationId="{FFC7F48F-D410-A085-31BD-0809B1A55281}"/>
          </ac:picMkLst>
        </pc:picChg>
      </pc:sldChg>
      <pc:sldChg chg="addSp modSp mod modNotesTx">
        <pc:chgData name="Ezra Weible" userId="67bcaf2f89c4552e" providerId="LiveId" clId="{E4E19776-AA89-4579-B0CB-50FEF10C4E93}" dt="2026-04-05T18:45:01.772" v="16338" actId="20577"/>
        <pc:sldMkLst>
          <pc:docMk/>
          <pc:sldMk cId="3448840591" sldId="277"/>
        </pc:sldMkLst>
        <pc:spChg chg="add mod">
          <ac:chgData name="Ezra Weible" userId="67bcaf2f89c4552e" providerId="LiveId" clId="{E4E19776-AA89-4579-B0CB-50FEF10C4E93}" dt="2026-04-03T02:44:49.147" v="1585" actId="27636"/>
          <ac:spMkLst>
            <pc:docMk/>
            <pc:sldMk cId="3448840591" sldId="277"/>
            <ac:spMk id="3" creationId="{37EE8EC9-62EF-8868-150B-9D1509DCB50C}"/>
          </ac:spMkLst>
        </pc:spChg>
        <pc:picChg chg="mod">
          <ac:chgData name="Ezra Weible" userId="67bcaf2f89c4552e" providerId="LiveId" clId="{E4E19776-AA89-4579-B0CB-50FEF10C4E93}" dt="2026-04-03T02:43:55.791" v="1457" actId="1076"/>
          <ac:picMkLst>
            <pc:docMk/>
            <pc:sldMk cId="3448840591" sldId="277"/>
            <ac:picMk id="8" creationId="{6B748B2D-58E8-EAF7-F357-6A04FCE13964}"/>
          </ac:picMkLst>
        </pc:picChg>
      </pc:sldChg>
      <pc:sldChg chg="addSp delSp modSp mod modNotesTx">
        <pc:chgData name="Ezra Weible" userId="67bcaf2f89c4552e" providerId="LiveId" clId="{E4E19776-AA89-4579-B0CB-50FEF10C4E93}" dt="2026-04-05T18:40:06.323" v="15348" actId="20577"/>
        <pc:sldMkLst>
          <pc:docMk/>
          <pc:sldMk cId="220205350" sldId="278"/>
        </pc:sldMkLst>
        <pc:spChg chg="mod">
          <ac:chgData name="Ezra Weible" userId="67bcaf2f89c4552e" providerId="LiveId" clId="{E4E19776-AA89-4579-B0CB-50FEF10C4E93}" dt="2026-04-03T03:36:31.809" v="4897" actId="14100"/>
          <ac:spMkLst>
            <pc:docMk/>
            <pc:sldMk cId="220205350" sldId="278"/>
            <ac:spMk id="3" creationId="{F92CD0A6-26BB-ED8C-8338-505577AF2C98}"/>
          </ac:spMkLst>
        </pc:spChg>
        <pc:picChg chg="add mod">
          <ac:chgData name="Ezra Weible" userId="67bcaf2f89c4552e" providerId="LiveId" clId="{E4E19776-AA89-4579-B0CB-50FEF10C4E93}" dt="2026-04-03T03:36:26.960" v="4896" actId="1076"/>
          <ac:picMkLst>
            <pc:docMk/>
            <pc:sldMk cId="220205350" sldId="278"/>
            <ac:picMk id="1026" creationId="{AD2D5401-37F2-B0EE-30C6-FCC4E475EDDA}"/>
          </ac:picMkLst>
        </pc:picChg>
      </pc:sldChg>
      <pc:sldChg chg="modSp mod ord modNotesTx">
        <pc:chgData name="Ezra Weible" userId="67bcaf2f89c4552e" providerId="LiveId" clId="{E4E19776-AA89-4579-B0CB-50FEF10C4E93}" dt="2026-04-06T16:47:35.926" v="18144" actId="20577"/>
        <pc:sldMkLst>
          <pc:docMk/>
          <pc:sldMk cId="3885635624" sldId="282"/>
        </pc:sldMkLst>
        <pc:spChg chg="mod">
          <ac:chgData name="Ezra Weible" userId="67bcaf2f89c4552e" providerId="LiveId" clId="{E4E19776-AA89-4579-B0CB-50FEF10C4E93}" dt="2026-04-03T03:37:43.542" v="4917" actId="27636"/>
          <ac:spMkLst>
            <pc:docMk/>
            <pc:sldMk cId="3885635624" sldId="282"/>
            <ac:spMk id="10" creationId="{180691B9-3F9C-B683-4A76-6A3E9D8C56C5}"/>
          </ac:spMkLst>
        </pc:spChg>
      </pc:sldChg>
      <pc:sldChg chg="addSp modSp mod modNotesTx">
        <pc:chgData name="Ezra Weible" userId="67bcaf2f89c4552e" providerId="LiveId" clId="{E4E19776-AA89-4579-B0CB-50FEF10C4E93}" dt="2026-04-07T19:58:35.402" v="19869" actId="20577"/>
        <pc:sldMkLst>
          <pc:docMk/>
          <pc:sldMk cId="4019548605" sldId="283"/>
        </pc:sldMkLst>
        <pc:spChg chg="add mod">
          <ac:chgData name="Ezra Weible" userId="67bcaf2f89c4552e" providerId="LiveId" clId="{E4E19776-AA89-4579-B0CB-50FEF10C4E93}" dt="2026-04-03T02:46:55.324" v="1947" actId="20577"/>
          <ac:spMkLst>
            <pc:docMk/>
            <pc:sldMk cId="4019548605" sldId="283"/>
            <ac:spMk id="3" creationId="{1D47342F-61A6-748F-A6F6-91F6A53A637C}"/>
          </ac:spMkLst>
        </pc:spChg>
        <pc:picChg chg="mod">
          <ac:chgData name="Ezra Weible" userId="67bcaf2f89c4552e" providerId="LiveId" clId="{E4E19776-AA89-4579-B0CB-50FEF10C4E93}" dt="2026-04-03T02:46:11.208" v="1798" actId="1076"/>
          <ac:picMkLst>
            <pc:docMk/>
            <pc:sldMk cId="4019548605" sldId="283"/>
            <ac:picMk id="5" creationId="{201BDB62-66B5-5268-F498-FCAB64BE8442}"/>
          </ac:picMkLst>
        </pc:picChg>
      </pc:sldChg>
      <pc:sldChg chg="addSp delSp modSp mod modNotesTx">
        <pc:chgData name="Ezra Weible" userId="67bcaf2f89c4552e" providerId="LiveId" clId="{E4E19776-AA89-4579-B0CB-50FEF10C4E93}" dt="2026-04-03T18:16:19.178" v="10519" actId="20577"/>
        <pc:sldMkLst>
          <pc:docMk/>
          <pc:sldMk cId="322099442" sldId="284"/>
        </pc:sldMkLst>
        <pc:spChg chg="mod">
          <ac:chgData name="Ezra Weible" userId="67bcaf2f89c4552e" providerId="LiveId" clId="{E4E19776-AA89-4579-B0CB-50FEF10C4E93}" dt="2026-04-03T02:48:25.781" v="2002" actId="1076"/>
          <ac:spMkLst>
            <pc:docMk/>
            <pc:sldMk cId="322099442" sldId="284"/>
            <ac:spMk id="2" creationId="{B9FC1750-823F-79ED-A0F0-B3F4697FC482}"/>
          </ac:spMkLst>
        </pc:spChg>
        <pc:spChg chg="add mod">
          <ac:chgData name="Ezra Weible" userId="67bcaf2f89c4552e" providerId="LiveId" clId="{E4E19776-AA89-4579-B0CB-50FEF10C4E93}" dt="2026-04-03T18:16:19.178" v="10519" actId="20577"/>
          <ac:spMkLst>
            <pc:docMk/>
            <pc:sldMk cId="322099442" sldId="284"/>
            <ac:spMk id="3" creationId="{C4EA371A-BC5F-B926-D8C1-C2204FF755A3}"/>
          </ac:spMkLst>
        </pc:spChg>
        <pc:picChg chg="mod">
          <ac:chgData name="Ezra Weible" userId="67bcaf2f89c4552e" providerId="LiveId" clId="{E4E19776-AA89-4579-B0CB-50FEF10C4E93}" dt="2026-04-03T02:48:25.227" v="2001" actId="14100"/>
          <ac:picMkLst>
            <pc:docMk/>
            <pc:sldMk cId="322099442" sldId="284"/>
            <ac:picMk id="5" creationId="{A25144C5-E5D0-8861-0461-C460FF2BC8D7}"/>
          </ac:picMkLst>
        </pc:picChg>
      </pc:sldChg>
      <pc:sldChg chg="modSp mod modNotesTx">
        <pc:chgData name="Ezra Weible" userId="67bcaf2f89c4552e" providerId="LiveId" clId="{E4E19776-AA89-4579-B0CB-50FEF10C4E93}" dt="2026-04-07T20:22:59.242" v="20518" actId="20577"/>
        <pc:sldMkLst>
          <pc:docMk/>
          <pc:sldMk cId="2705741922" sldId="285"/>
        </pc:sldMkLst>
        <pc:spChg chg="mod">
          <ac:chgData name="Ezra Weible" userId="67bcaf2f89c4552e" providerId="LiveId" clId="{E4E19776-AA89-4579-B0CB-50FEF10C4E93}" dt="2026-04-06T16:55:37.375" v="18853" actId="27636"/>
          <ac:spMkLst>
            <pc:docMk/>
            <pc:sldMk cId="2705741922" sldId="285"/>
            <ac:spMk id="7" creationId="{8493C406-6455-18C1-3959-40C6D9775D5F}"/>
          </ac:spMkLst>
        </pc:spChg>
      </pc:sldChg>
      <pc:sldChg chg="addSp delSp modSp mod modNotesTx">
        <pc:chgData name="Ezra Weible" userId="67bcaf2f89c4552e" providerId="LiveId" clId="{E4E19776-AA89-4579-B0CB-50FEF10C4E93}" dt="2026-04-03T03:43:08.484" v="5090" actId="20577"/>
        <pc:sldMkLst>
          <pc:docMk/>
          <pc:sldMk cId="1834493517" sldId="286"/>
        </pc:sldMkLst>
        <pc:spChg chg="add mod">
          <ac:chgData name="Ezra Weible" userId="67bcaf2f89c4552e" providerId="LiveId" clId="{E4E19776-AA89-4579-B0CB-50FEF10C4E93}" dt="2026-04-03T02:49:39.338" v="2018" actId="1076"/>
          <ac:spMkLst>
            <pc:docMk/>
            <pc:sldMk cId="1834493517" sldId="286"/>
            <ac:spMk id="3" creationId="{ABD36D77-5F96-4ECE-CCF2-B41BCAC2243E}"/>
          </ac:spMkLst>
        </pc:spChg>
        <pc:spChg chg="add mod">
          <ac:chgData name="Ezra Weible" userId="67bcaf2f89c4552e" providerId="LiveId" clId="{E4E19776-AA89-4579-B0CB-50FEF10C4E93}" dt="2026-04-03T03:43:02.670" v="5086" actId="27636"/>
          <ac:spMkLst>
            <pc:docMk/>
            <pc:sldMk cId="1834493517" sldId="286"/>
            <ac:spMk id="4" creationId="{DC195009-84BF-2DFE-479B-3ED2C85151C4}"/>
          </ac:spMkLst>
        </pc:spChg>
        <pc:picChg chg="mod">
          <ac:chgData name="Ezra Weible" userId="67bcaf2f89c4552e" providerId="LiveId" clId="{E4E19776-AA89-4579-B0CB-50FEF10C4E93}" dt="2026-04-03T02:49:19.702" v="2015" actId="14100"/>
          <ac:picMkLst>
            <pc:docMk/>
            <pc:sldMk cId="1834493517" sldId="286"/>
            <ac:picMk id="5" creationId="{ED97E560-B4B1-4189-6F0D-39B6AB89B68C}"/>
          </ac:picMkLst>
        </pc:picChg>
      </pc:sldChg>
      <pc:sldChg chg="addSp delSp modSp new mod ord">
        <pc:chgData name="Ezra Weible" userId="67bcaf2f89c4552e" providerId="LiveId" clId="{E4E19776-AA89-4579-B0CB-50FEF10C4E93}" dt="2026-04-06T19:21:29.703" v="18994"/>
        <pc:sldMkLst>
          <pc:docMk/>
          <pc:sldMk cId="3415720354" sldId="287"/>
        </pc:sldMkLst>
        <pc:spChg chg="mod">
          <ac:chgData name="Ezra Weible" userId="67bcaf2f89c4552e" providerId="LiveId" clId="{E4E19776-AA89-4579-B0CB-50FEF10C4E93}" dt="2026-03-30T22:00:54.795" v="131" actId="20577"/>
          <ac:spMkLst>
            <pc:docMk/>
            <pc:sldMk cId="3415720354" sldId="287"/>
            <ac:spMk id="2" creationId="{FD2FC290-6ECD-637A-F2EF-5493BCA9391A}"/>
          </ac:spMkLst>
        </pc:spChg>
        <pc:spChg chg="mod">
          <ac:chgData name="Ezra Weible" userId="67bcaf2f89c4552e" providerId="LiveId" clId="{E4E19776-AA89-4579-B0CB-50FEF10C4E93}" dt="2026-04-03T03:05:54.864" v="3889" actId="20577"/>
          <ac:spMkLst>
            <pc:docMk/>
            <pc:sldMk cId="3415720354" sldId="287"/>
            <ac:spMk id="3" creationId="{99369783-599E-F617-200A-BCD93A685B34}"/>
          </ac:spMkLst>
        </pc:spChg>
        <pc:picChg chg="add mod">
          <ac:chgData name="Ezra Weible" userId="67bcaf2f89c4552e" providerId="LiveId" clId="{E4E19776-AA89-4579-B0CB-50FEF10C4E93}" dt="2026-03-30T22:12:33.237" v="414" actId="1076"/>
          <ac:picMkLst>
            <pc:docMk/>
            <pc:sldMk cId="3415720354" sldId="287"/>
            <ac:picMk id="1026" creationId="{155F9CF4-B6D8-F5B1-A719-98415E63B8F7}"/>
          </ac:picMkLst>
        </pc:picChg>
        <pc:picChg chg="add mod">
          <ac:chgData name="Ezra Weible" userId="67bcaf2f89c4552e" providerId="LiveId" clId="{E4E19776-AA89-4579-B0CB-50FEF10C4E93}" dt="2026-03-30T22:12:28.643" v="413" actId="14100"/>
          <ac:picMkLst>
            <pc:docMk/>
            <pc:sldMk cId="3415720354" sldId="287"/>
            <ac:picMk id="1028" creationId="{3F393AC6-52FC-21AB-2455-C44040F9DCB1}"/>
          </ac:picMkLst>
        </pc:picChg>
      </pc:sldChg>
      <pc:sldChg chg="addSp modSp new mod modNotesTx">
        <pc:chgData name="Ezra Weible" userId="67bcaf2f89c4552e" providerId="LiveId" clId="{E4E19776-AA89-4579-B0CB-50FEF10C4E93}" dt="2026-04-05T17:56:24.653" v="14488" actId="20577"/>
        <pc:sldMkLst>
          <pc:docMk/>
          <pc:sldMk cId="2225801808" sldId="288"/>
        </pc:sldMkLst>
        <pc:spChg chg="mod">
          <ac:chgData name="Ezra Weible" userId="67bcaf2f89c4552e" providerId="LiveId" clId="{E4E19776-AA89-4579-B0CB-50FEF10C4E93}" dt="2026-04-03T02:48:22.242" v="1999" actId="1076"/>
          <ac:spMkLst>
            <pc:docMk/>
            <pc:sldMk cId="2225801808" sldId="288"/>
            <ac:spMk id="2" creationId="{2FE3FD00-C95F-A5A7-FAC6-63482FE6DB4F}"/>
          </ac:spMkLst>
        </pc:spChg>
        <pc:spChg chg="mod">
          <ac:chgData name="Ezra Weible" userId="67bcaf2f89c4552e" providerId="LiveId" clId="{E4E19776-AA89-4579-B0CB-50FEF10C4E93}" dt="2026-04-03T02:50:30.480" v="2110" actId="20577"/>
          <ac:spMkLst>
            <pc:docMk/>
            <pc:sldMk cId="2225801808" sldId="288"/>
            <ac:spMk id="3" creationId="{168DDF37-A311-1899-6FF9-CD1AF7D08DDA}"/>
          </ac:spMkLst>
        </pc:spChg>
        <pc:picChg chg="add mod ord">
          <ac:chgData name="Ezra Weible" userId="67bcaf2f89c4552e" providerId="LiveId" clId="{E4E19776-AA89-4579-B0CB-50FEF10C4E93}" dt="2026-04-03T02:48:21.773" v="1998" actId="14100"/>
          <ac:picMkLst>
            <pc:docMk/>
            <pc:sldMk cId="2225801808" sldId="288"/>
            <ac:picMk id="8" creationId="{0BB5267D-E078-9D43-CDAA-C84F220F5DA6}"/>
          </ac:picMkLst>
        </pc:picChg>
      </pc:sldChg>
      <pc:sldChg chg="modSp new mod">
        <pc:chgData name="Ezra Weible" userId="67bcaf2f89c4552e" providerId="LiveId" clId="{E4E19776-AA89-4579-B0CB-50FEF10C4E93}" dt="2026-04-05T18:51:12.898" v="16773" actId="20577"/>
        <pc:sldMkLst>
          <pc:docMk/>
          <pc:sldMk cId="4275891351" sldId="290"/>
        </pc:sldMkLst>
        <pc:spChg chg="mod">
          <ac:chgData name="Ezra Weible" userId="67bcaf2f89c4552e" providerId="LiveId" clId="{E4E19776-AA89-4579-B0CB-50FEF10C4E93}" dt="2026-03-31T19:54:02.645" v="495" actId="20577"/>
          <ac:spMkLst>
            <pc:docMk/>
            <pc:sldMk cId="4275891351" sldId="290"/>
            <ac:spMk id="2" creationId="{6F607868-686B-478B-E668-92EAA112ABB8}"/>
          </ac:spMkLst>
        </pc:spChg>
        <pc:spChg chg="mod">
          <ac:chgData name="Ezra Weible" userId="67bcaf2f89c4552e" providerId="LiveId" clId="{E4E19776-AA89-4579-B0CB-50FEF10C4E93}" dt="2026-04-05T18:51:12.898" v="16773" actId="20577"/>
          <ac:spMkLst>
            <pc:docMk/>
            <pc:sldMk cId="4275891351" sldId="290"/>
            <ac:spMk id="3" creationId="{DF953787-BC92-00F2-7FA7-0A71CDFD2778}"/>
          </ac:spMkLst>
        </pc:spChg>
      </pc:sldChg>
      <pc:sldChg chg="addSp delSp modSp add mod modNotesTx">
        <pc:chgData name="Ezra Weible" userId="67bcaf2f89c4552e" providerId="LiveId" clId="{E4E19776-AA89-4579-B0CB-50FEF10C4E93}" dt="2026-04-03T17:19:50.616" v="7694" actId="20577"/>
        <pc:sldMkLst>
          <pc:docMk/>
          <pc:sldMk cId="1221945531" sldId="291"/>
        </pc:sldMkLst>
        <pc:spChg chg="add mod">
          <ac:chgData name="Ezra Weible" userId="67bcaf2f89c4552e" providerId="LiveId" clId="{E4E19776-AA89-4579-B0CB-50FEF10C4E93}" dt="2026-04-03T00:43:11.104" v="878" actId="1035"/>
          <ac:spMkLst>
            <pc:docMk/>
            <pc:sldMk cId="1221945531" sldId="291"/>
            <ac:spMk id="4" creationId="{64D89C66-1D0C-1057-3CDF-16249697A8F5}"/>
          </ac:spMkLst>
        </pc:spChg>
        <pc:picChg chg="mod">
          <ac:chgData name="Ezra Weible" userId="67bcaf2f89c4552e" providerId="LiveId" clId="{E4E19776-AA89-4579-B0CB-50FEF10C4E93}" dt="2026-04-03T00:43:27.916" v="884" actId="1076"/>
          <ac:picMkLst>
            <pc:docMk/>
            <pc:sldMk cId="1221945531" sldId="291"/>
            <ac:picMk id="1026" creationId="{C6E12F31-C411-D1C1-F3D1-CDE7A145C36B}"/>
          </ac:picMkLst>
        </pc:picChg>
      </pc:sldChg>
      <pc:sldChg chg="addSp delSp modSp add modNotesTx">
        <pc:chgData name="Ezra Weible" userId="67bcaf2f89c4552e" providerId="LiveId" clId="{E4E19776-AA89-4579-B0CB-50FEF10C4E93}" dt="2026-04-03T17:20:08.592" v="7698" actId="5793"/>
        <pc:sldMkLst>
          <pc:docMk/>
          <pc:sldMk cId="101860177" sldId="292"/>
        </pc:sldMkLst>
        <pc:spChg chg="add mod">
          <ac:chgData name="Ezra Weible" userId="67bcaf2f89c4552e" providerId="LiveId" clId="{E4E19776-AA89-4579-B0CB-50FEF10C4E93}" dt="2026-04-03T00:43:13.048" v="879"/>
          <ac:spMkLst>
            <pc:docMk/>
            <pc:sldMk cId="101860177" sldId="292"/>
            <ac:spMk id="4" creationId="{6E9FE005-1EA0-D630-DA36-C2B54E757412}"/>
          </ac:spMkLst>
        </pc:spChg>
        <pc:picChg chg="mod">
          <ac:chgData name="Ezra Weible" userId="67bcaf2f89c4552e" providerId="LiveId" clId="{E4E19776-AA89-4579-B0CB-50FEF10C4E93}" dt="2026-04-03T00:43:40.198" v="890" actId="1076"/>
          <ac:picMkLst>
            <pc:docMk/>
            <pc:sldMk cId="101860177" sldId="292"/>
            <ac:picMk id="3" creationId="{BDDFD9A5-AD18-CB50-F558-A9DD9B56B661}"/>
          </ac:picMkLst>
        </pc:picChg>
      </pc:sldChg>
      <pc:sldChg chg="addSp delSp modSp add modNotesTx">
        <pc:chgData name="Ezra Weible" userId="67bcaf2f89c4552e" providerId="LiveId" clId="{E4E19776-AA89-4579-B0CB-50FEF10C4E93}" dt="2026-04-03T17:23:17.326" v="8194" actId="20577"/>
        <pc:sldMkLst>
          <pc:docMk/>
          <pc:sldMk cId="84859942" sldId="293"/>
        </pc:sldMkLst>
        <pc:spChg chg="add mod">
          <ac:chgData name="Ezra Weible" userId="67bcaf2f89c4552e" providerId="LiveId" clId="{E4E19776-AA89-4579-B0CB-50FEF10C4E93}" dt="2026-04-03T00:43:14.411" v="880"/>
          <ac:spMkLst>
            <pc:docMk/>
            <pc:sldMk cId="84859942" sldId="293"/>
            <ac:spMk id="4" creationId="{3EE3472C-081F-73FE-CEA7-51E893F27233}"/>
          </ac:spMkLst>
        </pc:spChg>
        <pc:picChg chg="mod">
          <ac:chgData name="Ezra Weible" userId="67bcaf2f89c4552e" providerId="LiveId" clId="{E4E19776-AA89-4579-B0CB-50FEF10C4E93}" dt="2026-04-03T00:44:33.836" v="901" actId="1076"/>
          <ac:picMkLst>
            <pc:docMk/>
            <pc:sldMk cId="84859942" sldId="293"/>
            <ac:picMk id="5" creationId="{1B80DF18-CFD6-CAD5-A58B-7DBE9B798A92}"/>
          </ac:picMkLst>
        </pc:picChg>
        <pc:picChg chg="add mod">
          <ac:chgData name="Ezra Weible" userId="67bcaf2f89c4552e" providerId="LiveId" clId="{E4E19776-AA89-4579-B0CB-50FEF10C4E93}" dt="2026-04-03T03:34:07.098" v="4883" actId="1076"/>
          <ac:picMkLst>
            <pc:docMk/>
            <pc:sldMk cId="84859942" sldId="293"/>
            <ac:picMk id="6" creationId="{2B72D52B-809A-C4E6-2146-F8581AB0E773}"/>
          </ac:picMkLst>
        </pc:picChg>
        <pc:picChg chg="mod">
          <ac:chgData name="Ezra Weible" userId="67bcaf2f89c4552e" providerId="LiveId" clId="{E4E19776-AA89-4579-B0CB-50FEF10C4E93}" dt="2026-04-03T00:44:05.509" v="896" actId="1076"/>
          <ac:picMkLst>
            <pc:docMk/>
            <pc:sldMk cId="84859942" sldId="293"/>
            <ac:picMk id="1030" creationId="{381E26CF-8FBB-F222-7158-611DDAD3C072}"/>
          </ac:picMkLst>
        </pc:picChg>
        <pc:picChg chg="mod">
          <ac:chgData name="Ezra Weible" userId="67bcaf2f89c4552e" providerId="LiveId" clId="{E4E19776-AA89-4579-B0CB-50FEF10C4E93}" dt="2026-04-03T00:44:13.798" v="897" actId="1076"/>
          <ac:picMkLst>
            <pc:docMk/>
            <pc:sldMk cId="84859942" sldId="293"/>
            <ac:picMk id="1032" creationId="{0209858C-A02C-9DAB-B6EA-581F94B4B2F4}"/>
          </ac:picMkLst>
        </pc:picChg>
        <pc:picChg chg="mod">
          <ac:chgData name="Ezra Weible" userId="67bcaf2f89c4552e" providerId="LiveId" clId="{E4E19776-AA89-4579-B0CB-50FEF10C4E93}" dt="2026-04-03T00:44:40.409" v="902" actId="1076"/>
          <ac:picMkLst>
            <pc:docMk/>
            <pc:sldMk cId="84859942" sldId="293"/>
            <ac:picMk id="1034" creationId="{96FF33D7-70D2-1246-1484-B680D618F91E}"/>
          </ac:picMkLst>
        </pc:picChg>
        <pc:picChg chg="mod">
          <ac:chgData name="Ezra Weible" userId="67bcaf2f89c4552e" providerId="LiveId" clId="{E4E19776-AA89-4579-B0CB-50FEF10C4E93}" dt="2026-04-03T00:44:16.989" v="898" actId="1076"/>
          <ac:picMkLst>
            <pc:docMk/>
            <pc:sldMk cId="84859942" sldId="293"/>
            <ac:picMk id="1036" creationId="{E49E416F-9730-8C61-D76F-3C3F04CC4083}"/>
          </ac:picMkLst>
        </pc:picChg>
        <pc:picChg chg="mod">
          <ac:chgData name="Ezra Weible" userId="67bcaf2f89c4552e" providerId="LiveId" clId="{E4E19776-AA89-4579-B0CB-50FEF10C4E93}" dt="2026-04-03T00:44:24.598" v="899" actId="1076"/>
          <ac:picMkLst>
            <pc:docMk/>
            <pc:sldMk cId="84859942" sldId="293"/>
            <ac:picMk id="1038" creationId="{98C6F868-C6F6-96BB-4347-C7D8B815B16B}"/>
          </ac:picMkLst>
        </pc:picChg>
      </pc:sldChg>
      <pc:sldChg chg="modSp new mod modNotesTx">
        <pc:chgData name="Ezra Weible" userId="67bcaf2f89c4552e" providerId="LiveId" clId="{E4E19776-AA89-4579-B0CB-50FEF10C4E93}" dt="2026-04-06T19:21:55.480" v="18998" actId="20577"/>
        <pc:sldMkLst>
          <pc:docMk/>
          <pc:sldMk cId="2660264857" sldId="294"/>
        </pc:sldMkLst>
        <pc:spChg chg="mod">
          <ac:chgData name="Ezra Weible" userId="67bcaf2f89c4552e" providerId="LiveId" clId="{E4E19776-AA89-4579-B0CB-50FEF10C4E93}" dt="2026-04-03T03:02:43.386" v="3721" actId="20577"/>
          <ac:spMkLst>
            <pc:docMk/>
            <pc:sldMk cId="2660264857" sldId="294"/>
            <ac:spMk id="2" creationId="{E0906E8F-F16D-271C-0127-88FAD9ED5E79}"/>
          </ac:spMkLst>
        </pc:spChg>
        <pc:spChg chg="mod">
          <ac:chgData name="Ezra Weible" userId="67bcaf2f89c4552e" providerId="LiveId" clId="{E4E19776-AA89-4579-B0CB-50FEF10C4E93}" dt="2026-04-06T19:21:55.480" v="18998" actId="20577"/>
          <ac:spMkLst>
            <pc:docMk/>
            <pc:sldMk cId="2660264857" sldId="294"/>
            <ac:spMk id="3" creationId="{87472831-A172-5042-668D-1C4BA36CA481}"/>
          </ac:spMkLst>
        </pc:spChg>
      </pc:sldChg>
      <pc:sldChg chg="addSp delSp modSp new mod modNotesTx">
        <pc:chgData name="Ezra Weible" userId="67bcaf2f89c4552e" providerId="LiveId" clId="{E4E19776-AA89-4579-B0CB-50FEF10C4E93}" dt="2026-04-07T20:27:48.378" v="20671" actId="20577"/>
        <pc:sldMkLst>
          <pc:docMk/>
          <pc:sldMk cId="361450517" sldId="295"/>
        </pc:sldMkLst>
        <pc:spChg chg="mod">
          <ac:chgData name="Ezra Weible" userId="67bcaf2f89c4552e" providerId="LiveId" clId="{E4E19776-AA89-4579-B0CB-50FEF10C4E93}" dt="2026-04-03T04:06:17.829" v="6803" actId="27636"/>
          <ac:spMkLst>
            <pc:docMk/>
            <pc:sldMk cId="361450517" sldId="295"/>
            <ac:spMk id="2" creationId="{DDE08B79-18DD-EDAA-A9A2-FD1DFC892955}"/>
          </ac:spMkLst>
        </pc:spChg>
        <pc:spChg chg="mod">
          <ac:chgData name="Ezra Weible" userId="67bcaf2f89c4552e" providerId="LiveId" clId="{E4E19776-AA89-4579-B0CB-50FEF10C4E93}" dt="2026-04-05T18:12:04.663" v="15123" actId="6549"/>
          <ac:spMkLst>
            <pc:docMk/>
            <pc:sldMk cId="361450517" sldId="295"/>
            <ac:spMk id="3" creationId="{AE186BC3-36CA-EDDD-5798-6EE8BFB7D671}"/>
          </ac:spMkLst>
        </pc:spChg>
        <pc:spChg chg="add mod topLvl">
          <ac:chgData name="Ezra Weible" userId="67bcaf2f89c4552e" providerId="LiveId" clId="{E4E19776-AA89-4579-B0CB-50FEF10C4E93}" dt="2026-04-03T04:07:32.534" v="6810" actId="164"/>
          <ac:spMkLst>
            <pc:docMk/>
            <pc:sldMk cId="361450517" sldId="295"/>
            <ac:spMk id="4" creationId="{6916DDF9-4F45-09A1-72BE-2CE63CB4F54F}"/>
          </ac:spMkLst>
        </pc:spChg>
        <pc:spChg chg="add mod topLvl">
          <ac:chgData name="Ezra Weible" userId="67bcaf2f89c4552e" providerId="LiveId" clId="{E4E19776-AA89-4579-B0CB-50FEF10C4E93}" dt="2026-04-03T04:07:32.534" v="6810" actId="164"/>
          <ac:spMkLst>
            <pc:docMk/>
            <pc:sldMk cId="361450517" sldId="295"/>
            <ac:spMk id="6" creationId="{6445D954-325B-88AB-E741-4202FB059ED5}"/>
          </ac:spMkLst>
        </pc:spChg>
        <pc:spChg chg="add mod">
          <ac:chgData name="Ezra Weible" userId="67bcaf2f89c4552e" providerId="LiveId" clId="{E4E19776-AA89-4579-B0CB-50FEF10C4E93}" dt="2026-04-05T17:52:41.912" v="14367" actId="1076"/>
          <ac:spMkLst>
            <pc:docMk/>
            <pc:sldMk cId="361450517" sldId="295"/>
            <ac:spMk id="9" creationId="{E0A6CF86-C5EF-19B7-A6B2-84A98D0E0C05}"/>
          </ac:spMkLst>
        </pc:spChg>
        <pc:spChg chg="add mod">
          <ac:chgData name="Ezra Weible" userId="67bcaf2f89c4552e" providerId="LiveId" clId="{E4E19776-AA89-4579-B0CB-50FEF10C4E93}" dt="2026-04-05T17:52:41.912" v="14367" actId="1076"/>
          <ac:spMkLst>
            <pc:docMk/>
            <pc:sldMk cId="361450517" sldId="295"/>
            <ac:spMk id="11" creationId="{211252AC-159D-761B-64D3-A9159CC9BFD8}"/>
          </ac:spMkLst>
        </pc:spChg>
        <pc:spChg chg="add mod">
          <ac:chgData name="Ezra Weible" userId="67bcaf2f89c4552e" providerId="LiveId" clId="{E4E19776-AA89-4579-B0CB-50FEF10C4E93}" dt="2026-04-05T17:52:41.912" v="14367" actId="1076"/>
          <ac:spMkLst>
            <pc:docMk/>
            <pc:sldMk cId="361450517" sldId="295"/>
            <ac:spMk id="12" creationId="{9D5B0E37-6E75-94D1-2111-3D15AADAD08C}"/>
          </ac:spMkLst>
        </pc:spChg>
        <pc:grpChg chg="add mod">
          <ac:chgData name="Ezra Weible" userId="67bcaf2f89c4552e" providerId="LiveId" clId="{E4E19776-AA89-4579-B0CB-50FEF10C4E93}" dt="2026-04-05T17:52:41.912" v="14367" actId="1076"/>
          <ac:grpSpMkLst>
            <pc:docMk/>
            <pc:sldMk cId="361450517" sldId="295"/>
            <ac:grpSpMk id="13" creationId="{4E120263-A7B0-AD25-CD2F-5777FC3E47A2}"/>
          </ac:grpSpMkLst>
        </pc:grpChg>
      </pc:sldChg>
      <pc:sldChg chg="modSp new mod">
        <pc:chgData name="Ezra Weible" userId="67bcaf2f89c4552e" providerId="LiveId" clId="{E4E19776-AA89-4579-B0CB-50FEF10C4E93}" dt="2026-04-03T04:12:03.013" v="7158" actId="20577"/>
        <pc:sldMkLst>
          <pc:docMk/>
          <pc:sldMk cId="685597270" sldId="296"/>
        </pc:sldMkLst>
        <pc:spChg chg="mod">
          <ac:chgData name="Ezra Weible" userId="67bcaf2f89c4552e" providerId="LiveId" clId="{E4E19776-AA89-4579-B0CB-50FEF10C4E93}" dt="2026-04-03T03:05:00.496" v="3854" actId="20577"/>
          <ac:spMkLst>
            <pc:docMk/>
            <pc:sldMk cId="685597270" sldId="296"/>
            <ac:spMk id="2" creationId="{F17D7232-81B8-A9EA-C66C-752884A5DA1A}"/>
          </ac:spMkLst>
        </pc:spChg>
        <pc:spChg chg="mod">
          <ac:chgData name="Ezra Weible" userId="67bcaf2f89c4552e" providerId="LiveId" clId="{E4E19776-AA89-4579-B0CB-50FEF10C4E93}" dt="2026-04-03T04:12:03.013" v="7158" actId="20577"/>
          <ac:spMkLst>
            <pc:docMk/>
            <pc:sldMk cId="685597270" sldId="296"/>
            <ac:spMk id="3" creationId="{3F6A726C-AAFE-13F7-5014-29C79FF32969}"/>
          </ac:spMkLst>
        </pc:spChg>
      </pc:sldChg>
      <pc:sldChg chg="modSp new mod modNotesTx">
        <pc:chgData name="Ezra Weible" userId="67bcaf2f89c4552e" providerId="LiveId" clId="{E4E19776-AA89-4579-B0CB-50FEF10C4E93}" dt="2026-04-03T17:10:09.444" v="7576" actId="20578"/>
        <pc:sldMkLst>
          <pc:docMk/>
          <pc:sldMk cId="2863867334" sldId="297"/>
        </pc:sldMkLst>
        <pc:spChg chg="mod">
          <ac:chgData name="Ezra Weible" userId="67bcaf2f89c4552e" providerId="LiveId" clId="{E4E19776-AA89-4579-B0CB-50FEF10C4E93}" dt="2026-04-03T03:05:28.708" v="3881" actId="20577"/>
          <ac:spMkLst>
            <pc:docMk/>
            <pc:sldMk cId="2863867334" sldId="297"/>
            <ac:spMk id="2" creationId="{F97A00FC-BC56-C555-7273-406165F3FDA4}"/>
          </ac:spMkLst>
        </pc:spChg>
        <pc:spChg chg="mod">
          <ac:chgData name="Ezra Weible" userId="67bcaf2f89c4552e" providerId="LiveId" clId="{E4E19776-AA89-4579-B0CB-50FEF10C4E93}" dt="2026-04-03T17:10:09.444" v="7576" actId="20578"/>
          <ac:spMkLst>
            <pc:docMk/>
            <pc:sldMk cId="2863867334" sldId="297"/>
            <ac:spMk id="3" creationId="{56DAA81A-6F51-3AC6-F1D7-23A457D561E6}"/>
          </ac:spMkLst>
        </pc:spChg>
      </pc:sldChg>
      <pc:sldChg chg="delSp modSp new mod modNotesTx">
        <pc:chgData name="Ezra Weible" userId="67bcaf2f89c4552e" providerId="LiveId" clId="{E4E19776-AA89-4579-B0CB-50FEF10C4E93}" dt="2026-04-03T17:36:20.590" v="9664" actId="20577"/>
        <pc:sldMkLst>
          <pc:docMk/>
          <pc:sldMk cId="128874119" sldId="298"/>
        </pc:sldMkLst>
        <pc:spChg chg="mod">
          <ac:chgData name="Ezra Weible" userId="67bcaf2f89c4552e" providerId="LiveId" clId="{E4E19776-AA89-4579-B0CB-50FEF10C4E93}" dt="2026-04-03T03:06:31.667" v="3905" actId="20577"/>
          <ac:spMkLst>
            <pc:docMk/>
            <pc:sldMk cId="128874119" sldId="298"/>
            <ac:spMk id="2" creationId="{4EAD584D-38E7-EEDE-74BC-0AF88F3B8F21}"/>
          </ac:spMkLst>
        </pc:spChg>
      </pc:sldChg>
      <pc:sldChg chg="addSp delSp modSp new mod modNotesTx">
        <pc:chgData name="Ezra Weible" userId="67bcaf2f89c4552e" providerId="LiveId" clId="{E4E19776-AA89-4579-B0CB-50FEF10C4E93}" dt="2026-04-07T20:56:03.178" v="21888" actId="20577"/>
        <pc:sldMkLst>
          <pc:docMk/>
          <pc:sldMk cId="237807062" sldId="299"/>
        </pc:sldMkLst>
        <pc:spChg chg="mod">
          <ac:chgData name="Ezra Weible" userId="67bcaf2f89c4552e" providerId="LiveId" clId="{E4E19776-AA89-4579-B0CB-50FEF10C4E93}" dt="2026-04-03T03:19:42.158" v="4478" actId="20577"/>
          <ac:spMkLst>
            <pc:docMk/>
            <pc:sldMk cId="237807062" sldId="299"/>
            <ac:spMk id="2" creationId="{E0E46C7A-7741-670C-F56F-6DD7B6E2DC4B}"/>
          </ac:spMkLst>
        </pc:spChg>
        <pc:spChg chg="add mod">
          <ac:chgData name="Ezra Weible" userId="67bcaf2f89c4552e" providerId="LiveId" clId="{E4E19776-AA89-4579-B0CB-50FEF10C4E93}" dt="2026-04-03T18:36:50.122" v="12679" actId="20577"/>
          <ac:spMkLst>
            <pc:docMk/>
            <pc:sldMk cId="237807062" sldId="299"/>
            <ac:spMk id="14" creationId="{8785E6E5-12A5-93E1-FB76-1E40D8B24DF8}"/>
          </ac:spMkLst>
        </pc:spChg>
        <pc:picChg chg="add mod">
          <ac:chgData name="Ezra Weible" userId="67bcaf2f89c4552e" providerId="LiveId" clId="{E4E19776-AA89-4579-B0CB-50FEF10C4E93}" dt="2026-04-03T03:19:02.061" v="4467" actId="14100"/>
          <ac:picMkLst>
            <pc:docMk/>
            <pc:sldMk cId="237807062" sldId="299"/>
            <ac:picMk id="5" creationId="{145C0FC0-87EB-0679-66AA-29F59A76E290}"/>
          </ac:picMkLst>
        </pc:picChg>
        <pc:picChg chg="add mod">
          <ac:chgData name="Ezra Weible" userId="67bcaf2f89c4552e" providerId="LiveId" clId="{E4E19776-AA89-4579-B0CB-50FEF10C4E93}" dt="2026-04-03T03:19:13.690" v="4470" actId="14100"/>
          <ac:picMkLst>
            <pc:docMk/>
            <pc:sldMk cId="237807062" sldId="299"/>
            <ac:picMk id="7" creationId="{8B1CE51D-4A7B-76A9-3140-833DACED5526}"/>
          </ac:picMkLst>
        </pc:picChg>
        <pc:picChg chg="add mod">
          <ac:chgData name="Ezra Weible" userId="67bcaf2f89c4552e" providerId="LiveId" clId="{E4E19776-AA89-4579-B0CB-50FEF10C4E93}" dt="2026-04-03T03:18:51.863" v="4466" actId="1076"/>
          <ac:picMkLst>
            <pc:docMk/>
            <pc:sldMk cId="237807062" sldId="299"/>
            <ac:picMk id="9" creationId="{39AF45A8-BF64-4E3D-BC35-2684073F6846}"/>
          </ac:picMkLst>
        </pc:picChg>
        <pc:picChg chg="add mod">
          <ac:chgData name="Ezra Weible" userId="67bcaf2f89c4552e" providerId="LiveId" clId="{E4E19776-AA89-4579-B0CB-50FEF10C4E93}" dt="2026-04-03T03:18:51.863" v="4466" actId="1076"/>
          <ac:picMkLst>
            <pc:docMk/>
            <pc:sldMk cId="237807062" sldId="299"/>
            <ac:picMk id="11" creationId="{8408C129-61A8-4A96-114F-0C94FC32BAA9}"/>
          </ac:picMkLst>
        </pc:picChg>
        <pc:picChg chg="add mod">
          <ac:chgData name="Ezra Weible" userId="67bcaf2f89c4552e" providerId="LiveId" clId="{E4E19776-AA89-4579-B0CB-50FEF10C4E93}" dt="2026-04-03T03:18:13.349" v="4451" actId="1076"/>
          <ac:picMkLst>
            <pc:docMk/>
            <pc:sldMk cId="237807062" sldId="299"/>
            <ac:picMk id="13" creationId="{14BCB27C-2D06-A096-9A0C-1785D7524D4A}"/>
          </ac:picMkLst>
        </pc:picChg>
      </pc:sldChg>
      <pc:sldChg chg="delSp modSp new mod">
        <pc:chgData name="Ezra Weible" userId="67bcaf2f89c4552e" providerId="LiveId" clId="{E4E19776-AA89-4579-B0CB-50FEF10C4E93}" dt="2026-04-03T03:33:33.972" v="4881" actId="478"/>
        <pc:sldMkLst>
          <pc:docMk/>
          <pc:sldMk cId="1798288789" sldId="300"/>
        </pc:sldMkLst>
        <pc:spChg chg="mod">
          <ac:chgData name="Ezra Weible" userId="67bcaf2f89c4552e" providerId="LiveId" clId="{E4E19776-AA89-4579-B0CB-50FEF10C4E93}" dt="2026-04-03T03:33:31.596" v="4880" actId="20577"/>
          <ac:spMkLst>
            <pc:docMk/>
            <pc:sldMk cId="1798288789" sldId="300"/>
            <ac:spMk id="2" creationId="{A77D619A-8BD7-8E04-2A30-B212DBE631CE}"/>
          </ac:spMkLst>
        </pc:spChg>
      </pc:sldChg>
      <pc:sldChg chg="modSp new mod modNotesTx">
        <pc:chgData name="Ezra Weible" userId="67bcaf2f89c4552e" providerId="LiveId" clId="{E4E19776-AA89-4579-B0CB-50FEF10C4E93}" dt="2026-04-05T18:10:05.717" v="15021" actId="20577"/>
        <pc:sldMkLst>
          <pc:docMk/>
          <pc:sldMk cId="537554498" sldId="301"/>
        </pc:sldMkLst>
        <pc:spChg chg="mod">
          <ac:chgData name="Ezra Weible" userId="67bcaf2f89c4552e" providerId="LiveId" clId="{E4E19776-AA89-4579-B0CB-50FEF10C4E93}" dt="2026-04-03T18:17:35.786" v="10580" actId="20577"/>
          <ac:spMkLst>
            <pc:docMk/>
            <pc:sldMk cId="537554498" sldId="301"/>
            <ac:spMk id="2" creationId="{65BF2196-5D6E-F2EA-D5E1-69CC3BAD7B85}"/>
          </ac:spMkLst>
        </pc:spChg>
        <pc:spChg chg="mod">
          <ac:chgData name="Ezra Weible" userId="67bcaf2f89c4552e" providerId="LiveId" clId="{E4E19776-AA89-4579-B0CB-50FEF10C4E93}" dt="2026-04-05T18:10:05.717" v="15021" actId="20577"/>
          <ac:spMkLst>
            <pc:docMk/>
            <pc:sldMk cId="537554498" sldId="301"/>
            <ac:spMk id="3" creationId="{44D5E1C8-8BD2-8342-F57A-0F919B298A41}"/>
          </ac:spMkLst>
        </pc:spChg>
      </pc:sldChg>
      <pc:sldChg chg="modSp new mod">
        <pc:chgData name="Ezra Weible" userId="67bcaf2f89c4552e" providerId="LiveId" clId="{E4E19776-AA89-4579-B0CB-50FEF10C4E93}" dt="2026-04-07T01:42:09.266" v="19098" actId="20577"/>
        <pc:sldMkLst>
          <pc:docMk/>
          <pc:sldMk cId="310211245" sldId="302"/>
        </pc:sldMkLst>
        <pc:spChg chg="mod">
          <ac:chgData name="Ezra Weible" userId="67bcaf2f89c4552e" providerId="LiveId" clId="{E4E19776-AA89-4579-B0CB-50FEF10C4E93}" dt="2026-04-03T18:27:38.962" v="12059" actId="20577"/>
          <ac:spMkLst>
            <pc:docMk/>
            <pc:sldMk cId="310211245" sldId="302"/>
            <ac:spMk id="2" creationId="{A5D695FB-6E7E-94A0-D31A-9C75D4A27C8A}"/>
          </ac:spMkLst>
        </pc:spChg>
        <pc:spChg chg="mod">
          <ac:chgData name="Ezra Weible" userId="67bcaf2f89c4552e" providerId="LiveId" clId="{E4E19776-AA89-4579-B0CB-50FEF10C4E93}" dt="2026-04-07T01:42:09.266" v="19098" actId="20577"/>
          <ac:spMkLst>
            <pc:docMk/>
            <pc:sldMk cId="310211245" sldId="302"/>
            <ac:spMk id="3" creationId="{976EDABB-01CE-6F55-F454-88B3E7C8CB14}"/>
          </ac:spMkLst>
        </pc:spChg>
      </pc:sldChg>
      <pc:sldChg chg="addSp delSp modSp add mod ord modNotesTx">
        <pc:chgData name="Ezra Weible" userId="67bcaf2f89c4552e" providerId="LiveId" clId="{E4E19776-AA89-4579-B0CB-50FEF10C4E93}" dt="2026-04-07T20:34:01.699" v="20973" actId="20577"/>
        <pc:sldMkLst>
          <pc:docMk/>
          <pc:sldMk cId="4136820614" sldId="303"/>
        </pc:sldMkLst>
        <pc:spChg chg="mod">
          <ac:chgData name="Ezra Weible" userId="67bcaf2f89c4552e" providerId="LiveId" clId="{E4E19776-AA89-4579-B0CB-50FEF10C4E93}" dt="2026-04-06T19:22:26.739" v="19011" actId="20577"/>
          <ac:spMkLst>
            <pc:docMk/>
            <pc:sldMk cId="4136820614" sldId="303"/>
            <ac:spMk id="3" creationId="{E0110130-965B-03BC-6D67-6E0133BF2D8F}"/>
          </ac:spMkLst>
        </pc:spChg>
        <pc:graphicFrameChg chg="add mod modGraphic">
          <ac:chgData name="Ezra Weible" userId="67bcaf2f89c4552e" providerId="LiveId" clId="{E4E19776-AA89-4579-B0CB-50FEF10C4E93}" dt="2026-04-05T16:06:47.239" v="14214" actId="14734"/>
          <ac:graphicFrameMkLst>
            <pc:docMk/>
            <pc:sldMk cId="4136820614" sldId="303"/>
            <ac:graphicFrameMk id="4" creationId="{B27311D2-E788-B4FA-1F22-B5658FE9CA95}"/>
          </ac:graphicFrameMkLst>
        </pc:graphicFrameChg>
      </pc:sldChg>
      <pc:sldChg chg="delSp add mod ord modNotesTx">
        <pc:chgData name="Ezra Weible" userId="67bcaf2f89c4552e" providerId="LiveId" clId="{E4E19776-AA89-4579-B0CB-50FEF10C4E93}" dt="2026-04-07T20:18:41.771" v="20242" actId="20577"/>
        <pc:sldMkLst>
          <pc:docMk/>
          <pc:sldMk cId="2948937206" sldId="3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56B035-F6BA-4127-ACCA-C4B80FF62751}"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91C064-8647-4876-9565-66F236AD4655}" type="slidenum">
              <a:rPr lang="en-US" smtClean="0"/>
              <a:t>‹#›</a:t>
            </a:fld>
            <a:endParaRPr lang="en-US"/>
          </a:p>
        </p:txBody>
      </p:sp>
    </p:spTree>
    <p:extLst>
      <p:ext uri="{BB962C8B-B14F-4D97-AF65-F5344CB8AC3E}">
        <p14:creationId xmlns:p14="http://schemas.microsoft.com/office/powerpoint/2010/main" val="2148041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1</a:t>
            </a:fld>
            <a:endParaRPr lang="en-US"/>
          </a:p>
        </p:txBody>
      </p:sp>
    </p:spTree>
    <p:extLst>
      <p:ext uri="{BB962C8B-B14F-4D97-AF65-F5344CB8AC3E}">
        <p14:creationId xmlns:p14="http://schemas.microsoft.com/office/powerpoint/2010/main" val="1689620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6609D-BF0B-E315-8C2C-E8F680CDF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94F85-EE33-D6BC-CCA5-21A392C46C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F864F-BA6C-A79C-5B07-C49487D37CEC}"/>
              </a:ext>
            </a:extLst>
          </p:cNvPr>
          <p:cNvSpPr>
            <a:spLocks noGrp="1"/>
          </p:cNvSpPr>
          <p:nvPr>
            <p:ph type="body" idx="1"/>
          </p:nvPr>
        </p:nvSpPr>
        <p:spPr/>
        <p:txBody>
          <a:bodyPr/>
          <a:lstStyle/>
          <a:p>
            <a:pPr marL="171450" indent="-171450">
              <a:buFontTx/>
              <a:buChar char="-"/>
            </a:pPr>
            <a:r>
              <a:rPr lang="en-US" dirty="0"/>
              <a:t>Cystic Fibrosis is a genetic disorder that impacts the </a:t>
            </a:r>
            <a:r>
              <a:rPr lang="en-US" b="1" dirty="0"/>
              <a:t>entire body </a:t>
            </a:r>
          </a:p>
          <a:p>
            <a:pPr marL="171450" indent="-171450">
              <a:buFontTx/>
              <a:buChar char="-"/>
            </a:pPr>
            <a:r>
              <a:rPr lang="en-US" b="0" dirty="0"/>
              <a:t>Caused by a m</a:t>
            </a:r>
            <a:r>
              <a:rPr lang="en-US" dirty="0"/>
              <a:t>utation in </a:t>
            </a:r>
            <a:r>
              <a:rPr lang="en-US" b="1" dirty="0"/>
              <a:t>CFTR protein </a:t>
            </a:r>
            <a:r>
              <a:rPr lang="en-US" dirty="0"/>
              <a:t>which is a chloride ion channel. Without chloride leaving cells, water can’t hydrate the surface causing </a:t>
            </a:r>
            <a:r>
              <a:rPr lang="en-US" b="1" dirty="0"/>
              <a:t>thick mucus</a:t>
            </a:r>
            <a:r>
              <a:rPr lang="en-US" dirty="0"/>
              <a:t> to cover the cells.</a:t>
            </a:r>
          </a:p>
        </p:txBody>
      </p:sp>
      <p:sp>
        <p:nvSpPr>
          <p:cNvPr id="4" name="Slide Number Placeholder 3">
            <a:extLst>
              <a:ext uri="{FF2B5EF4-FFF2-40B4-BE49-F238E27FC236}">
                <a16:creationId xmlns:a16="http://schemas.microsoft.com/office/drawing/2014/main" id="{20A8B6F2-781E-C347-36B5-E17AEEC687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06CC3-7D5B-44C5-9175-630B0125E4D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6485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8F529-B72F-9C5C-776A-559DAF95D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C6A65-D311-3251-40E1-C41FDAEDDC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3DC91-88D2-AFEB-A596-CE6C96B71CEA}"/>
              </a:ext>
            </a:extLst>
          </p:cNvPr>
          <p:cNvSpPr>
            <a:spLocks noGrp="1"/>
          </p:cNvSpPr>
          <p:nvPr>
            <p:ph type="body" idx="1"/>
          </p:nvPr>
        </p:nvSpPr>
        <p:spPr/>
        <p:txBody>
          <a:bodyPr/>
          <a:lstStyle/>
          <a:p>
            <a:pPr marL="171450" indent="-171450">
              <a:buFontTx/>
              <a:buChar char="-"/>
            </a:pPr>
            <a:r>
              <a:rPr lang="en-US" dirty="0"/>
              <a:t>This can be seen in the lungs, where the </a:t>
            </a:r>
            <a:r>
              <a:rPr lang="en-US" b="1" dirty="0"/>
              <a:t>mucus can reduce airflow </a:t>
            </a:r>
            <a:r>
              <a:rPr lang="en-US" dirty="0"/>
              <a:t>and increase infection risk. </a:t>
            </a:r>
          </a:p>
          <a:p>
            <a:pPr marL="171450" indent="-171450">
              <a:buFontTx/>
              <a:buChar char="-"/>
            </a:pPr>
            <a:r>
              <a:rPr lang="en-US" b="1" dirty="0"/>
              <a:t>Pulmonary exacerbations</a:t>
            </a:r>
            <a:r>
              <a:rPr lang="en-US" dirty="0"/>
              <a:t> (sudden worsening of respiratory symptoms) are common due to bacterial infections and often result in hospitalization. </a:t>
            </a:r>
          </a:p>
          <a:p>
            <a:pPr marL="628650" lvl="1" indent="-171450">
              <a:buFontTx/>
              <a:buChar char="-"/>
            </a:pPr>
            <a:r>
              <a:rPr lang="en-US" dirty="0"/>
              <a:t>Contribute to long-term morbidity and lung function decline</a:t>
            </a:r>
          </a:p>
          <a:p>
            <a:pPr marL="171450" indent="-171450">
              <a:buFontTx/>
              <a:buChar char="-"/>
            </a:pPr>
            <a:endParaRPr lang="en-US" dirty="0"/>
          </a:p>
          <a:p>
            <a:endParaRPr lang="en-US" dirty="0"/>
          </a:p>
        </p:txBody>
      </p:sp>
      <p:sp>
        <p:nvSpPr>
          <p:cNvPr id="4" name="Slide Number Placeholder 3">
            <a:extLst>
              <a:ext uri="{FF2B5EF4-FFF2-40B4-BE49-F238E27FC236}">
                <a16:creationId xmlns:a16="http://schemas.microsoft.com/office/drawing/2014/main" id="{6B6DC00F-F2F9-32DF-0527-DA868340E9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06CC3-7D5B-44C5-9175-630B0125E4D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7788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E4F7-8AB1-96C3-FD9A-C63BE0A16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0F0B5-5A12-C4CC-FE3A-2A5361CBA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E457E-E840-3DE0-394E-D74FE0B9330D}"/>
              </a:ext>
            </a:extLst>
          </p:cNvPr>
          <p:cNvSpPr>
            <a:spLocks noGrp="1"/>
          </p:cNvSpPr>
          <p:nvPr>
            <p:ph type="body" idx="1"/>
          </p:nvPr>
        </p:nvSpPr>
        <p:spPr/>
        <p:txBody>
          <a:bodyPr/>
          <a:lstStyle/>
          <a:p>
            <a:pPr marL="171450" indent="-171450">
              <a:buFontTx/>
              <a:buChar char="-"/>
            </a:pPr>
            <a:r>
              <a:rPr lang="en-US" dirty="0"/>
              <a:t>There has been a lot of rapid progress in treating CF (</a:t>
            </a:r>
            <a:r>
              <a:rPr lang="en-US" b="1" i="0" dirty="0">
                <a:solidFill>
                  <a:srgbClr val="ECECEC"/>
                </a:solidFill>
                <a:effectLst/>
                <a:latin typeface="Google Sans"/>
              </a:rPr>
              <a:t>drug modulator therapy </a:t>
            </a:r>
            <a:r>
              <a:rPr lang="en-US" b="0" i="0" dirty="0">
                <a:solidFill>
                  <a:srgbClr val="ECECEC"/>
                </a:solidFill>
                <a:effectLst/>
                <a:latin typeface="Google Sans"/>
              </a:rPr>
              <a:t>to restore protein function, reduction of mucus, etc.), but still room for improvement especially among individuals who don’t qualify for modulators.</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6454BCE5-F20A-9E0E-C30F-18CBB3D507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06CC3-7D5B-44C5-9175-630B0125E4D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4287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0287E-0AA4-C406-10C1-3814DEFD8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1DC73-93E1-B906-377D-5F5E1A4477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E10335-D34B-6C69-AB48-5F30DCE617E2}"/>
              </a:ext>
            </a:extLst>
          </p:cNvPr>
          <p:cNvSpPr>
            <a:spLocks noGrp="1"/>
          </p:cNvSpPr>
          <p:nvPr>
            <p:ph type="body" idx="1"/>
          </p:nvPr>
        </p:nvSpPr>
        <p:spPr/>
        <p:txBody>
          <a:bodyPr/>
          <a:lstStyle/>
          <a:p>
            <a:pPr marL="171450" indent="-171450">
              <a:buFontTx/>
              <a:buChar char="-"/>
            </a:pPr>
            <a:r>
              <a:rPr lang="en-US" dirty="0"/>
              <a:t>One big issue is that during exacerbations, </a:t>
            </a:r>
            <a:r>
              <a:rPr lang="en-US" b="1" dirty="0"/>
              <a:t>each person reacts differently</a:t>
            </a:r>
            <a:endParaRPr lang="en-US" b="0" dirty="0"/>
          </a:p>
          <a:p>
            <a:pPr marL="628650" lvl="1" indent="-171450">
              <a:buFontTx/>
              <a:buChar char="-"/>
            </a:pPr>
            <a:r>
              <a:rPr lang="en-US" b="0" dirty="0"/>
              <a:t>Exacerbations are often attributed to traditional CF-related pathogens such as Pseudomonas</a:t>
            </a:r>
          </a:p>
          <a:p>
            <a:pPr marL="628650" lvl="1" indent="-171450">
              <a:buFontTx/>
              <a:buChar char="-"/>
            </a:pPr>
            <a:r>
              <a:rPr lang="en-US" b="0" dirty="0"/>
              <a:t>But, particularly in children who may not have clear pathogens, </a:t>
            </a:r>
            <a:r>
              <a:rPr lang="en-US" dirty="0"/>
              <a:t>it is hard to tell what is causing their illness and what approach to use for treatment, even after identifying the pathogens present in their airway</a:t>
            </a:r>
          </a:p>
        </p:txBody>
      </p:sp>
      <p:sp>
        <p:nvSpPr>
          <p:cNvPr id="4" name="Slide Number Placeholder 3">
            <a:extLst>
              <a:ext uri="{FF2B5EF4-FFF2-40B4-BE49-F238E27FC236}">
                <a16:creationId xmlns:a16="http://schemas.microsoft.com/office/drawing/2014/main" id="{546331D4-7F96-0496-1285-18C338E4D8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306CC3-7D5B-44C5-9175-630B0125E4D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9100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As I alluded to, these single-view approaches fall short because individuals can show very different host responses to similar bacterial infections</a:t>
            </a:r>
          </a:p>
          <a:p>
            <a:pPr marL="171450" indent="-171450">
              <a:buFontTx/>
              <a:buChar char="-"/>
            </a:pPr>
            <a:r>
              <a:rPr lang="en-US" dirty="0"/>
              <a:t>There is no single measurement or omics approach that reveals the full picture of an exacerbation. So, how do we capture that complexity?</a:t>
            </a:r>
          </a:p>
          <a:p>
            <a:pPr marL="628650" lvl="1" indent="-171450">
              <a:buFontTx/>
              <a:buChar char="-"/>
            </a:pPr>
            <a:r>
              <a:rPr lang="en-US" dirty="0"/>
              <a:t>Our approach was to integrate two omics to get a larger perspective. By looking at both the lung microbiome, which reveals the bacterial infections, and proteomics to reveal the host’s response, we may be able to identify meaningful subgroups to aid in clinical decision making.</a:t>
            </a:r>
          </a:p>
        </p:txBody>
      </p:sp>
      <p:sp>
        <p:nvSpPr>
          <p:cNvPr id="4" name="Slide Number Placeholder 3"/>
          <p:cNvSpPr>
            <a:spLocks noGrp="1"/>
          </p:cNvSpPr>
          <p:nvPr>
            <p:ph type="sldNum" sz="quarter" idx="5"/>
          </p:nvPr>
        </p:nvSpPr>
        <p:spPr/>
        <p:txBody>
          <a:bodyPr/>
          <a:lstStyle/>
          <a:p>
            <a:fld id="{8191C064-8647-4876-9565-66F236AD4655}" type="slidenum">
              <a:rPr lang="en-US" smtClean="0"/>
              <a:t>6</a:t>
            </a:fld>
            <a:endParaRPr lang="en-US"/>
          </a:p>
        </p:txBody>
      </p:sp>
    </p:spTree>
    <p:extLst>
      <p:ext uri="{BB962C8B-B14F-4D97-AF65-F5344CB8AC3E}">
        <p14:creationId xmlns:p14="http://schemas.microsoft.com/office/powerpoint/2010/main" val="3974987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5E218-B495-2F3E-C3E5-6CB8E2FBD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E13CD-956C-3FEA-EE5F-3965A5532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E0344-7A8A-0291-7795-16F4A98BF0A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dataset we used for this approach had a final sample size of 31 subjects aged 10–22 who were hospitalized for a CF pulmonary exacerbation.</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At admission for an exacerbation, we collected sputum for microbiome profiling and blood for proteomics, along with detailed clinical data including genotype, pulmonary exacerbations in the previous year, and measures of lung health such as FEV1 (forced expiratory volume in 1 second) and FVC (forced vital capacity, total amount of exhaled air)</a:t>
            </a:r>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These are measured as percent predicted to account for the fact that these are children whose lungs are still growing)</a:t>
            </a:r>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085850" marR="0" lvl="2" indent="-171450" algn="l" defTabSz="914400" rtl="0" eaLnBrk="1" fontAlgn="auto" latinLnBrk="0" hangingPunct="1">
              <a:lnSpc>
                <a:spcPct val="100000"/>
              </a:lnSpc>
              <a:spcBef>
                <a:spcPts val="0"/>
              </a:spcBef>
              <a:spcAft>
                <a:spcPts val="0"/>
              </a:spcAft>
              <a:buClrTx/>
              <a:buSzTx/>
              <a:buFontTx/>
              <a:buChar char="-"/>
              <a:tabLst/>
              <a:defRPr/>
            </a:pPr>
            <a:r>
              <a:rPr lang="en-US" dirty="0"/>
              <a:t>Add details about study (inclusion/exclusion criteria)</a:t>
            </a:r>
          </a:p>
          <a:p>
            <a:pPr marL="1543050" marR="0" lvl="3" indent="-171450" algn="l" defTabSz="914400" rtl="0" eaLnBrk="1" fontAlgn="auto" latinLnBrk="0" hangingPunct="1">
              <a:lnSpc>
                <a:spcPct val="100000"/>
              </a:lnSpc>
              <a:spcBef>
                <a:spcPts val="0"/>
              </a:spcBef>
              <a:spcAft>
                <a:spcPts val="0"/>
              </a:spcAft>
              <a:buClrTx/>
              <a:buSzTx/>
              <a:buFontTx/>
              <a:buChar char="-"/>
              <a:tabLst/>
              <a:defRPr/>
            </a:pPr>
            <a:r>
              <a:rPr lang="en-US" dirty="0"/>
              <a:t>Charlie’s is not probably going to be published so cite the dissertation</a:t>
            </a:r>
          </a:p>
          <a:p>
            <a:pPr marL="914400" marR="0" lvl="2"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F33AB2F-1E68-8EAC-6A0C-3E86737A3AC6}"/>
              </a:ext>
            </a:extLst>
          </p:cNvPr>
          <p:cNvSpPr>
            <a:spLocks noGrp="1"/>
          </p:cNvSpPr>
          <p:nvPr>
            <p:ph type="sldNum" sz="quarter" idx="5"/>
          </p:nvPr>
        </p:nvSpPr>
        <p:spPr/>
        <p:txBody>
          <a:bodyPr/>
          <a:lstStyle/>
          <a:p>
            <a:fld id="{8191C064-8647-4876-9565-66F236AD4655}" type="slidenum">
              <a:rPr lang="en-US" smtClean="0"/>
              <a:t>7</a:t>
            </a:fld>
            <a:endParaRPr lang="en-US"/>
          </a:p>
        </p:txBody>
      </p:sp>
    </p:spTree>
    <p:extLst>
      <p:ext uri="{BB962C8B-B14F-4D97-AF65-F5344CB8AC3E}">
        <p14:creationId xmlns:p14="http://schemas.microsoft.com/office/powerpoint/2010/main" val="1659402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Minimum relative abundance of 0.1% in at least one subject and presence in at least 10% of subjects resulting in 73 taxa (333 for T1; 700 measured overall)</a:t>
            </a:r>
          </a:p>
          <a:p>
            <a:pPr marL="628650" lvl="1" indent="-171450">
              <a:buFontTx/>
              <a:buChar char="-"/>
            </a:pPr>
            <a:r>
              <a:rPr lang="en-US" dirty="0"/>
              <a:t>Outlier subjects were identified with principal components. There were two outliers that were removed. A batch correction was implemented.</a:t>
            </a:r>
          </a:p>
          <a:p>
            <a:endParaRPr lang="en-US" dirty="0"/>
          </a:p>
          <a:p>
            <a:pPr marL="171450" indent="-171450">
              <a:buFontTx/>
              <a:buChar char="-"/>
            </a:pPr>
            <a:r>
              <a:rPr lang="en-US" dirty="0"/>
              <a:t>A log2 transformation and batch correction was applied to the proteomic data</a:t>
            </a:r>
          </a:p>
          <a:p>
            <a:pPr marL="171450" indent="-171450">
              <a:buFontTx/>
              <a:buChar char="-"/>
            </a:pPr>
            <a:r>
              <a:rPr lang="en-US" dirty="0"/>
              <a:t>RFU is a way to quantify the relative amount of protein</a:t>
            </a:r>
          </a:p>
          <a:p>
            <a:pPr marL="628650" lvl="1" indent="-171450">
              <a:buFontTx/>
              <a:buChar char="-"/>
            </a:pPr>
            <a:r>
              <a:rPr lang="en-US" dirty="0"/>
              <a:t>How bright the spot, brighter = more protein (not a concentration)</a:t>
            </a:r>
          </a:p>
          <a:p>
            <a:pPr marL="628650" lvl="1" indent="-171450">
              <a:buFontTx/>
              <a:buChar char="-"/>
            </a:pPr>
            <a:r>
              <a:rPr lang="en-US" dirty="0"/>
              <a:t>Can be difficult to compare across proteins (why we account for batches)</a:t>
            </a:r>
          </a:p>
        </p:txBody>
      </p:sp>
      <p:sp>
        <p:nvSpPr>
          <p:cNvPr id="4" name="Slide Number Placeholder 3"/>
          <p:cNvSpPr>
            <a:spLocks noGrp="1"/>
          </p:cNvSpPr>
          <p:nvPr>
            <p:ph type="sldNum" sz="quarter" idx="5"/>
          </p:nvPr>
        </p:nvSpPr>
        <p:spPr/>
        <p:txBody>
          <a:bodyPr/>
          <a:lstStyle/>
          <a:p>
            <a:fld id="{8191C064-8647-4876-9565-66F236AD4655}" type="slidenum">
              <a:rPr lang="en-US" smtClean="0"/>
              <a:t>8</a:t>
            </a:fld>
            <a:endParaRPr lang="en-US"/>
          </a:p>
        </p:txBody>
      </p:sp>
    </p:spTree>
    <p:extLst>
      <p:ext uri="{BB962C8B-B14F-4D97-AF65-F5344CB8AC3E}">
        <p14:creationId xmlns:p14="http://schemas.microsoft.com/office/powerpoint/2010/main" val="1562981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9</a:t>
            </a:fld>
            <a:endParaRPr lang="en-US"/>
          </a:p>
        </p:txBody>
      </p:sp>
    </p:spTree>
    <p:extLst>
      <p:ext uri="{BB962C8B-B14F-4D97-AF65-F5344CB8AC3E}">
        <p14:creationId xmlns:p14="http://schemas.microsoft.com/office/powerpoint/2010/main" val="224366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Spectral clustering works by building a similarity graph between subjects and then using the graph’s eigenvectors to reveal structure. </a:t>
            </a:r>
          </a:p>
          <a:p>
            <a:pPr marL="628650" lvl="1" indent="-171450">
              <a:buFontTx/>
              <a:buChar char="-"/>
            </a:pPr>
            <a:r>
              <a:rPr lang="en-US" dirty="0"/>
              <a:t>This lets us detect clusters that aren’t spherical or linearly separable, which is important for biological data, where patterns are often irregular. </a:t>
            </a:r>
          </a:p>
          <a:p>
            <a:pPr marL="628650" lvl="1" indent="-171450">
              <a:buFontTx/>
              <a:buChar char="-"/>
            </a:pPr>
            <a:r>
              <a:rPr lang="en-US" dirty="0"/>
              <a:t>It also gives us a low‑dimensional representation that we can use across both microbiome and proteomic views.</a:t>
            </a:r>
          </a:p>
        </p:txBody>
      </p:sp>
      <p:sp>
        <p:nvSpPr>
          <p:cNvPr id="4" name="Slide Number Placeholder 3"/>
          <p:cNvSpPr>
            <a:spLocks noGrp="1"/>
          </p:cNvSpPr>
          <p:nvPr>
            <p:ph type="sldNum" sz="quarter" idx="5"/>
          </p:nvPr>
        </p:nvSpPr>
        <p:spPr/>
        <p:txBody>
          <a:bodyPr/>
          <a:lstStyle/>
          <a:p>
            <a:fld id="{8191C064-8647-4876-9565-66F236AD4655}" type="slidenum">
              <a:rPr lang="en-US" smtClean="0"/>
              <a:t>10</a:t>
            </a:fld>
            <a:endParaRPr lang="en-US"/>
          </a:p>
        </p:txBody>
      </p:sp>
    </p:spTree>
    <p:extLst>
      <p:ext uri="{BB962C8B-B14F-4D97-AF65-F5344CB8AC3E}">
        <p14:creationId xmlns:p14="http://schemas.microsoft.com/office/powerpoint/2010/main" val="1244328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 expand the spectral clustering, I used a method developed by a previous student here, Charlie Carpenter, called Multi-</a:t>
            </a:r>
            <a:r>
              <a:rPr lang="en-US" dirty="0" err="1"/>
              <a:t>Omic</a:t>
            </a:r>
            <a:r>
              <a:rPr lang="en-US" dirty="0"/>
              <a:t> Spectral Clustering using the Flag Manifold, or MMOC</a:t>
            </a:r>
          </a:p>
          <a:p>
            <a:pPr marL="628650" lvl="1" indent="-171450">
              <a:buFontTx/>
              <a:buChar char="-"/>
            </a:pPr>
            <a:r>
              <a:rPr lang="en-US" dirty="0"/>
              <a:t>I spent a lot of time working with his original code to clean, rearrange, and adjust it to apply to this new project</a:t>
            </a:r>
          </a:p>
          <a:p>
            <a:pPr marL="628650" lvl="1" indent="-171450">
              <a:buFontTx/>
              <a:buChar char="-"/>
            </a:pPr>
            <a:r>
              <a:rPr lang="en-US" dirty="0"/>
              <a:t>We chose this method because it allows for more flexibility in the multi-</a:t>
            </a:r>
            <a:r>
              <a:rPr lang="en-US" dirty="0" err="1"/>
              <a:t>omic</a:t>
            </a:r>
            <a:r>
              <a:rPr lang="en-US" dirty="0"/>
              <a:t> clustering due to the flag manifold.</a:t>
            </a:r>
          </a:p>
          <a:p>
            <a:pPr marL="1085850" lvl="2" indent="-171450">
              <a:buFontTx/>
              <a:buChar char="-"/>
            </a:pPr>
            <a:r>
              <a:rPr lang="en-US" dirty="0"/>
              <a:t>Rather than restricting to the same number of features, or clusters, across the different views, MMOC allows for flexibility in the individual omics when integrating to joint clusters, which is essential for this diverse </a:t>
            </a:r>
            <a:r>
              <a:rPr lang="en-US" dirty="0" err="1"/>
              <a:t>omic</a:t>
            </a:r>
            <a:r>
              <a:rPr lang="en-US" dirty="0"/>
              <a:t> data</a:t>
            </a:r>
          </a:p>
          <a:p>
            <a:pPr marL="171450" lvl="0" indent="-171450">
              <a:buFontTx/>
              <a:buChar char="-"/>
            </a:pPr>
            <a:r>
              <a:rPr lang="en-US" dirty="0"/>
              <a:t>“While this rigid consensus perspective can be effective when views are strongly correlated, it may fail to capture heterogeneity that is biologically meaningful in multi-</a:t>
            </a:r>
            <a:r>
              <a:rPr lang="en-US" dirty="0" err="1"/>
              <a:t>omic</a:t>
            </a:r>
            <a:r>
              <a:rPr lang="en-US" dirty="0"/>
              <a:t> studies, where different molecular layers can reflect distinct (yet valid) stratifications of samples.”</a:t>
            </a:r>
          </a:p>
          <a:p>
            <a:pPr marL="171450" lvl="0" indent="-171450">
              <a:buFontTx/>
              <a:buChar char="-"/>
            </a:pPr>
            <a:r>
              <a:rPr lang="en-US" dirty="0"/>
              <a:t>Features include signal-to-noise </a:t>
            </a:r>
          </a:p>
          <a:p>
            <a:pPr marL="171450" lvl="0" indent="-171450">
              <a:buFontTx/>
              <a:buChar char="-"/>
            </a:pPr>
            <a:r>
              <a:rPr lang="en-US" dirty="0"/>
              <a:t>Focus on combining the estimated clustering subspaces using the flag mean </a:t>
            </a:r>
          </a:p>
        </p:txBody>
      </p:sp>
      <p:sp>
        <p:nvSpPr>
          <p:cNvPr id="4" name="Slide Number Placeholder 3"/>
          <p:cNvSpPr>
            <a:spLocks noGrp="1"/>
          </p:cNvSpPr>
          <p:nvPr>
            <p:ph type="sldNum" sz="quarter" idx="5"/>
          </p:nvPr>
        </p:nvSpPr>
        <p:spPr/>
        <p:txBody>
          <a:bodyPr/>
          <a:lstStyle/>
          <a:p>
            <a:fld id="{8191C064-8647-4876-9565-66F236AD4655}" type="slidenum">
              <a:rPr lang="en-US" smtClean="0"/>
              <a:t>11</a:t>
            </a:fld>
            <a:endParaRPr lang="en-US"/>
          </a:p>
        </p:txBody>
      </p:sp>
    </p:spTree>
    <p:extLst>
      <p:ext uri="{BB962C8B-B14F-4D97-AF65-F5344CB8AC3E}">
        <p14:creationId xmlns:p14="http://schemas.microsoft.com/office/powerpoint/2010/main" val="1497944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EC021-105D-7729-08AA-9B9A76FFB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FB1F2-EEE2-132D-F9FF-42F523DC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535390-006C-4094-C98F-BB2289B696B6}"/>
              </a:ext>
            </a:extLst>
          </p:cNvPr>
          <p:cNvSpPr>
            <a:spLocks noGrp="1"/>
          </p:cNvSpPr>
          <p:nvPr>
            <p:ph type="body" idx="1"/>
          </p:nvPr>
        </p:nvSpPr>
        <p:spPr/>
        <p:txBody>
          <a:bodyPr/>
          <a:lstStyle/>
          <a:p>
            <a:pPr marL="171450" indent="-171450">
              <a:buFontTx/>
              <a:buChar char="-"/>
            </a:pPr>
            <a:r>
              <a:rPr lang="en-US" sz="1200" b="0" i="0" kern="1200" dirty="0">
                <a:solidFill>
                  <a:schemeClr val="tx1"/>
                </a:solidFill>
                <a:effectLst/>
                <a:latin typeface="+mn-lt"/>
                <a:ea typeface="+mn-ea"/>
                <a:cs typeface="+mn-cs"/>
              </a:rPr>
              <a:t>First, we wanted to cluster the two omics individually. These are the results for the microbiome, where we identified three clusters (point out on figure)</a:t>
            </a:r>
          </a:p>
          <a:p>
            <a:pPr marL="171450" indent="-171450">
              <a:buFontTx/>
              <a:buChar char="-"/>
            </a:pPr>
            <a:r>
              <a:rPr lang="en-US" sz="1200" b="0" i="0" kern="1200" dirty="0">
                <a:solidFill>
                  <a:schemeClr val="tx1"/>
                </a:solidFill>
                <a:effectLst/>
                <a:latin typeface="+mn-lt"/>
                <a:ea typeface="+mn-ea"/>
                <a:cs typeface="+mn-cs"/>
              </a:rPr>
              <a:t>One of the ways we identified the number of clusters was the </a:t>
            </a:r>
            <a:r>
              <a:rPr lang="en-US" sz="1200" b="0" i="0" kern="1200" dirty="0" err="1">
                <a:solidFill>
                  <a:schemeClr val="tx1"/>
                </a:solidFill>
                <a:effectLst/>
                <a:latin typeface="+mn-lt"/>
                <a:ea typeface="+mn-ea"/>
                <a:cs typeface="+mn-cs"/>
              </a:rPr>
              <a:t>TraceCovW</a:t>
            </a:r>
            <a:r>
              <a:rPr lang="en-US" sz="1200" b="0" i="0" kern="1200" dirty="0">
                <a:solidFill>
                  <a:schemeClr val="tx1"/>
                </a:solidFill>
                <a:effectLst/>
                <a:latin typeface="+mn-lt"/>
                <a:ea typeface="+mn-ea"/>
                <a:cs typeface="+mn-cs"/>
              </a:rPr>
              <a:t> index, which measures the trace of the within-cluster pooled covariance matrix. </a:t>
            </a:r>
          </a:p>
          <a:p>
            <a:pPr marL="628650" lvl="1" indent="-171450">
              <a:buFontTx/>
              <a:buChar char="-"/>
            </a:pPr>
            <a:r>
              <a:rPr lang="en-US" sz="1200" b="0" i="0" kern="1200" dirty="0">
                <a:solidFill>
                  <a:schemeClr val="tx1"/>
                </a:solidFill>
                <a:effectLst/>
                <a:latin typeface="+mn-lt"/>
                <a:ea typeface="+mn-ea"/>
                <a:cs typeface="+mn-cs"/>
              </a:rPr>
              <a:t>Helps to identify when the total within-cluster variation is minimized</a:t>
            </a:r>
          </a:p>
          <a:p>
            <a:pPr marL="628650" lvl="1" indent="-171450">
              <a:buFontTx/>
              <a:buChar char="-"/>
            </a:pPr>
            <a:r>
              <a:rPr lang="en-US" sz="1200" b="0" i="0" kern="1200" dirty="0">
                <a:solidFill>
                  <a:schemeClr val="tx1"/>
                </a:solidFill>
                <a:effectLst/>
                <a:latin typeface="+mn-lt"/>
                <a:ea typeface="+mn-ea"/>
                <a:cs typeface="+mn-cs"/>
              </a:rPr>
              <a:t>The index was chosen as it aligned with the visual inspection of the eigen values of the Laplacian, where 3 clusters were chosen based on the elbow joint</a:t>
            </a:r>
          </a:p>
        </p:txBody>
      </p:sp>
      <p:sp>
        <p:nvSpPr>
          <p:cNvPr id="4" name="Slide Number Placeholder 3">
            <a:extLst>
              <a:ext uri="{FF2B5EF4-FFF2-40B4-BE49-F238E27FC236}">
                <a16:creationId xmlns:a16="http://schemas.microsoft.com/office/drawing/2014/main" id="{3762DF4B-1FC7-52AE-EE94-69F7E050E5CF}"/>
              </a:ext>
            </a:extLst>
          </p:cNvPr>
          <p:cNvSpPr>
            <a:spLocks noGrp="1"/>
          </p:cNvSpPr>
          <p:nvPr>
            <p:ph type="sldNum" sz="quarter" idx="5"/>
          </p:nvPr>
        </p:nvSpPr>
        <p:spPr/>
        <p:txBody>
          <a:bodyPr/>
          <a:lstStyle/>
          <a:p>
            <a:fld id="{8191C064-8647-4876-9565-66F236AD4655}" type="slidenum">
              <a:rPr lang="en-US" smtClean="0"/>
              <a:t>12</a:t>
            </a:fld>
            <a:endParaRPr lang="en-US"/>
          </a:p>
        </p:txBody>
      </p:sp>
    </p:spTree>
    <p:extLst>
      <p:ext uri="{BB962C8B-B14F-4D97-AF65-F5344CB8AC3E}">
        <p14:creationId xmlns:p14="http://schemas.microsoft.com/office/powerpoint/2010/main" val="3485159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13</a:t>
            </a:fld>
            <a:endParaRPr lang="en-US"/>
          </a:p>
        </p:txBody>
      </p:sp>
    </p:spTree>
    <p:extLst>
      <p:ext uri="{BB962C8B-B14F-4D97-AF65-F5344CB8AC3E}">
        <p14:creationId xmlns:p14="http://schemas.microsoft.com/office/powerpoint/2010/main" val="8908427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same index was then used to identify the number of clusters after the two omics were integrated</a:t>
            </a:r>
          </a:p>
          <a:p>
            <a:pPr marL="171450" indent="-171450">
              <a:buFontTx/>
              <a:buChar char="-"/>
            </a:pPr>
            <a:r>
              <a:rPr lang="en-US" dirty="0"/>
              <a:t>The integrated joint clustering split the participants into 4 clusters. Cluster 1 had 9 subjects, …</a:t>
            </a:r>
          </a:p>
          <a:p>
            <a:pPr marL="628650" lvl="1" indent="-171450">
              <a:buFontTx/>
              <a:buChar char="-"/>
            </a:pPr>
            <a:r>
              <a:rPr lang="en-US" dirty="0"/>
              <a:t>Axes are the left singular vectors from </a:t>
            </a:r>
            <a:r>
              <a:rPr lang="en-US" sz="1200" b="0" i="0" kern="1200" dirty="0">
                <a:solidFill>
                  <a:schemeClr val="tx1"/>
                </a:solidFill>
                <a:effectLst/>
                <a:latin typeface="+mn-lt"/>
                <a:ea typeface="+mn-ea"/>
                <a:cs typeface="+mn-cs"/>
              </a:rPr>
              <a:t>singular value decomposition </a:t>
            </a:r>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14</a:t>
            </a:fld>
            <a:endParaRPr lang="en-US"/>
          </a:p>
        </p:txBody>
      </p:sp>
    </p:spTree>
    <p:extLst>
      <p:ext uri="{BB962C8B-B14F-4D97-AF65-F5344CB8AC3E}">
        <p14:creationId xmlns:p14="http://schemas.microsoft.com/office/powerpoint/2010/main" val="2195481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Once we had the joint clustering assignments, we wanted to validate the choice of 4 clusters based on the </a:t>
            </a:r>
            <a:r>
              <a:rPr lang="en-US" dirty="0" err="1"/>
              <a:t>TraceCovW</a:t>
            </a:r>
            <a:r>
              <a:rPr lang="en-US" dirty="0"/>
              <a:t> index</a:t>
            </a:r>
          </a:p>
          <a:p>
            <a:pPr marL="628650" lvl="1" indent="-171450">
              <a:buFontTx/>
              <a:buChar char="-"/>
            </a:pPr>
            <a:r>
              <a:rPr lang="en-US" dirty="0"/>
              <a:t>The groupings are moderately stable when changing the number of clusters chosen. Here, the colors represent 6 clusters and each column is 2-5. Since the groupings were not drastically changing, we felt comfortable moving forward with our original pick of 4</a:t>
            </a:r>
          </a:p>
        </p:txBody>
      </p:sp>
      <p:sp>
        <p:nvSpPr>
          <p:cNvPr id="4" name="Slide Number Placeholder 3"/>
          <p:cNvSpPr>
            <a:spLocks noGrp="1"/>
          </p:cNvSpPr>
          <p:nvPr>
            <p:ph type="sldNum" sz="quarter" idx="5"/>
          </p:nvPr>
        </p:nvSpPr>
        <p:spPr/>
        <p:txBody>
          <a:bodyPr/>
          <a:lstStyle/>
          <a:p>
            <a:fld id="{8191C064-8647-4876-9565-66F236AD4655}" type="slidenum">
              <a:rPr lang="en-US" smtClean="0"/>
              <a:t>15</a:t>
            </a:fld>
            <a:endParaRPr lang="en-US"/>
          </a:p>
        </p:txBody>
      </p:sp>
    </p:spTree>
    <p:extLst>
      <p:ext uri="{BB962C8B-B14F-4D97-AF65-F5344CB8AC3E}">
        <p14:creationId xmlns:p14="http://schemas.microsoft.com/office/powerpoint/2010/main" val="117032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Then, we compared the integrated joint clusters to the individual microbiome and proteome clusters.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The microbiome is on the left and the proteome is on the right. You can see that the two individual clusters do not directly correspond to each other.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The colors represent the integrated joint clusters. We can see that they are not fully 1-to-1,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No pair of proteome and microbiome clusters perfectly goes into one joint cluster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Thus, it is capturing something different than just combining the individual clusters (exciting!)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16</a:t>
            </a:fld>
            <a:endParaRPr lang="en-US"/>
          </a:p>
        </p:txBody>
      </p:sp>
    </p:spTree>
    <p:extLst>
      <p:ext uri="{BB962C8B-B14F-4D97-AF65-F5344CB8AC3E}">
        <p14:creationId xmlns:p14="http://schemas.microsoft.com/office/powerpoint/2010/main" val="4067964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85A52-488E-FA8E-6CFB-A23DCB997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D2DBE2-4D44-951D-6802-01FCEAB589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FEE49-8830-12D0-58E1-70C597159916}"/>
              </a:ext>
            </a:extLst>
          </p:cNvPr>
          <p:cNvSpPr>
            <a:spLocks noGrp="1"/>
          </p:cNvSpPr>
          <p:nvPr>
            <p:ph type="body" idx="1"/>
          </p:nvPr>
        </p:nvSpPr>
        <p:spPr/>
        <p:txBody>
          <a:bodyPr/>
          <a:lstStyle/>
          <a:p>
            <a:pPr marL="171450" indent="-171450">
              <a:buFontTx/>
              <a:buChar char="-"/>
            </a:pPr>
            <a:r>
              <a:rPr lang="en-US" dirty="0"/>
              <a:t>This pattern does not change when we look at a different number of microbiome or proteome clusters</a:t>
            </a:r>
          </a:p>
          <a:p>
            <a:pPr marL="628650" lvl="1" indent="-171450">
              <a:buFontTx/>
              <a:buChar char="-"/>
            </a:pPr>
            <a:r>
              <a:rPr lang="en-US" dirty="0"/>
              <a:t>The inner section of this is the same figure as the previous slide</a:t>
            </a:r>
          </a:p>
          <a:p>
            <a:pPr marL="628650" lvl="1" indent="-171450">
              <a:buFontTx/>
              <a:buChar char="-"/>
            </a:pPr>
            <a:r>
              <a:rPr lang="en-US" dirty="0"/>
              <a:t>Additional microbiome or proteome clusters do not better explain the joint clusters</a:t>
            </a:r>
          </a:p>
          <a:p>
            <a:pPr marL="628650" lvl="1" indent="-171450">
              <a:buFontTx/>
              <a:buChar char="-"/>
            </a:pPr>
            <a:endParaRPr lang="en-US" dirty="0"/>
          </a:p>
          <a:p>
            <a:pPr marL="628650" lvl="1" indent="-171450">
              <a:buFontTx/>
              <a:buChar char="-"/>
            </a:pPr>
            <a:endParaRPr lang="en-US" dirty="0"/>
          </a:p>
          <a:p>
            <a:pPr marL="628650" lvl="1" indent="-171450">
              <a:buFontTx/>
              <a:buChar char="-"/>
            </a:pPr>
            <a:endParaRPr lang="en-US" dirty="0"/>
          </a:p>
          <a:p>
            <a:pPr marL="628650" lvl="1" indent="-171450">
              <a:buFontTx/>
              <a:buChar char="-"/>
            </a:pPr>
            <a:r>
              <a:rPr lang="en-US" dirty="0"/>
              <a:t>Interesting to see whether things stabilize after you remove the 3 participants who are always separate (may be pushing everything closer together)</a:t>
            </a:r>
          </a:p>
        </p:txBody>
      </p:sp>
      <p:sp>
        <p:nvSpPr>
          <p:cNvPr id="4" name="Slide Number Placeholder 3">
            <a:extLst>
              <a:ext uri="{FF2B5EF4-FFF2-40B4-BE49-F238E27FC236}">
                <a16:creationId xmlns:a16="http://schemas.microsoft.com/office/drawing/2014/main" id="{0C3C5E37-6A67-66D4-8A31-32316A7FBE0D}"/>
              </a:ext>
            </a:extLst>
          </p:cNvPr>
          <p:cNvSpPr>
            <a:spLocks noGrp="1"/>
          </p:cNvSpPr>
          <p:nvPr>
            <p:ph type="sldNum" sz="quarter" idx="5"/>
          </p:nvPr>
        </p:nvSpPr>
        <p:spPr/>
        <p:txBody>
          <a:bodyPr/>
          <a:lstStyle/>
          <a:p>
            <a:fld id="{8191C064-8647-4876-9565-66F236AD4655}" type="slidenum">
              <a:rPr lang="en-US" smtClean="0"/>
              <a:t>17</a:t>
            </a:fld>
            <a:endParaRPr lang="en-US"/>
          </a:p>
        </p:txBody>
      </p:sp>
    </p:spTree>
    <p:extLst>
      <p:ext uri="{BB962C8B-B14F-4D97-AF65-F5344CB8AC3E}">
        <p14:creationId xmlns:p14="http://schemas.microsoft.com/office/powerpoint/2010/main" val="1991661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Cluster 1 showed the highest median relative abundance of </a:t>
            </a:r>
            <a:r>
              <a:rPr lang="en-US" dirty="0" err="1"/>
              <a:t>PRevotella</a:t>
            </a:r>
            <a:endParaRPr lang="en-US" dirty="0"/>
          </a:p>
          <a:p>
            <a:pPr marL="171450" indent="-171450">
              <a:buFontTx/>
              <a:buChar char="-"/>
            </a:pPr>
            <a:r>
              <a:rPr lang="en-US" dirty="0"/>
              <a:t>Cluster 2 showed higher relative abundances of </a:t>
            </a:r>
            <a:r>
              <a:rPr lang="en-US" dirty="0" err="1"/>
              <a:t>Veillonella</a:t>
            </a:r>
            <a:r>
              <a:rPr lang="en-US" dirty="0"/>
              <a:t> (C) and Pseudomonas</a:t>
            </a:r>
          </a:p>
          <a:p>
            <a:pPr marL="171450" indent="-171450">
              <a:buFontTx/>
              <a:buChar char="-"/>
            </a:pPr>
            <a:r>
              <a:rPr lang="en-US" dirty="0"/>
              <a:t>Clusters 3 and 4 had similar relative abundances of </a:t>
            </a:r>
            <a:r>
              <a:rPr lang="en-US" dirty="0" err="1"/>
              <a:t>Prevotella</a:t>
            </a:r>
            <a:r>
              <a:rPr lang="en-US" dirty="0"/>
              <a:t>, Streptococcus, Neisseria, and Pseudomonas</a:t>
            </a:r>
          </a:p>
        </p:txBody>
      </p:sp>
      <p:sp>
        <p:nvSpPr>
          <p:cNvPr id="4" name="Slide Number Placeholder 3"/>
          <p:cNvSpPr>
            <a:spLocks noGrp="1"/>
          </p:cNvSpPr>
          <p:nvPr>
            <p:ph type="sldNum" sz="quarter" idx="5"/>
          </p:nvPr>
        </p:nvSpPr>
        <p:spPr/>
        <p:txBody>
          <a:bodyPr/>
          <a:lstStyle/>
          <a:p>
            <a:fld id="{8191C064-8647-4876-9565-66F236AD4655}" type="slidenum">
              <a:rPr lang="en-US" smtClean="0"/>
              <a:t>18</a:t>
            </a:fld>
            <a:endParaRPr lang="en-US"/>
          </a:p>
        </p:txBody>
      </p:sp>
    </p:spTree>
    <p:extLst>
      <p:ext uri="{BB962C8B-B14F-4D97-AF65-F5344CB8AC3E}">
        <p14:creationId xmlns:p14="http://schemas.microsoft.com/office/powerpoint/2010/main" val="2796829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Cluster 2 showed higher relative abundance of Neisseriaceae</a:t>
            </a:r>
          </a:p>
          <a:p>
            <a:pPr marL="171450" indent="-171450">
              <a:buFontTx/>
              <a:buChar char="-"/>
            </a:pPr>
            <a:r>
              <a:rPr lang="en-US" dirty="0"/>
              <a:t>Clusters 3 and 4 showed higher relative abundance of </a:t>
            </a:r>
            <a:r>
              <a:rPr lang="en-US" dirty="0" err="1"/>
              <a:t>Veillonella</a:t>
            </a:r>
            <a:r>
              <a:rPr lang="en-US" dirty="0"/>
              <a:t> (S) </a:t>
            </a:r>
          </a:p>
        </p:txBody>
      </p:sp>
      <p:sp>
        <p:nvSpPr>
          <p:cNvPr id="4" name="Slide Number Placeholder 3"/>
          <p:cNvSpPr>
            <a:spLocks noGrp="1"/>
          </p:cNvSpPr>
          <p:nvPr>
            <p:ph type="sldNum" sz="quarter" idx="5"/>
          </p:nvPr>
        </p:nvSpPr>
        <p:spPr/>
        <p:txBody>
          <a:bodyPr/>
          <a:lstStyle/>
          <a:p>
            <a:fld id="{8191C064-8647-4876-9565-66F236AD4655}" type="slidenum">
              <a:rPr lang="en-US" smtClean="0"/>
              <a:t>19</a:t>
            </a:fld>
            <a:endParaRPr lang="en-US"/>
          </a:p>
        </p:txBody>
      </p:sp>
    </p:spTree>
    <p:extLst>
      <p:ext uri="{BB962C8B-B14F-4D97-AF65-F5344CB8AC3E}">
        <p14:creationId xmlns:p14="http://schemas.microsoft.com/office/powerpoint/2010/main" val="1041257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No proteins were statistically significant after FDR adjustment</a:t>
            </a:r>
          </a:p>
          <a:p>
            <a:pPr marL="171450" indent="-171450">
              <a:buFontTx/>
              <a:buChar char="-"/>
            </a:pPr>
            <a:endParaRPr lang="en-US" dirty="0"/>
          </a:p>
          <a:p>
            <a:pPr marL="171450" indent="-171450">
              <a:buFontTx/>
              <a:buChar char="-"/>
            </a:pPr>
            <a:r>
              <a:rPr lang="en-US" dirty="0"/>
              <a:t>Cluster 1 had higher elastase levels than Clusters 3 and 4, but similar IL-1b and MMP-2 levels</a:t>
            </a:r>
          </a:p>
          <a:p>
            <a:pPr marL="171450" indent="-171450">
              <a:buFontTx/>
              <a:buChar char="-"/>
            </a:pPr>
            <a:r>
              <a:rPr lang="en-US" dirty="0"/>
              <a:t>Cluster 2 was characterized by higher levels of Elastase, IL-1b, TIMP-1, and HMG-1 and:</a:t>
            </a:r>
          </a:p>
          <a:p>
            <a:pPr marL="628650" lvl="1" indent="-171450">
              <a:buFontTx/>
              <a:buChar char="-"/>
            </a:pPr>
            <a:r>
              <a:rPr lang="en-US" dirty="0"/>
              <a:t>Lower levels of MMP-2, TNF-alpha, SLPI, and IFN-g</a:t>
            </a:r>
          </a:p>
          <a:p>
            <a:pPr marL="171450" lvl="0" indent="-171450">
              <a:buFontTx/>
              <a:buChar char="-"/>
            </a:pPr>
            <a:r>
              <a:rPr lang="en-US" dirty="0"/>
              <a:t>Clusters 3 and 4 had comparable levels of most clinically relevant proteins</a:t>
            </a:r>
          </a:p>
          <a:p>
            <a:pPr marL="628650" lvl="1" indent="-171450">
              <a:buFontTx/>
              <a:buChar char="-"/>
            </a:pPr>
            <a:r>
              <a:rPr lang="en-US" dirty="0"/>
              <a:t>Cluster 3 had higher HMG-1 levels and lower TNF-alpha levels than Cluster 4</a:t>
            </a:r>
          </a:p>
          <a:p>
            <a:pPr marL="171450" lvl="0" indent="-171450">
              <a:buFontTx/>
              <a:buChar char="-"/>
            </a:pPr>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20</a:t>
            </a:fld>
            <a:endParaRPr lang="en-US"/>
          </a:p>
        </p:txBody>
      </p:sp>
    </p:spTree>
    <p:extLst>
      <p:ext uri="{BB962C8B-B14F-4D97-AF65-F5344CB8AC3E}">
        <p14:creationId xmlns:p14="http://schemas.microsoft.com/office/powerpoint/2010/main" val="8098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summary of each cluster and the general trends/patterns (striking stuff, doesn’t need to be too detailed).</a:t>
            </a:r>
          </a:p>
          <a:p>
            <a:endParaRPr lang="en-US" dirty="0"/>
          </a:p>
          <a:p>
            <a:r>
              <a:rPr lang="en-US" dirty="0"/>
              <a:t>Helpful for context of inflammation, traditional/nontraditional pathogens, etc. </a:t>
            </a:r>
          </a:p>
        </p:txBody>
      </p:sp>
      <p:sp>
        <p:nvSpPr>
          <p:cNvPr id="4" name="Slide Number Placeholder 3"/>
          <p:cNvSpPr>
            <a:spLocks noGrp="1"/>
          </p:cNvSpPr>
          <p:nvPr>
            <p:ph type="sldNum" sz="quarter" idx="5"/>
          </p:nvPr>
        </p:nvSpPr>
        <p:spPr/>
        <p:txBody>
          <a:bodyPr/>
          <a:lstStyle/>
          <a:p>
            <a:fld id="{8191C064-8647-4876-9565-66F236AD4655}" type="slidenum">
              <a:rPr lang="en-US" smtClean="0"/>
              <a:t>21</a:t>
            </a:fld>
            <a:endParaRPr lang="en-US"/>
          </a:p>
        </p:txBody>
      </p:sp>
    </p:spTree>
    <p:extLst>
      <p:ext uri="{BB962C8B-B14F-4D97-AF65-F5344CB8AC3E}">
        <p14:creationId xmlns:p14="http://schemas.microsoft.com/office/powerpoint/2010/main" val="9181024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Tx/>
              <a:buNone/>
            </a:pPr>
            <a:r>
              <a:rPr lang="en-US" dirty="0"/>
              <a:t>Cluster 2 exhibited a higher number of prior </a:t>
            </a:r>
            <a:r>
              <a:rPr lang="en-US" dirty="0" err="1"/>
              <a:t>Pex</a:t>
            </a:r>
            <a:r>
              <a:rPr lang="en-US" dirty="0"/>
              <a:t> events and hospitalizations in the preceding year</a:t>
            </a:r>
          </a:p>
          <a:p>
            <a:pPr marL="0" lvl="0" indent="0">
              <a:buFontTx/>
              <a:buNone/>
            </a:pPr>
            <a:endParaRPr lang="en-US" dirty="0"/>
          </a:p>
          <a:p>
            <a:pPr marL="0" lvl="0" indent="0">
              <a:buFontTx/>
              <a:buNone/>
            </a:pPr>
            <a:r>
              <a:rPr lang="en-US" dirty="0"/>
              <a:t>Cut down tables (remove TP2/3), weight/height. Good to know where they started </a:t>
            </a:r>
          </a:p>
          <a:p>
            <a:pPr marL="0" lvl="0" indent="0">
              <a:buFontTx/>
              <a:buNone/>
            </a:pPr>
            <a:endParaRPr lang="en-US" dirty="0"/>
          </a:p>
          <a:p>
            <a:pPr marL="0" lvl="0" indent="0">
              <a:buFontTx/>
              <a:buNone/>
            </a:pPr>
            <a:r>
              <a:rPr lang="en-US" dirty="0"/>
              <a:t>Make point that they are not all starting at very different spots (not what is driving the improvement)</a:t>
            </a:r>
          </a:p>
        </p:txBody>
      </p:sp>
      <p:sp>
        <p:nvSpPr>
          <p:cNvPr id="4" name="Slide Number Placeholder 3"/>
          <p:cNvSpPr>
            <a:spLocks noGrp="1"/>
          </p:cNvSpPr>
          <p:nvPr>
            <p:ph type="sldNum" sz="quarter" idx="5"/>
          </p:nvPr>
        </p:nvSpPr>
        <p:spPr/>
        <p:txBody>
          <a:bodyPr/>
          <a:lstStyle/>
          <a:p>
            <a:fld id="{8191C064-8647-4876-9565-66F236AD4655}" type="slidenum">
              <a:rPr lang="en-US" smtClean="0"/>
              <a:t>22</a:t>
            </a:fld>
            <a:endParaRPr lang="en-US"/>
          </a:p>
        </p:txBody>
      </p:sp>
    </p:spTree>
    <p:extLst>
      <p:ext uri="{BB962C8B-B14F-4D97-AF65-F5344CB8AC3E}">
        <p14:creationId xmlns:p14="http://schemas.microsoft.com/office/powerpoint/2010/main" val="14348189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figure represents lung function recovery by looking at the differences in FEV1 and FVC across time points. The times are admission (T1, focus of analysis), discharge, and a 1 month </a:t>
            </a:r>
            <a:r>
              <a:rPr lang="en-US" dirty="0" err="1"/>
              <a:t>followup</a:t>
            </a:r>
            <a:r>
              <a:rPr lang="en-US" dirty="0"/>
              <a:t> </a:t>
            </a:r>
          </a:p>
          <a:p>
            <a:pPr marL="171450" indent="-171450">
              <a:buFontTx/>
              <a:buChar char="-"/>
            </a:pPr>
            <a:r>
              <a:rPr lang="en-US" dirty="0"/>
              <a:t>Clusters 1 and 2 demonstrated the largest median improvements in both FEV1pp and FVC at later timepoints</a:t>
            </a:r>
          </a:p>
          <a:p>
            <a:pPr marL="628650" lvl="1" indent="-171450">
              <a:buFontTx/>
              <a:buChar char="-"/>
            </a:pPr>
            <a:r>
              <a:rPr lang="en-US" dirty="0"/>
              <a:t>Not statistically significant after FDR correction</a:t>
            </a:r>
          </a:p>
          <a:p>
            <a:pPr marL="628650" lvl="1" indent="-171450">
              <a:buFontTx/>
              <a:buChar char="-"/>
            </a:pPr>
            <a:endParaRPr lang="en-US" dirty="0"/>
          </a:p>
          <a:p>
            <a:pPr marL="628650" lvl="1" indent="-171450">
              <a:buFontTx/>
              <a:buChar char="-"/>
            </a:pPr>
            <a:endParaRPr lang="en-US" dirty="0"/>
          </a:p>
          <a:p>
            <a:pPr marL="628650" lvl="1" indent="-171450">
              <a:buFontTx/>
              <a:buChar char="-"/>
            </a:pPr>
            <a:endParaRPr lang="en-US" dirty="0"/>
          </a:p>
          <a:p>
            <a:pPr marL="628650" lvl="1" indent="-171450">
              <a:buFontTx/>
              <a:buChar char="-"/>
            </a:pPr>
            <a:r>
              <a:rPr lang="en-US" dirty="0"/>
              <a:t>Compare across time for bac and </a:t>
            </a:r>
            <a:r>
              <a:rPr lang="en-US" dirty="0" err="1"/>
              <a:t>prots</a:t>
            </a:r>
            <a:endParaRPr lang="en-US" dirty="0"/>
          </a:p>
          <a:p>
            <a:pPr marL="1085850" lvl="2" indent="-171450">
              <a:buFontTx/>
              <a:buChar char="-"/>
            </a:pPr>
            <a:r>
              <a:rPr lang="en-US" dirty="0"/>
              <a:t>Could we also longitudinally add views for later timepoints with bac and </a:t>
            </a:r>
            <a:r>
              <a:rPr lang="en-US" dirty="0" err="1"/>
              <a:t>prots</a:t>
            </a:r>
            <a:r>
              <a:rPr lang="en-US" dirty="0"/>
              <a:t>? Maybe some concern with non-independence/correlations </a:t>
            </a:r>
          </a:p>
          <a:p>
            <a:pPr marL="1543050" lvl="3" indent="-171450">
              <a:buFontTx/>
              <a:buChar char="-"/>
            </a:pPr>
            <a:r>
              <a:rPr lang="en-US" dirty="0"/>
              <a:t>Ecological turnover (1 vs 2 m-age)</a:t>
            </a:r>
          </a:p>
          <a:p>
            <a:pPr marL="1543050" lvl="3" indent="-171450">
              <a:buFontTx/>
              <a:buChar char="-"/>
            </a:pPr>
            <a:r>
              <a:rPr lang="en-US" dirty="0"/>
              <a:t>Scope creep </a:t>
            </a:r>
          </a:p>
        </p:txBody>
      </p:sp>
      <p:sp>
        <p:nvSpPr>
          <p:cNvPr id="4" name="Slide Number Placeholder 3"/>
          <p:cNvSpPr>
            <a:spLocks noGrp="1"/>
          </p:cNvSpPr>
          <p:nvPr>
            <p:ph type="sldNum" sz="quarter" idx="5"/>
          </p:nvPr>
        </p:nvSpPr>
        <p:spPr/>
        <p:txBody>
          <a:bodyPr/>
          <a:lstStyle/>
          <a:p>
            <a:fld id="{8191C064-8647-4876-9565-66F236AD4655}" type="slidenum">
              <a:rPr lang="en-US" smtClean="0"/>
              <a:t>23</a:t>
            </a:fld>
            <a:endParaRPr lang="en-US"/>
          </a:p>
        </p:txBody>
      </p:sp>
    </p:spTree>
    <p:extLst>
      <p:ext uri="{BB962C8B-B14F-4D97-AF65-F5344CB8AC3E}">
        <p14:creationId xmlns:p14="http://schemas.microsoft.com/office/powerpoint/2010/main" val="2195882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integrated clusters were characterized by coordinated but distinct microbial and inflammatory patterns. </a:t>
            </a:r>
          </a:p>
          <a:p>
            <a:pPr marL="171450" indent="-171450">
              <a:buFontTx/>
              <a:buChar char="-"/>
            </a:pPr>
            <a:r>
              <a:rPr lang="en-US" dirty="0"/>
              <a:t>Highlights complex relationship between inflammation and clinical recovery during </a:t>
            </a:r>
            <a:r>
              <a:rPr lang="en-US" dirty="0" err="1"/>
              <a:t>Pex</a:t>
            </a:r>
            <a:endParaRPr lang="en-US" dirty="0"/>
          </a:p>
          <a:p>
            <a:pPr marL="628650" lvl="1" indent="-171450">
              <a:buFontTx/>
              <a:buChar char="-"/>
            </a:pPr>
            <a:r>
              <a:rPr lang="en-US" dirty="0"/>
              <a:t>Cluster 2 had higher relative abundance of Neisseria and a heightened systemic inflammatory profile, but relatively greater recovery in FEV1pp</a:t>
            </a:r>
          </a:p>
          <a:p>
            <a:pPr marL="1085850" lvl="2" indent="-171450">
              <a:buFontTx/>
              <a:buChar char="-"/>
            </a:pPr>
            <a:r>
              <a:rPr lang="en-US" dirty="0"/>
              <a:t>Suggests that heightened inflammatory signaling at onset may not prevent short-term lung function improvement</a:t>
            </a:r>
          </a:p>
          <a:p>
            <a:pPr marL="628650" lvl="1" indent="-171450">
              <a:buFontTx/>
              <a:buChar char="-"/>
            </a:pPr>
            <a:r>
              <a:rPr lang="en-US" dirty="0"/>
              <a:t>Clusters 3 and 4 had similar microbiota but differed in select inflammatory mediators and showed less improvement in FEV1 percent predicted over follow-up.</a:t>
            </a:r>
          </a:p>
          <a:p>
            <a:pPr marL="1085850" lvl="2" indent="-171450">
              <a:buFontTx/>
              <a:buChar char="-"/>
            </a:pPr>
            <a:r>
              <a:rPr lang="en-US" dirty="0"/>
              <a:t>Host-response differences, even in the presence of comparable microbial communities, may contribute meaningfully to variability in </a:t>
            </a:r>
            <a:r>
              <a:rPr lang="en-US" dirty="0" err="1"/>
              <a:t>PEx</a:t>
            </a:r>
            <a:r>
              <a:rPr lang="en-US" dirty="0"/>
              <a:t> outcomes</a:t>
            </a:r>
          </a:p>
          <a:p>
            <a:pPr marL="171450" lvl="0" indent="-171450">
              <a:buFontTx/>
              <a:buChar char="-"/>
            </a:pPr>
            <a:r>
              <a:rPr lang="en-US" dirty="0"/>
              <a:t>Collectively, these results argue against simple pathogen-centric or inflammation-centric models and instead support a multidimensional view of </a:t>
            </a:r>
            <a:r>
              <a:rPr lang="en-US" dirty="0" err="1"/>
              <a:t>PEx</a:t>
            </a:r>
            <a:r>
              <a:rPr lang="en-US" dirty="0"/>
              <a:t> biology</a:t>
            </a:r>
          </a:p>
          <a:p>
            <a:pPr marL="171450" lvl="0" indent="-171450">
              <a:buFontTx/>
              <a:buChar char="-"/>
            </a:pPr>
            <a:endParaRPr lang="en-US" dirty="0"/>
          </a:p>
          <a:p>
            <a:pPr marL="171450" lvl="0" indent="-171450">
              <a:buFontTx/>
              <a:buChar char="-"/>
            </a:pPr>
            <a:endParaRPr lang="en-US" dirty="0"/>
          </a:p>
          <a:p>
            <a:pPr marL="171450" lvl="0" indent="-171450">
              <a:buFontTx/>
              <a:buChar char="-"/>
            </a:pPr>
            <a:endParaRPr lang="en-US" dirty="0"/>
          </a:p>
          <a:p>
            <a:pPr marL="171450" lvl="0" indent="-171450">
              <a:buFontTx/>
              <a:buChar char="-"/>
            </a:pPr>
            <a:endParaRPr lang="en-US" dirty="0"/>
          </a:p>
          <a:p>
            <a:pPr marL="0" lvl="0" indent="0">
              <a:buFontTx/>
              <a:buNone/>
            </a:pPr>
            <a:r>
              <a:rPr lang="en-US" dirty="0"/>
              <a:t>- Cluster 2 has inflammatory response but they are improving =&gt; may provide evidence for bacterial infection that was successfully treated rather than a viral infection</a:t>
            </a:r>
          </a:p>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24</a:t>
            </a:fld>
            <a:endParaRPr lang="en-US"/>
          </a:p>
        </p:txBody>
      </p:sp>
    </p:spTree>
    <p:extLst>
      <p:ext uri="{BB962C8B-B14F-4D97-AF65-F5344CB8AC3E}">
        <p14:creationId xmlns:p14="http://schemas.microsoft.com/office/powerpoint/2010/main" val="31461574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Previous work used this dataset with multi-omics strategy </a:t>
            </a:r>
            <a:r>
              <a:rPr lang="en-US" dirty="0" err="1"/>
              <a:t>SmCCNet</a:t>
            </a:r>
            <a:endParaRPr lang="en-US" dirty="0"/>
          </a:p>
          <a:p>
            <a:pPr marL="628650" lvl="1" indent="-171450">
              <a:buFontTx/>
              <a:buChar char="-"/>
            </a:pPr>
            <a:r>
              <a:rPr lang="en-US" dirty="0" err="1"/>
              <a:t>SmCCNet</a:t>
            </a:r>
            <a:r>
              <a:rPr lang="en-US" dirty="0"/>
              <a:t>: Sparse Multiple Canonical Correlation Network Analysis, i</a:t>
            </a:r>
            <a:r>
              <a:rPr lang="en-US" sz="1200" b="0" i="0" kern="1200" dirty="0">
                <a:solidFill>
                  <a:schemeClr val="tx1"/>
                </a:solidFill>
                <a:effectLst/>
                <a:latin typeface="+mn-lt"/>
                <a:ea typeface="+mn-ea"/>
                <a:cs typeface="+mn-cs"/>
              </a:rPr>
              <a:t>ntegrates multiple types of omics data with a specific phenotype of interest for molecular networks</a:t>
            </a:r>
            <a:endParaRPr lang="en-US" dirty="0"/>
          </a:p>
          <a:p>
            <a:pPr marL="628650" lvl="1" indent="-171450">
              <a:buFontTx/>
              <a:buChar char="-"/>
            </a:pPr>
            <a:r>
              <a:rPr lang="en-US" dirty="0"/>
              <a:t>Identified subnetworks of taxa and proteins associated with </a:t>
            </a:r>
            <a:r>
              <a:rPr lang="en-US" dirty="0" err="1"/>
              <a:t>PEx</a:t>
            </a: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Immune pathways: B cell proliferation, regulation of T-helper17 cell lineage commitment, positive regulation of NF-B transcription factor </a:t>
            </a:r>
            <a:r>
              <a:rPr lang="en-US" dirty="0" err="1"/>
              <a:t>activit</a:t>
            </a: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More focusing on networks of individual bacteria and proteins (different than trying to create groups of people based on the data, grouping bacteria and </a:t>
            </a:r>
            <a:r>
              <a:rPr lang="en-US" dirty="0" err="1"/>
              <a:t>proteisn</a:t>
            </a:r>
            <a:r>
              <a:rPr lang="en-US" dirty="0"/>
              <a:t>).</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Also supervised analysis, defining groups based on FEV. Me unsupervised approach without FEV and look at it later</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Not surprising that different, answering different questions</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Highlight that the final list is very different in the paper and </a:t>
            </a:r>
            <a:r>
              <a:rPr lang="en-US" dirty="0" err="1"/>
              <a:t>queston</a:t>
            </a:r>
            <a:r>
              <a:rPr lang="en-US" dirty="0"/>
              <a:t> is different. Difference in nodes</a:t>
            </a:r>
          </a:p>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25</a:t>
            </a:fld>
            <a:endParaRPr lang="en-US"/>
          </a:p>
        </p:txBody>
      </p:sp>
    </p:spTree>
    <p:extLst>
      <p:ext uri="{BB962C8B-B14F-4D97-AF65-F5344CB8AC3E}">
        <p14:creationId xmlns:p14="http://schemas.microsoft.com/office/powerpoint/2010/main" val="9613296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err="1"/>
              <a:t>Somascan</a:t>
            </a:r>
            <a:r>
              <a:rPr lang="en-US" dirty="0"/>
              <a:t> 1000$ for a sample </a:t>
            </a:r>
          </a:p>
          <a:p>
            <a:pPr marL="628650" lvl="1" indent="-171450">
              <a:buFontTx/>
              <a:buChar char="-"/>
            </a:pPr>
            <a:r>
              <a:rPr lang="en-US" dirty="0"/>
              <a:t>Especially because 2010-2012 collection dates</a:t>
            </a:r>
          </a:p>
          <a:p>
            <a:pPr marL="628650" lvl="1" indent="-171450">
              <a:buFontTx/>
              <a:buChar char="-"/>
            </a:pPr>
            <a:r>
              <a:rPr lang="en-US" dirty="0"/>
              <a:t>Recruiting patients is expensive</a:t>
            </a:r>
          </a:p>
          <a:p>
            <a:pPr marL="628650" lvl="1" indent="-171450">
              <a:buFontTx/>
              <a:buChar char="-"/>
            </a:pPr>
            <a:r>
              <a:rPr lang="en-US" dirty="0"/>
              <a:t>Overall expensive study</a:t>
            </a:r>
          </a:p>
          <a:p>
            <a:pPr marL="628650" lvl="1" indent="-171450">
              <a:buFontTx/>
              <a:buChar char="-"/>
            </a:pPr>
            <a:endParaRPr lang="en-US" dirty="0"/>
          </a:p>
          <a:p>
            <a:pPr marL="628650" lvl="1" indent="-171450">
              <a:buFontTx/>
              <a:buChar char="-"/>
            </a:pPr>
            <a:endParaRPr lang="en-US" dirty="0"/>
          </a:p>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27</a:t>
            </a:fld>
            <a:endParaRPr lang="en-US"/>
          </a:p>
        </p:txBody>
      </p:sp>
    </p:spTree>
    <p:extLst>
      <p:ext uri="{BB962C8B-B14F-4D97-AF65-F5344CB8AC3E}">
        <p14:creationId xmlns:p14="http://schemas.microsoft.com/office/powerpoint/2010/main" val="21867185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29</a:t>
            </a:fld>
            <a:endParaRPr lang="en-US"/>
          </a:p>
        </p:txBody>
      </p:sp>
    </p:spTree>
    <p:extLst>
      <p:ext uri="{BB962C8B-B14F-4D97-AF65-F5344CB8AC3E}">
        <p14:creationId xmlns:p14="http://schemas.microsoft.com/office/powerpoint/2010/main" val="36820906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Microbiome: how many taxa as the final count for time point 1 and then the final count overall</a:t>
            </a:r>
          </a:p>
          <a:p>
            <a:r>
              <a:rPr lang="en-US" dirty="0"/>
              <a:t>Proteome: how many proteins final count </a:t>
            </a:r>
          </a:p>
        </p:txBody>
      </p:sp>
      <p:sp>
        <p:nvSpPr>
          <p:cNvPr id="4" name="Slide Number Placeholder 3"/>
          <p:cNvSpPr>
            <a:spLocks noGrp="1"/>
          </p:cNvSpPr>
          <p:nvPr>
            <p:ph type="sldNum" sz="quarter" idx="5"/>
          </p:nvPr>
        </p:nvSpPr>
        <p:spPr/>
        <p:txBody>
          <a:bodyPr/>
          <a:lstStyle/>
          <a:p>
            <a:fld id="{8191C064-8647-4876-9565-66F236AD4655}" type="slidenum">
              <a:rPr lang="en-US" smtClean="0"/>
              <a:t>32</a:t>
            </a:fld>
            <a:endParaRPr lang="en-US"/>
          </a:p>
        </p:txBody>
      </p:sp>
    </p:spTree>
    <p:extLst>
      <p:ext uri="{BB962C8B-B14F-4D97-AF65-F5344CB8AC3E}">
        <p14:creationId xmlns:p14="http://schemas.microsoft.com/office/powerpoint/2010/main" val="15143667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Mathematically like Hellinger (densities are nice objects</a:t>
            </a:r>
          </a:p>
          <a:p>
            <a:endParaRPr lang="en-US" dirty="0"/>
          </a:p>
          <a:p>
            <a:r>
              <a:rPr lang="en-US" dirty="0"/>
              <a:t>No clusters for proteomics, microbiome Kirk could believe 9 </a:t>
            </a:r>
          </a:p>
          <a:p>
            <a:endParaRPr lang="en-US" dirty="0"/>
          </a:p>
          <a:p>
            <a:r>
              <a:rPr lang="en-US" dirty="0"/>
              <a:t>Blood is systemic</a:t>
            </a:r>
          </a:p>
          <a:p>
            <a:endParaRPr lang="en-US" dirty="0"/>
          </a:p>
          <a:p>
            <a:r>
              <a:rPr lang="en-US" dirty="0"/>
              <a:t>Probably some weighting to balance 4000 vs 70 (standardizing matrix by trace?) </a:t>
            </a:r>
          </a:p>
          <a:p>
            <a:r>
              <a:rPr lang="en-US" dirty="0"/>
              <a:t>Diff numbers of features in distances</a:t>
            </a:r>
          </a:p>
          <a:p>
            <a:endParaRPr lang="en-US" dirty="0"/>
          </a:p>
          <a:p>
            <a:r>
              <a:rPr lang="en-US" dirty="0"/>
              <a:t>Hellinger bounded 0-1 by definition compresses the eigen values (by definition no variation)</a:t>
            </a:r>
          </a:p>
          <a:p>
            <a:pPr marL="171450" indent="-171450">
              <a:buFontTx/>
              <a:buChar char="-"/>
            </a:pPr>
            <a:r>
              <a:rPr lang="en-US" dirty="0" err="1"/>
              <a:t>Downweight</a:t>
            </a:r>
            <a:r>
              <a:rPr lang="en-US" dirty="0"/>
              <a:t> the Laplacian </a:t>
            </a:r>
          </a:p>
          <a:p>
            <a:pPr marL="171450" indent="-171450">
              <a:buFontTx/>
              <a:buChar char="-"/>
            </a:pPr>
            <a:endParaRPr lang="en-US" dirty="0"/>
          </a:p>
          <a:p>
            <a:pPr marL="171450" indent="-171450">
              <a:buFontTx/>
              <a:buChar char="-"/>
            </a:pPr>
            <a:r>
              <a:rPr lang="en-US" dirty="0"/>
              <a:t>CLR skews things (never use robust CLR). What do you do with 0s for the CLR? </a:t>
            </a:r>
          </a:p>
          <a:p>
            <a:pPr marL="171450" indent="-171450">
              <a:buFontTx/>
              <a:buChar char="-"/>
            </a:pPr>
            <a:r>
              <a:rPr lang="en-US" dirty="0"/>
              <a:t>Include 2 different metrics and a consensus clustering </a:t>
            </a:r>
          </a:p>
          <a:p>
            <a:pPr marL="628650" lvl="1" indent="-171450">
              <a:buFontTx/>
              <a:buChar char="-"/>
            </a:pPr>
            <a:r>
              <a:rPr lang="en-US" dirty="0"/>
              <a:t>How well do the clusters line up with each other? </a:t>
            </a:r>
          </a:p>
          <a:p>
            <a:pPr marL="628650" lvl="1" indent="-171450">
              <a:buFontTx/>
              <a:buChar char="-"/>
            </a:pPr>
            <a:r>
              <a:rPr lang="en-US" dirty="0"/>
              <a:t>What is common across clusters -&gt; most stable findings (robust to different assumptions =&gt; more likely to be real) </a:t>
            </a:r>
          </a:p>
          <a:p>
            <a:pPr marL="1085850" lvl="2" indent="-171450">
              <a:buFontTx/>
              <a:buChar char="-"/>
            </a:pPr>
            <a:r>
              <a:rPr lang="en-US" dirty="0"/>
              <a:t>Only keep the people who have maintained clusters across algorithms (may be really small, changes downstream). </a:t>
            </a:r>
          </a:p>
          <a:p>
            <a:pPr marL="1543050" lvl="3" indent="-171450">
              <a:buFontTx/>
              <a:buChar char="-"/>
            </a:pPr>
            <a:r>
              <a:rPr lang="en-US" dirty="0"/>
              <a:t>Ability to comment on stability of clustering</a:t>
            </a:r>
          </a:p>
          <a:p>
            <a:pPr marL="1543050" lvl="3" indent="-171450">
              <a:buFontTx/>
              <a:buChar char="-"/>
            </a:pPr>
            <a:r>
              <a:rPr lang="en-US" dirty="0"/>
              <a:t>Biological interpretation is hard because it is too reductionist (what does average pseudomonas actually mean biologically)</a:t>
            </a:r>
          </a:p>
          <a:p>
            <a:pPr marL="1543050" lvl="3" indent="-171450">
              <a:buFontTx/>
              <a:buChar char="-"/>
            </a:pPr>
            <a:endParaRPr lang="en-US" dirty="0"/>
          </a:p>
          <a:p>
            <a:pPr marL="1543050" lvl="3" indent="-171450">
              <a:buFontTx/>
              <a:buChar char="-"/>
            </a:pPr>
            <a:endParaRPr lang="en-US" dirty="0"/>
          </a:p>
          <a:p>
            <a:pPr marL="1543050" lvl="3" indent="-171450">
              <a:buFontTx/>
              <a:buChar char="-"/>
            </a:pPr>
            <a:endParaRPr lang="en-US" dirty="0"/>
          </a:p>
          <a:p>
            <a:pPr marL="1543050" lvl="3" indent="-171450">
              <a:buFontTx/>
              <a:buChar char="-"/>
            </a:pPr>
            <a:endParaRPr lang="en-US" dirty="0"/>
          </a:p>
          <a:p>
            <a:pPr marL="1543050" lvl="3" indent="-171450">
              <a:buFontTx/>
              <a:buChar char="-"/>
            </a:pPr>
            <a:r>
              <a:rPr lang="en-US" dirty="0"/>
              <a:t>Plan – horn for microbiome, Euclidian for proteome and transform it. Use Euclidian for MMOC clustering assignments as on the distances. </a:t>
            </a:r>
          </a:p>
          <a:p>
            <a:pPr marL="1543050" lvl="3" indent="-171450">
              <a:buFontTx/>
              <a:buChar char="-"/>
            </a:pPr>
            <a:r>
              <a:rPr lang="en-US" dirty="0"/>
              <a:t>Merge everything with the same name (look for other ones – </a:t>
            </a:r>
            <a:r>
              <a:rPr lang="en-US" dirty="0" err="1"/>
              <a:t>fermicutes</a:t>
            </a:r>
            <a:r>
              <a:rPr lang="en-US" dirty="0"/>
              <a:t> (</a:t>
            </a:r>
            <a:r>
              <a:rPr lang="en-US" dirty="0" err="1"/>
              <a:t>enfusobacterium</a:t>
            </a:r>
            <a:r>
              <a:rPr lang="en-US"/>
              <a:t>)</a:t>
            </a:r>
          </a:p>
          <a:p>
            <a:pPr marL="1543050" lvl="3" indent="-171450">
              <a:buFontTx/>
              <a:buChar char="-"/>
            </a:pPr>
            <a:endParaRPr lang="en-US" dirty="0"/>
          </a:p>
          <a:p>
            <a:pPr marL="1543050" lvl="3" indent="-171450">
              <a:buFontTx/>
              <a:buChar char="-"/>
            </a:pPr>
            <a:endParaRPr lang="en-US" dirty="0"/>
          </a:p>
          <a:p>
            <a:pPr marL="1543050" lvl="3" indent="-171450">
              <a:buFontTx/>
              <a:buChar char="-"/>
            </a:pPr>
            <a:endParaRPr lang="en-US" dirty="0"/>
          </a:p>
        </p:txBody>
      </p:sp>
      <p:sp>
        <p:nvSpPr>
          <p:cNvPr id="4" name="Slide Number Placeholder 3"/>
          <p:cNvSpPr>
            <a:spLocks noGrp="1"/>
          </p:cNvSpPr>
          <p:nvPr>
            <p:ph type="sldNum" sz="quarter" idx="5"/>
          </p:nvPr>
        </p:nvSpPr>
        <p:spPr/>
        <p:txBody>
          <a:bodyPr/>
          <a:lstStyle/>
          <a:p>
            <a:fld id="{8191C064-8647-4876-9565-66F236AD4655}" type="slidenum">
              <a:rPr lang="en-US" smtClean="0"/>
              <a:t>34</a:t>
            </a:fld>
            <a:endParaRPr lang="en-US"/>
          </a:p>
        </p:txBody>
      </p:sp>
    </p:spTree>
    <p:extLst>
      <p:ext uri="{BB962C8B-B14F-4D97-AF65-F5344CB8AC3E}">
        <p14:creationId xmlns:p14="http://schemas.microsoft.com/office/powerpoint/2010/main" val="35748114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Can look at baseline % recovered (don’t have for this dataset, happened after this dataset)</a:t>
            </a:r>
          </a:p>
        </p:txBody>
      </p:sp>
      <p:sp>
        <p:nvSpPr>
          <p:cNvPr id="4" name="Slide Number Placeholder 3"/>
          <p:cNvSpPr>
            <a:spLocks noGrp="1"/>
          </p:cNvSpPr>
          <p:nvPr>
            <p:ph type="sldNum" sz="quarter" idx="5"/>
          </p:nvPr>
        </p:nvSpPr>
        <p:spPr/>
        <p:txBody>
          <a:bodyPr/>
          <a:lstStyle/>
          <a:p>
            <a:fld id="{8191C064-8647-4876-9565-66F236AD4655}" type="slidenum">
              <a:rPr lang="en-US" smtClean="0"/>
              <a:t>35</a:t>
            </a:fld>
            <a:endParaRPr lang="en-US"/>
          </a:p>
        </p:txBody>
      </p:sp>
    </p:spTree>
    <p:extLst>
      <p:ext uri="{BB962C8B-B14F-4D97-AF65-F5344CB8AC3E}">
        <p14:creationId xmlns:p14="http://schemas.microsoft.com/office/powerpoint/2010/main" val="6668568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CDE51-E31B-BCE6-29A5-88B5B8706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F389D4-31D9-0F4A-0C59-1EE4212CDD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9FE82-1205-0A41-4183-034FCE4735E9}"/>
              </a:ext>
            </a:extLst>
          </p:cNvPr>
          <p:cNvSpPr>
            <a:spLocks noGrp="1"/>
          </p:cNvSpPr>
          <p:nvPr>
            <p:ph type="body" idx="1"/>
          </p:nvPr>
        </p:nvSpPr>
        <p:spPr/>
        <p:txBody>
          <a:bodyPr/>
          <a:lstStyle/>
          <a:p>
            <a:pPr marL="0" lvl="0" indent="0">
              <a:buFontTx/>
              <a:buNone/>
            </a:pPr>
            <a:r>
              <a:rPr lang="en-US" dirty="0"/>
              <a:t>Could use clinical data as another clustering view</a:t>
            </a:r>
          </a:p>
        </p:txBody>
      </p:sp>
      <p:sp>
        <p:nvSpPr>
          <p:cNvPr id="4" name="Slide Number Placeholder 3">
            <a:extLst>
              <a:ext uri="{FF2B5EF4-FFF2-40B4-BE49-F238E27FC236}">
                <a16:creationId xmlns:a16="http://schemas.microsoft.com/office/drawing/2014/main" id="{DFE58C76-8E73-E24C-DC1E-1BD7A22C2952}"/>
              </a:ext>
            </a:extLst>
          </p:cNvPr>
          <p:cNvSpPr>
            <a:spLocks noGrp="1"/>
          </p:cNvSpPr>
          <p:nvPr>
            <p:ph type="sldNum" sz="quarter" idx="5"/>
          </p:nvPr>
        </p:nvSpPr>
        <p:spPr/>
        <p:txBody>
          <a:bodyPr/>
          <a:lstStyle/>
          <a:p>
            <a:fld id="{8191C064-8647-4876-9565-66F236AD4655}" type="slidenum">
              <a:rPr lang="en-US" smtClean="0"/>
              <a:t>36</a:t>
            </a:fld>
            <a:endParaRPr lang="en-US"/>
          </a:p>
        </p:txBody>
      </p:sp>
    </p:spTree>
    <p:extLst>
      <p:ext uri="{BB962C8B-B14F-4D97-AF65-F5344CB8AC3E}">
        <p14:creationId xmlns:p14="http://schemas.microsoft.com/office/powerpoint/2010/main" val="2282646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05EB-21DE-94F2-5CCA-AD2F6CE05A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320822-A3D4-D335-43E4-C4798B6C13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9C6FBB-D10E-367D-2B81-481F68FD2573}"/>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5" name="Footer Placeholder 4">
            <a:extLst>
              <a:ext uri="{FF2B5EF4-FFF2-40B4-BE49-F238E27FC236}">
                <a16:creationId xmlns:a16="http://schemas.microsoft.com/office/drawing/2014/main" id="{2C5F8460-C63D-A86B-83A2-07A206D46F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FE8CC1-5102-070A-5BAF-DCAF0DA66BEF}"/>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3739228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522A-3633-2E2B-310B-F623ED20BE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0787E0-5937-1189-DED8-BE779B801B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A0EC5C-0B97-5826-8FDA-3DBD6D024365}"/>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5" name="Footer Placeholder 4">
            <a:extLst>
              <a:ext uri="{FF2B5EF4-FFF2-40B4-BE49-F238E27FC236}">
                <a16:creationId xmlns:a16="http://schemas.microsoft.com/office/drawing/2014/main" id="{5F9C0293-6F02-533A-5327-271B31F3FC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6DA91F-E365-54FE-ACA1-C791B397FD12}"/>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121206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5C59-A0FF-78F5-A299-1A54D8C4F2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5E12F7-958C-3786-9384-C7FF7820713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957CADB-BC4A-CEE4-0750-F62F889BDB29}"/>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5" name="Footer Placeholder 4">
            <a:extLst>
              <a:ext uri="{FF2B5EF4-FFF2-40B4-BE49-F238E27FC236}">
                <a16:creationId xmlns:a16="http://schemas.microsoft.com/office/drawing/2014/main" id="{2B09572B-E277-89FE-F82D-46BDB74519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AAF1A3-2EFF-AB8E-7F73-0FCBF687A352}"/>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2580488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73F3-ACF1-A35C-1772-24D34584D9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C5C00D-D587-BF8A-B982-2795375DB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EA0D5C-881D-0EEA-8028-A16DBE585D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D13206-63D8-E6E7-4A38-796FFA02F07C}"/>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6" name="Footer Placeholder 5">
            <a:extLst>
              <a:ext uri="{FF2B5EF4-FFF2-40B4-BE49-F238E27FC236}">
                <a16:creationId xmlns:a16="http://schemas.microsoft.com/office/drawing/2014/main" id="{5F3E9ADC-BE83-615A-D5D9-273088A4FB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7348A6-DD57-F762-F145-293D48AC5690}"/>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16233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4F8DA-DBBB-D331-4CFA-BCAA298D4E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4B0E0B-56B5-3D6D-3CC6-5592A81A61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7B0570-12FA-D256-7F86-EBE2ADAD59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159D83-7ED7-5AA1-0347-2C925B705D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31833F-E943-A258-B819-0E45D8C76E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A32996-6865-82A6-CED6-5BCB6262BC3E}"/>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8" name="Footer Placeholder 7">
            <a:extLst>
              <a:ext uri="{FF2B5EF4-FFF2-40B4-BE49-F238E27FC236}">
                <a16:creationId xmlns:a16="http://schemas.microsoft.com/office/drawing/2014/main" id="{E9ABCCC2-CDB5-9065-C766-B4677A011B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35653D-691B-AE91-C6F4-0A7A2EDEC9C4}"/>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3471115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2C041-BE47-5D7E-0DF2-E2CD7E5B17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55A608-3A8D-0482-08DF-CED5C3D47704}"/>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4" name="Footer Placeholder 3">
            <a:extLst>
              <a:ext uri="{FF2B5EF4-FFF2-40B4-BE49-F238E27FC236}">
                <a16:creationId xmlns:a16="http://schemas.microsoft.com/office/drawing/2014/main" id="{DF4B9F7D-1587-B24D-8455-6AB6A9BEE1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19065E-990C-F15E-6753-9FBFA543A63B}"/>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3346193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FE53A9-9EF8-3588-387E-547AFC261FE1}"/>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3" name="Footer Placeholder 2">
            <a:extLst>
              <a:ext uri="{FF2B5EF4-FFF2-40B4-BE49-F238E27FC236}">
                <a16:creationId xmlns:a16="http://schemas.microsoft.com/office/drawing/2014/main" id="{1000E68C-E4C9-30A4-A196-D7A3E3A493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B2F1AE-2024-8A9C-0583-C327D4AC837F}"/>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2071696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BAF19-148E-721E-51CE-B0885BC4EA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74D3153-D062-667D-F20A-D5653EC393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89E464-445E-2417-59CC-F494123FD7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7CF154-E3DB-B793-8319-377905D2BE96}"/>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6" name="Footer Placeholder 5">
            <a:extLst>
              <a:ext uri="{FF2B5EF4-FFF2-40B4-BE49-F238E27FC236}">
                <a16:creationId xmlns:a16="http://schemas.microsoft.com/office/drawing/2014/main" id="{D17E1266-CFD9-62DB-5D18-DC0763358B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174A0F-0D29-6527-A57F-96FED6C34FAF}"/>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3092693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3BC0-BE31-B506-4110-98A62B84D7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B3DB7A-18DB-4F55-C0ED-2780326E4A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0A858A-01D6-61B9-2D0F-26205969BD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66807E-DB1D-5CFF-425F-F677F87BC15A}"/>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6" name="Footer Placeholder 5">
            <a:extLst>
              <a:ext uri="{FF2B5EF4-FFF2-40B4-BE49-F238E27FC236}">
                <a16:creationId xmlns:a16="http://schemas.microsoft.com/office/drawing/2014/main" id="{2B68C2DA-D987-5C60-4BB5-7980EDDE57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E473-3736-CB15-EC35-4632EEF78109}"/>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2924071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E9FC6-2B81-3625-5CF7-F5A9CBA7CA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D9C022-5BD1-CA0C-4868-8978056E4C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29F-C4AD-D402-14E4-7D028C45202E}"/>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5" name="Footer Placeholder 4">
            <a:extLst>
              <a:ext uri="{FF2B5EF4-FFF2-40B4-BE49-F238E27FC236}">
                <a16:creationId xmlns:a16="http://schemas.microsoft.com/office/drawing/2014/main" id="{B7703D06-4CD4-5F09-F4BD-32C0298557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535D9-02C8-8CCE-ED61-0074C561FA6A}"/>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402173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0B550E-EBA4-2659-ABFC-D9F7F8D0DD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BF93A3-26C0-E94E-BCFA-E438E7A9DB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8D60C-ABF6-EBE7-C093-BC09AEAACA56}"/>
              </a:ext>
            </a:extLst>
          </p:cNvPr>
          <p:cNvSpPr>
            <a:spLocks noGrp="1"/>
          </p:cNvSpPr>
          <p:nvPr>
            <p:ph type="dt" sz="half" idx="10"/>
          </p:nvPr>
        </p:nvSpPr>
        <p:spPr/>
        <p:txBody>
          <a:bodyPr/>
          <a:lstStyle/>
          <a:p>
            <a:fld id="{8C2D25AA-EB80-4850-95EF-F61C8C15279B}" type="datetimeFigureOut">
              <a:rPr lang="en-US" smtClean="0"/>
              <a:t>4/7/2026</a:t>
            </a:fld>
            <a:endParaRPr lang="en-US"/>
          </a:p>
        </p:txBody>
      </p:sp>
      <p:sp>
        <p:nvSpPr>
          <p:cNvPr id="5" name="Footer Placeholder 4">
            <a:extLst>
              <a:ext uri="{FF2B5EF4-FFF2-40B4-BE49-F238E27FC236}">
                <a16:creationId xmlns:a16="http://schemas.microsoft.com/office/drawing/2014/main" id="{D0F5DD3C-291F-1D16-6EC0-6828EA274E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931542-BF42-3C5B-4376-FD7066729061}"/>
              </a:ext>
            </a:extLst>
          </p:cNvPr>
          <p:cNvSpPr>
            <a:spLocks noGrp="1"/>
          </p:cNvSpPr>
          <p:nvPr>
            <p:ph type="sldNum" sz="quarter" idx="12"/>
          </p:nvPr>
        </p:nvSpPr>
        <p:spPr/>
        <p:txBody>
          <a:bodyPr/>
          <a:lstStyle/>
          <a:p>
            <a:fld id="{D3FE422B-14AB-4675-9FEF-CF559844F92F}" type="slidenum">
              <a:rPr lang="en-US" smtClean="0"/>
              <a:t>‹#›</a:t>
            </a:fld>
            <a:endParaRPr lang="en-US"/>
          </a:p>
        </p:txBody>
      </p:sp>
    </p:spTree>
    <p:extLst>
      <p:ext uri="{BB962C8B-B14F-4D97-AF65-F5344CB8AC3E}">
        <p14:creationId xmlns:p14="http://schemas.microsoft.com/office/powerpoint/2010/main" val="2562041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41FCA1-9EB0-5ECF-DAE5-E7B08DE1B6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54717C-9EA6-9EBF-838B-8160E78933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84343-40DE-ECB0-192C-5688D2FA8D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2D25AA-EB80-4850-95EF-F61C8C15279B}" type="datetimeFigureOut">
              <a:rPr lang="en-US" smtClean="0"/>
              <a:t>4/7/2026</a:t>
            </a:fld>
            <a:endParaRPr lang="en-US"/>
          </a:p>
        </p:txBody>
      </p:sp>
      <p:sp>
        <p:nvSpPr>
          <p:cNvPr id="5" name="Footer Placeholder 4">
            <a:extLst>
              <a:ext uri="{FF2B5EF4-FFF2-40B4-BE49-F238E27FC236}">
                <a16:creationId xmlns:a16="http://schemas.microsoft.com/office/drawing/2014/main" id="{06D36770-A46C-7873-B29C-195D7955F9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C988F3-76AA-9CB3-8EA0-31B68AB4F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FE422B-14AB-4675-9FEF-CF559844F92F}" type="slidenum">
              <a:rPr lang="en-US" smtClean="0"/>
              <a:t>‹#›</a:t>
            </a:fld>
            <a:endParaRPr lang="en-US"/>
          </a:p>
        </p:txBody>
      </p:sp>
    </p:spTree>
    <p:extLst>
      <p:ext uri="{BB962C8B-B14F-4D97-AF65-F5344CB8AC3E}">
        <p14:creationId xmlns:p14="http://schemas.microsoft.com/office/powerpoint/2010/main" val="3237083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11.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7E96-B33B-8FB2-5D5A-4B75BC8D79AE}"/>
              </a:ext>
            </a:extLst>
          </p:cNvPr>
          <p:cNvSpPr>
            <a:spLocks noGrp="1"/>
          </p:cNvSpPr>
          <p:nvPr>
            <p:ph type="ctrTitle"/>
          </p:nvPr>
        </p:nvSpPr>
        <p:spPr>
          <a:xfrm>
            <a:off x="1524000" y="1517218"/>
            <a:ext cx="9144000" cy="2387600"/>
          </a:xfrm>
        </p:spPr>
        <p:txBody>
          <a:bodyPr>
            <a:normAutofit fontScale="90000"/>
          </a:bodyPr>
          <a:lstStyle/>
          <a:p>
            <a:r>
              <a:rPr lang="en-US" dirty="0"/>
              <a:t>Multi-</a:t>
            </a:r>
            <a:r>
              <a:rPr lang="en-US" dirty="0" err="1"/>
              <a:t>Omic</a:t>
            </a:r>
            <a:r>
              <a:rPr lang="en-US" dirty="0"/>
              <a:t> Clustering in Children with Cystic Fibrosis at the Initiation of a Pulmonary Exacerbation</a:t>
            </a:r>
          </a:p>
        </p:txBody>
      </p:sp>
      <p:sp>
        <p:nvSpPr>
          <p:cNvPr id="3" name="Subtitle 2">
            <a:extLst>
              <a:ext uri="{FF2B5EF4-FFF2-40B4-BE49-F238E27FC236}">
                <a16:creationId xmlns:a16="http://schemas.microsoft.com/office/drawing/2014/main" id="{2B385980-EBF2-C4F0-4F70-8E2F48576F4F}"/>
              </a:ext>
            </a:extLst>
          </p:cNvPr>
          <p:cNvSpPr>
            <a:spLocks noGrp="1"/>
          </p:cNvSpPr>
          <p:nvPr>
            <p:ph type="subTitle" idx="1"/>
          </p:nvPr>
        </p:nvSpPr>
        <p:spPr>
          <a:xfrm>
            <a:off x="1524000" y="3996893"/>
            <a:ext cx="9144000" cy="1655762"/>
          </a:xfrm>
        </p:spPr>
        <p:txBody>
          <a:bodyPr/>
          <a:lstStyle/>
          <a:p>
            <a:r>
              <a:rPr lang="en-US" dirty="0"/>
              <a:t>Ezra Weible</a:t>
            </a:r>
          </a:p>
          <a:p>
            <a:r>
              <a:rPr lang="en-US" dirty="0"/>
              <a:t>7 April 2026</a:t>
            </a:r>
          </a:p>
        </p:txBody>
      </p:sp>
    </p:spTree>
    <p:extLst>
      <p:ext uri="{BB962C8B-B14F-4D97-AF65-F5344CB8AC3E}">
        <p14:creationId xmlns:p14="http://schemas.microsoft.com/office/powerpoint/2010/main" val="875189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1D529-998D-60F8-35A8-F3DFF887F317}"/>
            </a:ext>
          </a:extLst>
        </p:cNvPr>
        <p:cNvGrpSpPr/>
        <p:nvPr/>
      </p:nvGrpSpPr>
      <p:grpSpPr>
        <a:xfrm>
          <a:off x="0" y="0"/>
          <a:ext cx="0" cy="0"/>
          <a:chOff x="0" y="0"/>
          <a:chExt cx="0" cy="0"/>
        </a:xfrm>
      </p:grpSpPr>
      <p:pic>
        <p:nvPicPr>
          <p:cNvPr id="2" name="Picture 2" descr="Functional Consequences of CFTR Interactions in Cystic Fibrosis">
            <a:extLst>
              <a:ext uri="{FF2B5EF4-FFF2-40B4-BE49-F238E27FC236}">
                <a16:creationId xmlns:a16="http://schemas.microsoft.com/office/drawing/2014/main" id="{8430187A-38FE-2A2E-FEE8-F467EBEC8F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6857" y="1690688"/>
            <a:ext cx="7838286" cy="5167312"/>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6A9B69EF-3401-CDF8-2419-A4762D6375B8}"/>
              </a:ext>
            </a:extLst>
          </p:cNvPr>
          <p:cNvSpPr>
            <a:spLocks noGrp="1"/>
          </p:cNvSpPr>
          <p:nvPr>
            <p:ph type="title"/>
          </p:nvPr>
        </p:nvSpPr>
        <p:spPr>
          <a:xfrm>
            <a:off x="838200" y="365125"/>
            <a:ext cx="10515600" cy="1325563"/>
          </a:xfrm>
        </p:spPr>
        <p:txBody>
          <a:bodyPr/>
          <a:lstStyle/>
          <a:p>
            <a:r>
              <a:rPr lang="en-US" dirty="0"/>
              <a:t>Cystic Fibrosis Overview</a:t>
            </a:r>
          </a:p>
        </p:txBody>
      </p:sp>
    </p:spTree>
    <p:extLst>
      <p:ext uri="{BB962C8B-B14F-4D97-AF65-F5344CB8AC3E}">
        <p14:creationId xmlns:p14="http://schemas.microsoft.com/office/powerpoint/2010/main" val="2598015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CEF8B-15F6-46B3-5621-CB1EA23E585A}"/>
            </a:ext>
          </a:extLst>
        </p:cNvPr>
        <p:cNvGrpSpPr/>
        <p:nvPr/>
      </p:nvGrpSpPr>
      <p:grpSpPr>
        <a:xfrm>
          <a:off x="0" y="0"/>
          <a:ext cx="0" cy="0"/>
          <a:chOff x="0" y="0"/>
          <a:chExt cx="0" cy="0"/>
        </a:xfrm>
      </p:grpSpPr>
      <p:pic>
        <p:nvPicPr>
          <p:cNvPr id="1026" name="Picture 2" descr="How Cystic Fibrosis Is Treated">
            <a:extLst>
              <a:ext uri="{FF2B5EF4-FFF2-40B4-BE49-F238E27FC236}">
                <a16:creationId xmlns:a16="http://schemas.microsoft.com/office/drawing/2014/main" id="{C6E12F31-C411-D1C1-F3D1-CDE7A145C3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2" r="-150"/>
          <a:stretch/>
        </p:blipFill>
        <p:spPr bwMode="auto">
          <a:xfrm>
            <a:off x="2209661" y="1690688"/>
            <a:ext cx="7772677" cy="516731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64D89C66-1D0C-1057-3CDF-16249697A8F5}"/>
              </a:ext>
            </a:extLst>
          </p:cNvPr>
          <p:cNvSpPr>
            <a:spLocks noGrp="1"/>
          </p:cNvSpPr>
          <p:nvPr>
            <p:ph type="title"/>
          </p:nvPr>
        </p:nvSpPr>
        <p:spPr>
          <a:xfrm>
            <a:off x="838200" y="365125"/>
            <a:ext cx="10515600" cy="1325563"/>
          </a:xfrm>
        </p:spPr>
        <p:txBody>
          <a:bodyPr/>
          <a:lstStyle/>
          <a:p>
            <a:r>
              <a:rPr lang="en-US" dirty="0"/>
              <a:t>Cystic Fibrosis Overview</a:t>
            </a:r>
          </a:p>
        </p:txBody>
      </p:sp>
    </p:spTree>
    <p:extLst>
      <p:ext uri="{BB962C8B-B14F-4D97-AF65-F5344CB8AC3E}">
        <p14:creationId xmlns:p14="http://schemas.microsoft.com/office/powerpoint/2010/main" val="1221945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460D-0AC3-57EE-B180-759FFDA81A30}"/>
            </a:ext>
          </a:extLst>
        </p:cNvPr>
        <p:cNvGrpSpPr/>
        <p:nvPr/>
      </p:nvGrpSpPr>
      <p:grpSpPr>
        <a:xfrm>
          <a:off x="0" y="0"/>
          <a:ext cx="0" cy="0"/>
          <a:chOff x="0" y="0"/>
          <a:chExt cx="0" cy="0"/>
        </a:xfrm>
      </p:grpSpPr>
      <p:pic>
        <p:nvPicPr>
          <p:cNvPr id="3" name="Picture 4" descr="Cystic Fibrosis Patients Living Much Longer in 2022 Than in 2008">
            <a:extLst>
              <a:ext uri="{FF2B5EF4-FFF2-40B4-BE49-F238E27FC236}">
                <a16:creationId xmlns:a16="http://schemas.microsoft.com/office/drawing/2014/main" id="{BDDFD9A5-AD18-CB50-F558-A9DD9B56B6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0518" y="1690688"/>
            <a:ext cx="7750964" cy="516731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6E9FE005-1EA0-D630-DA36-C2B54E757412}"/>
              </a:ext>
            </a:extLst>
          </p:cNvPr>
          <p:cNvSpPr>
            <a:spLocks noGrp="1"/>
          </p:cNvSpPr>
          <p:nvPr>
            <p:ph type="title"/>
          </p:nvPr>
        </p:nvSpPr>
        <p:spPr>
          <a:xfrm>
            <a:off x="838200" y="365125"/>
            <a:ext cx="10515600" cy="1325563"/>
          </a:xfrm>
        </p:spPr>
        <p:txBody>
          <a:bodyPr/>
          <a:lstStyle/>
          <a:p>
            <a:r>
              <a:rPr lang="en-US" dirty="0"/>
              <a:t>Cystic Fibrosis Overview</a:t>
            </a:r>
          </a:p>
        </p:txBody>
      </p:sp>
    </p:spTree>
    <p:extLst>
      <p:ext uri="{BB962C8B-B14F-4D97-AF65-F5344CB8AC3E}">
        <p14:creationId xmlns:p14="http://schemas.microsoft.com/office/powerpoint/2010/main" val="101860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FD2EB-D08B-4DF7-A2CD-B23B24471B2E}"/>
            </a:ext>
          </a:extLst>
        </p:cNvPr>
        <p:cNvGrpSpPr/>
        <p:nvPr/>
      </p:nvGrpSpPr>
      <p:grpSpPr>
        <a:xfrm>
          <a:off x="0" y="0"/>
          <a:ext cx="0" cy="0"/>
          <a:chOff x="0" y="0"/>
          <a:chExt cx="0" cy="0"/>
        </a:xfrm>
      </p:grpSpPr>
      <p:pic>
        <p:nvPicPr>
          <p:cNvPr id="1030" name="Picture 6" descr="140+ Lung Cancer Research Stock Illustrations, Royalty-Free Vector Graphics  &amp; Clip Art - iStock">
            <a:extLst>
              <a:ext uri="{FF2B5EF4-FFF2-40B4-BE49-F238E27FC236}">
                <a16:creationId xmlns:a16="http://schemas.microsoft.com/office/drawing/2014/main" id="{381E26CF-8FBB-F222-7158-611DDAD3C0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096" b="7339"/>
          <a:stretch/>
        </p:blipFill>
        <p:spPr bwMode="auto">
          <a:xfrm>
            <a:off x="1778358" y="1690690"/>
            <a:ext cx="8635284" cy="5167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acteria PNG transparent image download, size: 1855x2093px">
            <a:extLst>
              <a:ext uri="{FF2B5EF4-FFF2-40B4-BE49-F238E27FC236}">
                <a16:creationId xmlns:a16="http://schemas.microsoft.com/office/drawing/2014/main" id="{0209858C-A02C-9DAB-B6EA-581F94B4B2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2808" y="3820545"/>
            <a:ext cx="561483" cy="63348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acteria - Free vector clipart images on creazilla.com">
            <a:extLst>
              <a:ext uri="{FF2B5EF4-FFF2-40B4-BE49-F238E27FC236}">
                <a16:creationId xmlns:a16="http://schemas.microsoft.com/office/drawing/2014/main" id="{96FF33D7-70D2-1246-1484-B680D618F9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9109" y="3776332"/>
            <a:ext cx="475921" cy="41070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acteria - Free vector clipart images on creazilla.com">
            <a:extLst>
              <a:ext uri="{FF2B5EF4-FFF2-40B4-BE49-F238E27FC236}">
                <a16:creationId xmlns:a16="http://schemas.microsoft.com/office/drawing/2014/main" id="{E49E416F-9730-8C61-D76F-3C3F04CC40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3684" y="5195765"/>
            <a:ext cx="470533" cy="4482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Bacteria PNG transparent image download, size: 1855x2093px">
            <a:extLst>
              <a:ext uri="{FF2B5EF4-FFF2-40B4-BE49-F238E27FC236}">
                <a16:creationId xmlns:a16="http://schemas.microsoft.com/office/drawing/2014/main" id="{1B80DF18-CFD6-CAD5-A58B-7DBE9B798A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8309" t="-1427" r="-3235" b="-838"/>
          <a:stretch/>
        </p:blipFill>
        <p:spPr bwMode="auto">
          <a:xfrm flipH="1">
            <a:off x="7426241" y="4330557"/>
            <a:ext cx="217725" cy="45740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Bacteria - Free vector clipart images on creazilla.com">
            <a:extLst>
              <a:ext uri="{FF2B5EF4-FFF2-40B4-BE49-F238E27FC236}">
                <a16:creationId xmlns:a16="http://schemas.microsoft.com/office/drawing/2014/main" id="{98C6F868-C6F6-96BB-4347-C7D8B815B1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13774" y="5438638"/>
            <a:ext cx="512904" cy="410703"/>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3EE3472C-081F-73FE-CEA7-51E893F27233}"/>
              </a:ext>
            </a:extLst>
          </p:cNvPr>
          <p:cNvSpPr>
            <a:spLocks noGrp="1"/>
          </p:cNvSpPr>
          <p:nvPr>
            <p:ph type="title"/>
          </p:nvPr>
        </p:nvSpPr>
        <p:spPr>
          <a:xfrm>
            <a:off x="838200" y="365125"/>
            <a:ext cx="10515600" cy="1325563"/>
          </a:xfrm>
        </p:spPr>
        <p:txBody>
          <a:bodyPr/>
          <a:lstStyle/>
          <a:p>
            <a:r>
              <a:rPr lang="en-US" dirty="0"/>
              <a:t>Cystic Fibrosis Overview</a:t>
            </a:r>
          </a:p>
        </p:txBody>
      </p:sp>
      <p:pic>
        <p:nvPicPr>
          <p:cNvPr id="6" name="Picture 14" descr="Bacteria - Free vector clipart images on creazilla.com">
            <a:extLst>
              <a:ext uri="{FF2B5EF4-FFF2-40B4-BE49-F238E27FC236}">
                <a16:creationId xmlns:a16="http://schemas.microsoft.com/office/drawing/2014/main" id="{2B72D52B-809A-C4E6-2146-F8581AB0E77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70185" y="4330557"/>
            <a:ext cx="512904" cy="410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59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31D2-494A-C65C-641B-C213BEB3C783}"/>
              </a:ext>
            </a:extLst>
          </p:cNvPr>
          <p:cNvSpPr>
            <a:spLocks noGrp="1"/>
          </p:cNvSpPr>
          <p:nvPr>
            <p:ph type="title"/>
          </p:nvPr>
        </p:nvSpPr>
        <p:spPr>
          <a:xfrm>
            <a:off x="701269" y="365125"/>
            <a:ext cx="10883423" cy="1325563"/>
          </a:xfrm>
        </p:spPr>
        <p:txBody>
          <a:bodyPr/>
          <a:lstStyle/>
          <a:p>
            <a:r>
              <a:rPr lang="en-US" dirty="0"/>
              <a:t>Why Single-View Approaches Fall Short</a:t>
            </a:r>
          </a:p>
        </p:txBody>
      </p:sp>
      <p:sp>
        <p:nvSpPr>
          <p:cNvPr id="3" name="Content Placeholder 2">
            <a:extLst>
              <a:ext uri="{FF2B5EF4-FFF2-40B4-BE49-F238E27FC236}">
                <a16:creationId xmlns:a16="http://schemas.microsoft.com/office/drawing/2014/main" id="{2A8C60A8-B7A3-E1E6-BD3D-1A6BF6006A12}"/>
              </a:ext>
            </a:extLst>
          </p:cNvPr>
          <p:cNvSpPr>
            <a:spLocks noGrp="1"/>
          </p:cNvSpPr>
          <p:nvPr>
            <p:ph idx="1"/>
          </p:nvPr>
        </p:nvSpPr>
        <p:spPr>
          <a:xfrm>
            <a:off x="838200" y="1825625"/>
            <a:ext cx="5899484" cy="4351338"/>
          </a:xfrm>
        </p:spPr>
        <p:txBody>
          <a:bodyPr>
            <a:normAutofit/>
          </a:bodyPr>
          <a:lstStyle/>
          <a:p>
            <a:pPr marL="0" indent="0">
              <a:buNone/>
            </a:pPr>
            <a:endParaRPr lang="en-US" dirty="0">
              <a:solidFill>
                <a:schemeClr val="bg1"/>
              </a:solidFill>
            </a:endParaRPr>
          </a:p>
          <a:p>
            <a:pPr marL="0" indent="0">
              <a:buNone/>
            </a:pPr>
            <a:br>
              <a:rPr lang="en-US" dirty="0">
                <a:solidFill>
                  <a:schemeClr val="bg1"/>
                </a:solidFill>
              </a:rPr>
            </a:br>
            <a:br>
              <a:rPr lang="en-US" dirty="0">
                <a:solidFill>
                  <a:schemeClr val="bg1"/>
                </a:solidFill>
              </a:rPr>
            </a:br>
            <a:endParaRPr lang="en-US" dirty="0">
              <a:solidFill>
                <a:schemeClr val="bg1"/>
              </a:solidFill>
            </a:endParaRPr>
          </a:p>
          <a:p>
            <a:r>
              <a:rPr lang="en-US" dirty="0"/>
              <a:t>By integrating the lung microbiome (bacterial infections) with blood proteomics (host’s response), we may identify meaningful subgroups to aid in clinical decision making</a:t>
            </a:r>
          </a:p>
        </p:txBody>
      </p:sp>
      <p:pic>
        <p:nvPicPr>
          <p:cNvPr id="1026" name="Picture 2" descr="The Six Blind Men and the Elephant: Differing Perspectives on Grades | the  music room">
            <a:extLst>
              <a:ext uri="{FF2B5EF4-FFF2-40B4-BE49-F238E27FC236}">
                <a16:creationId xmlns:a16="http://schemas.microsoft.com/office/drawing/2014/main" id="{85D6B59B-D8BC-035B-7794-7CCC56263D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4597" y="3293215"/>
            <a:ext cx="5577403" cy="356478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57495DBD-827A-8358-14ED-24B2B6E83542}"/>
              </a:ext>
            </a:extLst>
          </p:cNvPr>
          <p:cNvSpPr txBox="1">
            <a:spLocks/>
          </p:cNvSpPr>
          <p:nvPr/>
        </p:nvSpPr>
        <p:spPr>
          <a:xfrm>
            <a:off x="838200" y="1825625"/>
            <a:ext cx="10515600" cy="183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Individuals can show very different host responses to similar bacterial infections</a:t>
            </a:r>
          </a:p>
          <a:p>
            <a:r>
              <a:rPr lang="en-US" dirty="0"/>
              <a:t>No single measurement or omics approach captures the full picture</a:t>
            </a:r>
          </a:p>
        </p:txBody>
      </p:sp>
    </p:spTree>
    <p:extLst>
      <p:ext uri="{BB962C8B-B14F-4D97-AF65-F5344CB8AC3E}">
        <p14:creationId xmlns:p14="http://schemas.microsoft.com/office/powerpoint/2010/main" val="559391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3DCD5-B3AA-EDB9-938E-4CA4CDD46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8A850-1A8F-27CD-69A0-E96A61097C3F}"/>
              </a:ext>
            </a:extLst>
          </p:cNvPr>
          <p:cNvSpPr>
            <a:spLocks noGrp="1"/>
          </p:cNvSpPr>
          <p:nvPr>
            <p:ph type="title"/>
          </p:nvPr>
        </p:nvSpPr>
        <p:spPr/>
        <p:txBody>
          <a:bodyPr/>
          <a:lstStyle/>
          <a:p>
            <a:r>
              <a:rPr lang="en-US" dirty="0"/>
              <a:t>Dataset Overview	</a:t>
            </a:r>
          </a:p>
        </p:txBody>
      </p:sp>
      <p:sp>
        <p:nvSpPr>
          <p:cNvPr id="3" name="Content Placeholder 2">
            <a:extLst>
              <a:ext uri="{FF2B5EF4-FFF2-40B4-BE49-F238E27FC236}">
                <a16:creationId xmlns:a16="http://schemas.microsoft.com/office/drawing/2014/main" id="{E0110130-965B-03BC-6D67-6E0133BF2D8F}"/>
              </a:ext>
            </a:extLst>
          </p:cNvPr>
          <p:cNvSpPr>
            <a:spLocks noGrp="1"/>
          </p:cNvSpPr>
          <p:nvPr>
            <p:ph idx="1"/>
          </p:nvPr>
        </p:nvSpPr>
        <p:spPr>
          <a:xfrm>
            <a:off x="308343" y="1706991"/>
            <a:ext cx="3698577" cy="4785884"/>
          </a:xfrm>
        </p:spPr>
        <p:txBody>
          <a:bodyPr>
            <a:normAutofit/>
          </a:bodyPr>
          <a:lstStyle/>
          <a:p>
            <a:r>
              <a:rPr lang="en-US" dirty="0"/>
              <a:t>31 subjects (ages 10–22) hospitalized at a single site for CF pulmonary exacerbation (</a:t>
            </a:r>
            <a:r>
              <a:rPr lang="en-US" dirty="0" err="1"/>
              <a:t>PEx</a:t>
            </a:r>
            <a:r>
              <a:rPr lang="en-US" dirty="0"/>
              <a:t>)</a:t>
            </a:r>
          </a:p>
          <a:p>
            <a:r>
              <a:rPr lang="en-US" dirty="0"/>
              <a:t>Analysis on samples collected at admission with relevant clinical data</a:t>
            </a:r>
          </a:p>
        </p:txBody>
      </p:sp>
      <p:graphicFrame>
        <p:nvGraphicFramePr>
          <p:cNvPr id="4" name="Table 3">
            <a:extLst>
              <a:ext uri="{FF2B5EF4-FFF2-40B4-BE49-F238E27FC236}">
                <a16:creationId xmlns:a16="http://schemas.microsoft.com/office/drawing/2014/main" id="{B27311D2-E788-B4FA-1F22-B5658FE9CA95}"/>
              </a:ext>
            </a:extLst>
          </p:cNvPr>
          <p:cNvGraphicFramePr>
            <a:graphicFrameLocks noGrp="1"/>
          </p:cNvGraphicFramePr>
          <p:nvPr>
            <p:extLst>
              <p:ext uri="{D42A27DB-BD31-4B8C-83A1-F6EECF244321}">
                <p14:modId xmlns:p14="http://schemas.microsoft.com/office/powerpoint/2010/main" val="4054253699"/>
              </p:ext>
            </p:extLst>
          </p:nvPr>
        </p:nvGraphicFramePr>
        <p:xfrm>
          <a:off x="4217044" y="1259840"/>
          <a:ext cx="7974956" cy="5598160"/>
        </p:xfrm>
        <a:graphic>
          <a:graphicData uri="http://schemas.openxmlformats.org/drawingml/2006/table">
            <a:tbl>
              <a:tblPr firstRow="1" bandRow="1">
                <a:tableStyleId>{5C22544A-7EE6-4342-B048-85BDC9FD1C3A}</a:tableStyleId>
              </a:tblPr>
              <a:tblGrid>
                <a:gridCol w="5945528">
                  <a:extLst>
                    <a:ext uri="{9D8B030D-6E8A-4147-A177-3AD203B41FA5}">
                      <a16:colId xmlns:a16="http://schemas.microsoft.com/office/drawing/2014/main" val="1013668119"/>
                    </a:ext>
                  </a:extLst>
                </a:gridCol>
                <a:gridCol w="2029428">
                  <a:extLst>
                    <a:ext uri="{9D8B030D-6E8A-4147-A177-3AD203B41FA5}">
                      <a16:colId xmlns:a16="http://schemas.microsoft.com/office/drawing/2014/main" val="4250806876"/>
                    </a:ext>
                  </a:extLst>
                </a:gridCol>
              </a:tblGrid>
              <a:tr h="370840">
                <a:tc>
                  <a:txBody>
                    <a:bodyPr/>
                    <a:lstStyle/>
                    <a:p>
                      <a:endParaRPr lang="en-US" dirty="0"/>
                    </a:p>
                  </a:txBody>
                  <a:tcPr>
                    <a:solidFill>
                      <a:schemeClr val="bg1"/>
                    </a:solidFill>
                  </a:tcPr>
                </a:tc>
                <a:tc>
                  <a:txBody>
                    <a:bodyPr/>
                    <a:lstStyle/>
                    <a:p>
                      <a:pPr algn="ctr"/>
                      <a:r>
                        <a:rPr lang="en-US" dirty="0"/>
                        <a:t>Overall </a:t>
                      </a:r>
                      <a:br>
                        <a:rPr lang="en-US" dirty="0"/>
                      </a:br>
                      <a:r>
                        <a:rPr lang="en-US" dirty="0"/>
                        <a:t>(N = 31)</a:t>
                      </a:r>
                    </a:p>
                  </a:txBody>
                  <a:tcPr/>
                </a:tc>
                <a:extLst>
                  <a:ext uri="{0D108BD9-81ED-4DB2-BD59-A6C34878D82A}">
                    <a16:rowId xmlns:a16="http://schemas.microsoft.com/office/drawing/2014/main" val="713555157"/>
                  </a:ext>
                </a:extLst>
              </a:tr>
              <a:tr h="370840">
                <a:tc>
                  <a:txBody>
                    <a:bodyPr/>
                    <a:lstStyle/>
                    <a:p>
                      <a:r>
                        <a:rPr lang="en-US" dirty="0"/>
                        <a:t>Gender</a:t>
                      </a:r>
                      <a:br>
                        <a:rPr lang="en-US" dirty="0"/>
                      </a:br>
                      <a:r>
                        <a:rPr lang="en-US" dirty="0"/>
                        <a:t>        Female</a:t>
                      </a:r>
                      <a:br>
                        <a:rPr lang="en-US" dirty="0"/>
                      </a:br>
                      <a:r>
                        <a:rPr lang="en-US" dirty="0"/>
                        <a:t>        Male</a:t>
                      </a:r>
                    </a:p>
                  </a:txBody>
                  <a:tcPr/>
                </a:tc>
                <a:tc>
                  <a:txBody>
                    <a:bodyPr/>
                    <a:lstStyle/>
                    <a:p>
                      <a:pPr algn="ctr"/>
                      <a:br>
                        <a:rPr lang="en-US" dirty="0"/>
                      </a:br>
                      <a:r>
                        <a:rPr lang="en-US" dirty="0"/>
                        <a:t>16 (51.6%)</a:t>
                      </a:r>
                      <a:br>
                        <a:rPr lang="en-US" dirty="0"/>
                      </a:br>
                      <a:r>
                        <a:rPr lang="en-US" dirty="0"/>
                        <a:t>15 (48.4%)</a:t>
                      </a:r>
                    </a:p>
                  </a:txBody>
                  <a:tcPr/>
                </a:tc>
                <a:extLst>
                  <a:ext uri="{0D108BD9-81ED-4DB2-BD59-A6C34878D82A}">
                    <a16:rowId xmlns:a16="http://schemas.microsoft.com/office/drawing/2014/main" val="2209587526"/>
                  </a:ext>
                </a:extLst>
              </a:tr>
              <a:tr h="370840">
                <a:tc>
                  <a:txBody>
                    <a:bodyPr/>
                    <a:lstStyle/>
                    <a:p>
                      <a:r>
                        <a:rPr lang="en-US" dirty="0"/>
                        <a:t>Age (years)</a:t>
                      </a:r>
                    </a:p>
                  </a:txBody>
                  <a:tcPr/>
                </a:tc>
                <a:tc>
                  <a:txBody>
                    <a:bodyPr/>
                    <a:lstStyle/>
                    <a:p>
                      <a:pPr algn="ctr"/>
                      <a:r>
                        <a:rPr lang="en-US" dirty="0"/>
                        <a:t>15.8 [10.5, 22.0]</a:t>
                      </a:r>
                    </a:p>
                  </a:txBody>
                  <a:tcPr/>
                </a:tc>
                <a:extLst>
                  <a:ext uri="{0D108BD9-81ED-4DB2-BD59-A6C34878D82A}">
                    <a16:rowId xmlns:a16="http://schemas.microsoft.com/office/drawing/2014/main" val="755380570"/>
                  </a:ext>
                </a:extLst>
              </a:tr>
              <a:tr h="370840">
                <a:tc>
                  <a:txBody>
                    <a:bodyPr/>
                    <a:lstStyle/>
                    <a:p>
                      <a:r>
                        <a:rPr lang="en-US" dirty="0"/>
                        <a:t>Number of F508del Alleles</a:t>
                      </a:r>
                    </a:p>
                  </a:txBody>
                  <a:tcPr/>
                </a:tc>
                <a:tc>
                  <a:txBody>
                    <a:bodyPr/>
                    <a:lstStyle/>
                    <a:p>
                      <a:pPr algn="ctr"/>
                      <a:r>
                        <a:rPr lang="en-US" dirty="0"/>
                        <a:t>2.00 [0, 2.00]</a:t>
                      </a:r>
                    </a:p>
                  </a:txBody>
                  <a:tcPr/>
                </a:tc>
                <a:extLst>
                  <a:ext uri="{0D108BD9-81ED-4DB2-BD59-A6C34878D82A}">
                    <a16:rowId xmlns:a16="http://schemas.microsoft.com/office/drawing/2014/main" val="2176327886"/>
                  </a:ext>
                </a:extLst>
              </a:tr>
              <a:tr h="370840">
                <a:tc>
                  <a:txBody>
                    <a:bodyPr/>
                    <a:lstStyle/>
                    <a:p>
                      <a:r>
                        <a:rPr lang="en-US" dirty="0"/>
                        <a:t>Height (cm)</a:t>
                      </a:r>
                    </a:p>
                  </a:txBody>
                  <a:tcPr/>
                </a:tc>
                <a:tc>
                  <a:txBody>
                    <a:bodyPr/>
                    <a:lstStyle/>
                    <a:p>
                      <a:pPr algn="ctr"/>
                      <a:r>
                        <a:rPr lang="en-US" dirty="0"/>
                        <a:t>162 [145, 174]</a:t>
                      </a:r>
                    </a:p>
                  </a:txBody>
                  <a:tcPr/>
                </a:tc>
                <a:extLst>
                  <a:ext uri="{0D108BD9-81ED-4DB2-BD59-A6C34878D82A}">
                    <a16:rowId xmlns:a16="http://schemas.microsoft.com/office/drawing/2014/main" val="866217403"/>
                  </a:ext>
                </a:extLst>
              </a:tr>
              <a:tr h="370840">
                <a:tc>
                  <a:txBody>
                    <a:bodyPr/>
                    <a:lstStyle/>
                    <a:p>
                      <a:r>
                        <a:rPr lang="en-US" dirty="0"/>
                        <a:t>Pulmonary Exacerbations in the Past Year</a:t>
                      </a:r>
                      <a:br>
                        <a:rPr lang="en-US" dirty="0"/>
                      </a:br>
                      <a:r>
                        <a:rPr lang="en-US" dirty="0"/>
                        <a:t>        Missing</a:t>
                      </a:r>
                    </a:p>
                  </a:txBody>
                  <a:tcPr/>
                </a:tc>
                <a:tc>
                  <a:txBody>
                    <a:bodyPr/>
                    <a:lstStyle/>
                    <a:p>
                      <a:pPr algn="ctr"/>
                      <a:r>
                        <a:rPr lang="en-US" dirty="0"/>
                        <a:t>1.00 [0, 4.00]</a:t>
                      </a:r>
                      <a:br>
                        <a:rPr lang="en-US" dirty="0"/>
                      </a:br>
                      <a:r>
                        <a:rPr lang="en-US" dirty="0"/>
                        <a:t>2 (6.5%)</a:t>
                      </a:r>
                    </a:p>
                  </a:txBody>
                  <a:tcPr/>
                </a:tc>
                <a:extLst>
                  <a:ext uri="{0D108BD9-81ED-4DB2-BD59-A6C34878D82A}">
                    <a16:rowId xmlns:a16="http://schemas.microsoft.com/office/drawing/2014/main" val="2202061448"/>
                  </a:ext>
                </a:extLst>
              </a:tr>
              <a:tr h="370840">
                <a:tc>
                  <a:txBody>
                    <a:bodyPr/>
                    <a:lstStyle/>
                    <a:p>
                      <a:r>
                        <a:rPr lang="en-US" dirty="0"/>
                        <a:t>Hospitalizations in the Past Year</a:t>
                      </a:r>
                      <a:br>
                        <a:rPr lang="en-US" dirty="0"/>
                      </a:br>
                      <a:r>
                        <a:rPr lang="en-US" dirty="0"/>
                        <a:t>        Missing</a:t>
                      </a:r>
                    </a:p>
                  </a:txBody>
                  <a:tcPr/>
                </a:tc>
                <a:tc>
                  <a:txBody>
                    <a:bodyPr/>
                    <a:lstStyle/>
                    <a:p>
                      <a:pPr algn="ctr"/>
                      <a:r>
                        <a:rPr lang="en-US" dirty="0"/>
                        <a:t>1.00 [0, 4.00]</a:t>
                      </a:r>
                      <a:br>
                        <a:rPr lang="en-US" dirty="0"/>
                      </a:br>
                      <a:r>
                        <a:rPr lang="en-US" dirty="0"/>
                        <a:t>1 (3.2%)</a:t>
                      </a:r>
                    </a:p>
                  </a:txBody>
                  <a:tcPr/>
                </a:tc>
                <a:extLst>
                  <a:ext uri="{0D108BD9-81ED-4DB2-BD59-A6C34878D82A}">
                    <a16:rowId xmlns:a16="http://schemas.microsoft.com/office/drawing/2014/main" val="1361638857"/>
                  </a:ext>
                </a:extLst>
              </a:tr>
              <a:tr h="370840">
                <a:tc>
                  <a:txBody>
                    <a:bodyPr/>
                    <a:lstStyle/>
                    <a:p>
                      <a:r>
                        <a:rPr lang="en-US" dirty="0"/>
                        <a:t>Forced Expiratory Volume in 1 Second (FEV1) % Predicted</a:t>
                      </a:r>
                      <a:br>
                        <a:rPr lang="en-US" dirty="0"/>
                      </a:br>
                      <a:r>
                        <a:rPr lang="en-US" dirty="0"/>
                        <a:t>        Missing</a:t>
                      </a:r>
                    </a:p>
                  </a:txBody>
                  <a:tcPr/>
                </a:tc>
                <a:tc>
                  <a:txBody>
                    <a:bodyPr/>
                    <a:lstStyle/>
                    <a:p>
                      <a:pPr algn="ctr"/>
                      <a:r>
                        <a:rPr lang="en-US" dirty="0"/>
                        <a:t>80.5 [30.0, 119]</a:t>
                      </a:r>
                      <a:br>
                        <a:rPr lang="en-US" dirty="0"/>
                      </a:br>
                      <a:r>
                        <a:rPr lang="en-US" dirty="0"/>
                        <a:t>1 (3.2%)</a:t>
                      </a:r>
                    </a:p>
                  </a:txBody>
                  <a:tcPr/>
                </a:tc>
                <a:extLst>
                  <a:ext uri="{0D108BD9-81ED-4DB2-BD59-A6C34878D82A}">
                    <a16:rowId xmlns:a16="http://schemas.microsoft.com/office/drawing/2014/main" val="1731015823"/>
                  </a:ext>
                </a:extLst>
              </a:tr>
              <a:tr h="370840">
                <a:tc>
                  <a:txBody>
                    <a:bodyPr/>
                    <a:lstStyle/>
                    <a:p>
                      <a:r>
                        <a:rPr lang="en-US" dirty="0"/>
                        <a:t>Forced Vital Capacity (FVC) % Predicted</a:t>
                      </a:r>
                      <a:br>
                        <a:rPr lang="en-US" dirty="0"/>
                      </a:br>
                      <a:r>
                        <a:rPr lang="en-US" dirty="0"/>
                        <a:t>        Missing</a:t>
                      </a:r>
                    </a:p>
                  </a:txBody>
                  <a:tcPr/>
                </a:tc>
                <a:tc>
                  <a:txBody>
                    <a:bodyPr/>
                    <a:lstStyle/>
                    <a:p>
                      <a:pPr algn="ctr"/>
                      <a:r>
                        <a:rPr lang="en-US" dirty="0"/>
                        <a:t>92.0 [42.0, 123]</a:t>
                      </a:r>
                      <a:br>
                        <a:rPr lang="en-US" dirty="0"/>
                      </a:br>
                      <a:r>
                        <a:rPr lang="en-US" dirty="0"/>
                        <a:t>1 (3.2%)</a:t>
                      </a:r>
                    </a:p>
                  </a:txBody>
                  <a:tcPr/>
                </a:tc>
                <a:extLst>
                  <a:ext uri="{0D108BD9-81ED-4DB2-BD59-A6C34878D82A}">
                    <a16:rowId xmlns:a16="http://schemas.microsoft.com/office/drawing/2014/main" val="2829364168"/>
                  </a:ext>
                </a:extLst>
              </a:tr>
              <a:tr h="370840">
                <a:tc>
                  <a:txBody>
                    <a:bodyPr/>
                    <a:lstStyle/>
                    <a:p>
                      <a:r>
                        <a:rPr lang="en-US" dirty="0"/>
                        <a:t>Pulmonary Exacerbation Score (PES) Total</a:t>
                      </a:r>
                    </a:p>
                  </a:txBody>
                  <a:tcPr/>
                </a:tc>
                <a:tc>
                  <a:txBody>
                    <a:bodyPr/>
                    <a:lstStyle/>
                    <a:p>
                      <a:pPr algn="ctr"/>
                      <a:r>
                        <a:rPr lang="en-US" dirty="0"/>
                        <a:t>12.0 [2.00, 16.0]</a:t>
                      </a:r>
                    </a:p>
                  </a:txBody>
                  <a:tcPr/>
                </a:tc>
                <a:extLst>
                  <a:ext uri="{0D108BD9-81ED-4DB2-BD59-A6C34878D82A}">
                    <a16:rowId xmlns:a16="http://schemas.microsoft.com/office/drawing/2014/main" val="420615398"/>
                  </a:ext>
                </a:extLst>
              </a:tr>
            </a:tbl>
          </a:graphicData>
        </a:graphic>
      </p:graphicFrame>
    </p:spTree>
    <p:extLst>
      <p:ext uri="{BB962C8B-B14F-4D97-AF65-F5344CB8AC3E}">
        <p14:creationId xmlns:p14="http://schemas.microsoft.com/office/powerpoint/2010/main" val="4136820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73CFA-358E-1E02-C6D7-81F317D50B6E}"/>
              </a:ext>
            </a:extLst>
          </p:cNvPr>
          <p:cNvSpPr>
            <a:spLocks noGrp="1"/>
          </p:cNvSpPr>
          <p:nvPr>
            <p:ph type="title"/>
          </p:nvPr>
        </p:nvSpPr>
        <p:spPr/>
        <p:txBody>
          <a:bodyPr/>
          <a:lstStyle/>
          <a:p>
            <a:r>
              <a:rPr lang="en-US" dirty="0"/>
              <a:t>Microbiome and Proteome Overview</a:t>
            </a:r>
          </a:p>
        </p:txBody>
      </p:sp>
      <p:sp>
        <p:nvSpPr>
          <p:cNvPr id="3" name="Content Placeholder 2">
            <a:extLst>
              <a:ext uri="{FF2B5EF4-FFF2-40B4-BE49-F238E27FC236}">
                <a16:creationId xmlns:a16="http://schemas.microsoft.com/office/drawing/2014/main" id="{F14A6AE9-CF3B-A0E6-184E-7E3598F6BB0C}"/>
              </a:ext>
            </a:extLst>
          </p:cNvPr>
          <p:cNvSpPr>
            <a:spLocks noGrp="1"/>
          </p:cNvSpPr>
          <p:nvPr>
            <p:ph idx="1"/>
          </p:nvPr>
        </p:nvSpPr>
        <p:spPr>
          <a:xfrm>
            <a:off x="838200" y="1825625"/>
            <a:ext cx="8356600" cy="5032376"/>
          </a:xfrm>
        </p:spPr>
        <p:txBody>
          <a:bodyPr>
            <a:normAutofit/>
          </a:bodyPr>
          <a:lstStyle/>
          <a:p>
            <a:r>
              <a:rPr lang="en-US" dirty="0"/>
              <a:t>Microbiome – sputum (16s rRNA sequencing)</a:t>
            </a:r>
          </a:p>
          <a:p>
            <a:pPr lvl="1"/>
            <a:r>
              <a:rPr lang="en-US" dirty="0"/>
              <a:t>Identifies which bacteria are present in the lungs</a:t>
            </a:r>
          </a:p>
          <a:p>
            <a:pPr lvl="1"/>
            <a:r>
              <a:rPr lang="en-US" dirty="0"/>
              <a:t>Applied centered log-ratio (CLR) transformation</a:t>
            </a:r>
          </a:p>
          <a:p>
            <a:pPr lvl="1"/>
            <a:r>
              <a:rPr lang="en-US" dirty="0"/>
              <a:t>Filtered based on relative abundance and presence in subjects</a:t>
            </a:r>
          </a:p>
          <a:p>
            <a:pPr lvl="1"/>
            <a:r>
              <a:rPr lang="en-US" dirty="0"/>
              <a:t>73 bacterial taxa retained after filtering</a:t>
            </a:r>
          </a:p>
          <a:p>
            <a:r>
              <a:rPr lang="en-US" dirty="0"/>
              <a:t>Proteome – blood (</a:t>
            </a:r>
            <a:r>
              <a:rPr lang="en-US" dirty="0" err="1"/>
              <a:t>SomaScan</a:t>
            </a:r>
            <a:r>
              <a:rPr lang="en-US" dirty="0"/>
              <a:t>)</a:t>
            </a:r>
          </a:p>
          <a:p>
            <a:pPr lvl="1"/>
            <a:r>
              <a:rPr lang="en-US" dirty="0"/>
              <a:t>Reflects the host’s response, particularly by looking at proteins related to the inflammatory and immune system</a:t>
            </a:r>
          </a:p>
          <a:p>
            <a:pPr lvl="1"/>
            <a:r>
              <a:rPr lang="en-US" dirty="0"/>
              <a:t>Analyzed as relative fluorescent unit (RFU; log2 transformed)</a:t>
            </a:r>
          </a:p>
          <a:p>
            <a:pPr lvl="1"/>
            <a:r>
              <a:rPr lang="en-US" dirty="0"/>
              <a:t>3,895 proteins</a:t>
            </a:r>
          </a:p>
        </p:txBody>
      </p:sp>
      <p:pic>
        <p:nvPicPr>
          <p:cNvPr id="2050" name="Picture 2" descr="Lung microbiome of critically ill patients is predictive of clinical  outcomes">
            <a:extLst>
              <a:ext uri="{FF2B5EF4-FFF2-40B4-BE49-F238E27FC236}">
                <a16:creationId xmlns:a16="http://schemas.microsoft.com/office/drawing/2014/main" id="{D50E71D0-A2B8-D3D5-941C-05DEF54050B3}"/>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46" b="98745" l="2034" r="94746">
                        <a14:foregroundMark x1="6441" y1="79079" x2="9153" y2="76360"/>
                        <a14:foregroundMark x1="7627" y1="82218" x2="2034" y2="80544"/>
                        <a14:foregroundMark x1="6780" y1="84519" x2="4746" y2="86611"/>
                        <a14:foregroundMark x1="26271" y1="73222" x2="23898" y2="98117"/>
                        <a14:foregroundMark x1="23898" y1="98117" x2="23559" y2="98745"/>
                        <a14:foregroundMark x1="42034" y1="63598" x2="46949" y2="54812"/>
                        <a14:foregroundMark x1="42034" y1="57950" x2="48475" y2="44142"/>
                        <a14:foregroundMark x1="41695" y1="60042" x2="50169" y2="43305"/>
                        <a14:foregroundMark x1="50169" y1="43305" x2="40000" y2="48745"/>
                        <a14:foregroundMark x1="44915" y1="44142" x2="39831" y2="40586"/>
                        <a14:foregroundMark x1="50678" y1="24686" x2="46441" y2="26151"/>
                        <a14:foregroundMark x1="59492" y1="22803" x2="68644" y2="36611"/>
                        <a14:foregroundMark x1="68644" y1="36611" x2="67966" y2="32636"/>
                        <a14:foregroundMark x1="33138" y1="51511" x2="31356" y2="56695"/>
                        <a14:foregroundMark x1="36102" y1="42887" x2="35161" y2="45626"/>
                        <a14:foregroundMark x1="53220" y1="29916" x2="59661" y2="13389"/>
                        <a14:foregroundMark x1="59661" y1="13389" x2="64407" y2="29289"/>
                        <a14:foregroundMark x1="64407" y1="29289" x2="68644" y2="34100"/>
                        <a14:foregroundMark x1="64576" y1="33054" x2="67966" y2="48745"/>
                        <a14:foregroundMark x1="67288" y1="22803" x2="73220" y2="45188"/>
                        <a14:foregroundMark x1="73220" y1="45188" x2="63559" y2="27406"/>
                        <a14:foregroundMark x1="63559" y1="27406" x2="77458" y2="38912"/>
                        <a14:foregroundMark x1="77458" y1="38912" x2="62373" y2="48117"/>
                        <a14:foregroundMark x1="62373" y1="48117" x2="58814" y2="31799"/>
                        <a14:foregroundMark x1="58814" y1="31799" x2="69661" y2="19665"/>
                        <a14:foregroundMark x1="76949" y1="46234" x2="75763" y2="43096"/>
                        <a14:foregroundMark x1="65763" y1="47908" x2="71864" y2="49582"/>
                        <a14:foregroundMark x1="53390" y1="32845" x2="40678" y2="31172"/>
                        <a14:foregroundMark x1="50678" y1="21757" x2="44576" y2="29079"/>
                        <a14:foregroundMark x1="52203" y1="19456" x2="48983" y2="16946"/>
                        <a14:foregroundMark x1="56780" y1="16736" x2="55932" y2="5858"/>
                        <a14:foregroundMark x1="56780" y1="1464" x2="56780" y2="1464"/>
                        <a14:foregroundMark x1="53898" y1="4184" x2="33051" y2="30335"/>
                        <a14:foregroundMark x1="63898" y1="6904" x2="81864" y2="38912"/>
                        <a14:foregroundMark x1="81864" y1="38912" x2="83390" y2="50209"/>
                        <a14:foregroundMark x1="84407" y1="59833" x2="87288" y2="80544"/>
                        <a14:foregroundMark x1="89153" y1="82636" x2="91695" y2="87448"/>
                        <a14:foregroundMark x1="94068" y1="87029" x2="94746" y2="88912"/>
                        <a14:foregroundMark x1="74576" y1="51674" x2="74576" y2="51255"/>
                        <a14:foregroundMark x1="43051" y1="39958" x2="46610" y2="43724"/>
                        <a14:foregroundMark x1="46780" y1="55439" x2="50000" y2="47699"/>
                        <a14:backgroundMark x1="34407" y1="59623" x2="34407" y2="59623"/>
                        <a14:backgroundMark x1="35424" y1="47908" x2="35424" y2="47908"/>
                        <a14:backgroundMark x1="35085" y1="47908" x2="34746" y2="46025"/>
                        <a14:backgroundMark x1="35254" y1="45607" x2="37627" y2="62971"/>
                        <a14:backgroundMark x1="37627" y1="62971" x2="34746" y2="47699"/>
                        <a14:backgroundMark x1="1525" y1="85565" x2="2542" y2="87238"/>
                      </a14:backgroundRemoval>
                    </a14:imgEffect>
                  </a14:imgLayer>
                </a14:imgProps>
              </a:ext>
              <a:ext uri="{28A0092B-C50C-407E-A947-70E740481C1C}">
                <a14:useLocalDpi xmlns:a14="http://schemas.microsoft.com/office/drawing/2010/main" val="0"/>
              </a:ext>
            </a:extLst>
          </a:blip>
          <a:srcRect b="12114"/>
          <a:stretch>
            <a:fillRect/>
          </a:stretch>
        </p:blipFill>
        <p:spPr bwMode="auto">
          <a:xfrm>
            <a:off x="9090823" y="1825625"/>
            <a:ext cx="2197407" cy="1564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Routine Blood Work: Test Types, Importance, Results">
            <a:extLst>
              <a:ext uri="{FF2B5EF4-FFF2-40B4-BE49-F238E27FC236}">
                <a16:creationId xmlns:a16="http://schemas.microsoft.com/office/drawing/2014/main" id="{125A97CC-B521-F49B-911A-8C0157756CEA}"/>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5500" b="91700" l="2267" r="95267">
                        <a14:foregroundMark x1="59600" y1="13100" x2="59600" y2="13100"/>
                        <a14:foregroundMark x1="58400" y1="7000" x2="58000" y2="5500"/>
                        <a14:foregroundMark x1="83867" y1="41900" x2="92067" y2="67100"/>
                        <a14:foregroundMark x1="92067" y1="67100" x2="82667" y2="51700"/>
                        <a14:foregroundMark x1="89800" y1="72200" x2="95267" y2="75200"/>
                        <a14:foregroundMark x1="34333" y1="73400" x2="34933" y2="71500"/>
                        <a14:foregroundMark x1="24733" y1="69100" x2="22067" y2="69700"/>
                        <a14:foregroundMark x1="13933" y1="71200" x2="2267" y2="88400"/>
                        <a14:foregroundMark x1="2267" y1="88400" x2="2267" y2="88400"/>
                        <a14:foregroundMark x1="13133" y1="80400" x2="44533" y2="77700"/>
                        <a14:foregroundMark x1="44533" y1="77700" x2="45333" y2="77100"/>
                        <a14:foregroundMark x1="40000" y1="75200" x2="37600" y2="81300"/>
                        <a14:foregroundMark x1="36933" y1="72500" x2="52933" y2="82400"/>
                        <a14:foregroundMark x1="52933" y1="82400" x2="49800" y2="74600"/>
                        <a14:foregroundMark x1="3533" y1="87800" x2="3933" y2="91700"/>
                      </a14:backgroundRemoval>
                    </a14:imgEffect>
                  </a14:imgLayer>
                </a14:imgProps>
              </a:ext>
              <a:ext uri="{28A0092B-C50C-407E-A947-70E740481C1C}">
                <a14:useLocalDpi xmlns:a14="http://schemas.microsoft.com/office/drawing/2010/main" val="0"/>
              </a:ext>
            </a:extLst>
          </a:blip>
          <a:srcRect/>
          <a:stretch>
            <a:fillRect/>
          </a:stretch>
        </p:blipFill>
        <p:spPr bwMode="auto">
          <a:xfrm>
            <a:off x="9090823" y="4411036"/>
            <a:ext cx="2425700" cy="1617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921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70158-9708-27ED-4DE7-9DC4CD33B94D}"/>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72BF229D-4DF7-F8D0-B34B-83C1AF2ABE70}"/>
              </a:ext>
            </a:extLst>
          </p:cNvPr>
          <p:cNvSpPr>
            <a:spLocks noGrp="1"/>
          </p:cNvSpPr>
          <p:nvPr>
            <p:ph idx="1"/>
          </p:nvPr>
        </p:nvSpPr>
        <p:spPr/>
        <p:txBody>
          <a:bodyPr>
            <a:normAutofit/>
          </a:bodyPr>
          <a:lstStyle/>
          <a:p>
            <a:r>
              <a:rPr lang="en-US" dirty="0"/>
              <a:t>Can we identify subgroups of patients who share similar microbiome-proteome patterns during CF </a:t>
            </a:r>
            <a:r>
              <a:rPr lang="en-US" dirty="0" err="1"/>
              <a:t>PEx</a:t>
            </a:r>
            <a:r>
              <a:rPr lang="en-US" dirty="0"/>
              <a:t>?</a:t>
            </a:r>
          </a:p>
          <a:p>
            <a:pPr lvl="1"/>
            <a:r>
              <a:rPr lang="en-US" dirty="0"/>
              <a:t>Is a multi-omics approach providing additional information than either individually?</a:t>
            </a:r>
          </a:p>
          <a:p>
            <a:pPr lvl="1"/>
            <a:r>
              <a:rPr lang="en-US" dirty="0"/>
              <a:t>What makes these subgroups distinct on a bacterial-protein level?</a:t>
            </a:r>
          </a:p>
          <a:p>
            <a:pPr lvl="1"/>
            <a:r>
              <a:rPr lang="en-US" dirty="0"/>
              <a:t>Is there any clinical relevance to these subgroups?</a:t>
            </a:r>
          </a:p>
          <a:p>
            <a:pPr lvl="1"/>
            <a:endParaRPr lang="en-US" dirty="0"/>
          </a:p>
        </p:txBody>
      </p:sp>
    </p:spTree>
    <p:extLst>
      <p:ext uri="{BB962C8B-B14F-4D97-AF65-F5344CB8AC3E}">
        <p14:creationId xmlns:p14="http://schemas.microsoft.com/office/powerpoint/2010/main" val="3674859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185C7-D426-7132-ACF3-E902B3329F01}"/>
              </a:ext>
            </a:extLst>
          </p:cNvPr>
          <p:cNvSpPr>
            <a:spLocks noGrp="1"/>
          </p:cNvSpPr>
          <p:nvPr>
            <p:ph type="title"/>
          </p:nvPr>
        </p:nvSpPr>
        <p:spPr/>
        <p:txBody>
          <a:bodyPr/>
          <a:lstStyle/>
          <a:p>
            <a:r>
              <a:rPr lang="en-US" dirty="0"/>
              <a:t>Spectral Clustering</a:t>
            </a:r>
          </a:p>
        </p:txBody>
      </p:sp>
      <p:sp>
        <p:nvSpPr>
          <p:cNvPr id="3" name="Content Placeholder 2">
            <a:extLst>
              <a:ext uri="{FF2B5EF4-FFF2-40B4-BE49-F238E27FC236}">
                <a16:creationId xmlns:a16="http://schemas.microsoft.com/office/drawing/2014/main" id="{F92CD0A6-26BB-ED8C-8338-505577AF2C98}"/>
              </a:ext>
            </a:extLst>
          </p:cNvPr>
          <p:cNvSpPr>
            <a:spLocks noGrp="1"/>
          </p:cNvSpPr>
          <p:nvPr>
            <p:ph idx="1"/>
          </p:nvPr>
        </p:nvSpPr>
        <p:spPr>
          <a:xfrm>
            <a:off x="838200" y="1825625"/>
            <a:ext cx="5495925" cy="4351338"/>
          </a:xfrm>
        </p:spPr>
        <p:txBody>
          <a:bodyPr/>
          <a:lstStyle/>
          <a:p>
            <a:r>
              <a:rPr lang="en-US" dirty="0"/>
              <a:t>Captures complex, non‑linear structure that k‑means cannot</a:t>
            </a:r>
          </a:p>
          <a:p>
            <a:pPr lvl="1"/>
            <a:r>
              <a:rPr lang="en-US" dirty="0"/>
              <a:t>Suitable for high-dimensional biological data</a:t>
            </a:r>
          </a:p>
          <a:p>
            <a:r>
              <a:rPr lang="en-US" dirty="0"/>
              <a:t>Builds a similarity graph between subjects and finds structure using the graph Laplacian’s eigenvectors</a:t>
            </a:r>
          </a:p>
          <a:p>
            <a:pPr lvl="1"/>
            <a:endParaRPr lang="en-US" dirty="0"/>
          </a:p>
        </p:txBody>
      </p:sp>
      <p:pic>
        <p:nvPicPr>
          <p:cNvPr id="1026" name="Picture 2" descr="Spectral Clustering">
            <a:extLst>
              <a:ext uri="{FF2B5EF4-FFF2-40B4-BE49-F238E27FC236}">
                <a16:creationId xmlns:a16="http://schemas.microsoft.com/office/drawing/2014/main" id="{AD2D5401-37F2-B0EE-30C6-FCC4E475ED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8148" y="492125"/>
            <a:ext cx="5495925"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0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able 28">
            <a:extLst>
              <a:ext uri="{FF2B5EF4-FFF2-40B4-BE49-F238E27FC236}">
                <a16:creationId xmlns:a16="http://schemas.microsoft.com/office/drawing/2014/main" id="{464F2507-7604-CADB-B93B-2590A44E42C1}"/>
              </a:ext>
            </a:extLst>
          </p:cNvPr>
          <p:cNvGraphicFramePr>
            <a:graphicFrameLocks noGrp="1"/>
          </p:cNvGraphicFramePr>
          <p:nvPr>
            <p:extLst>
              <p:ext uri="{D42A27DB-BD31-4B8C-83A1-F6EECF244321}">
                <p14:modId xmlns:p14="http://schemas.microsoft.com/office/powerpoint/2010/main" val="3189983716"/>
              </p:ext>
            </p:extLst>
          </p:nvPr>
        </p:nvGraphicFramePr>
        <p:xfrm>
          <a:off x="5840562" y="3764613"/>
          <a:ext cx="1041400" cy="109226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3797489107"/>
                    </a:ext>
                  </a:extLst>
                </a:gridCol>
                <a:gridCol w="208280">
                  <a:extLst>
                    <a:ext uri="{9D8B030D-6E8A-4147-A177-3AD203B41FA5}">
                      <a16:colId xmlns:a16="http://schemas.microsoft.com/office/drawing/2014/main" val="1923188939"/>
                    </a:ext>
                  </a:extLst>
                </a:gridCol>
                <a:gridCol w="208280">
                  <a:extLst>
                    <a:ext uri="{9D8B030D-6E8A-4147-A177-3AD203B41FA5}">
                      <a16:colId xmlns:a16="http://schemas.microsoft.com/office/drawing/2014/main" val="3761141565"/>
                    </a:ext>
                  </a:extLst>
                </a:gridCol>
                <a:gridCol w="208280">
                  <a:extLst>
                    <a:ext uri="{9D8B030D-6E8A-4147-A177-3AD203B41FA5}">
                      <a16:colId xmlns:a16="http://schemas.microsoft.com/office/drawing/2014/main" val="1761226943"/>
                    </a:ext>
                  </a:extLst>
                </a:gridCol>
                <a:gridCol w="208280">
                  <a:extLst>
                    <a:ext uri="{9D8B030D-6E8A-4147-A177-3AD203B41FA5}">
                      <a16:colId xmlns:a16="http://schemas.microsoft.com/office/drawing/2014/main" val="2790257538"/>
                    </a:ext>
                  </a:extLst>
                </a:gridCol>
              </a:tblGrid>
              <a:tr h="218452">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3217724806"/>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3401334349"/>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1444785584"/>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2849649782"/>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extLst>
                  <a:ext uri="{0D108BD9-81ED-4DB2-BD59-A6C34878D82A}">
                    <a16:rowId xmlns:a16="http://schemas.microsoft.com/office/drawing/2014/main" val="782997678"/>
                  </a:ext>
                </a:extLst>
              </a:tr>
            </a:tbl>
          </a:graphicData>
        </a:graphic>
      </p:graphicFrame>
      <p:sp>
        <p:nvSpPr>
          <p:cNvPr id="2" name="Title 1">
            <a:extLst>
              <a:ext uri="{FF2B5EF4-FFF2-40B4-BE49-F238E27FC236}">
                <a16:creationId xmlns:a16="http://schemas.microsoft.com/office/drawing/2014/main" id="{33795986-277D-56D4-4D36-CEF315D807C2}"/>
              </a:ext>
            </a:extLst>
          </p:cNvPr>
          <p:cNvSpPr>
            <a:spLocks noGrp="1"/>
          </p:cNvSpPr>
          <p:nvPr>
            <p:ph type="title"/>
          </p:nvPr>
        </p:nvSpPr>
        <p:spPr/>
        <p:txBody>
          <a:bodyPr>
            <a:normAutofit/>
          </a:bodyPr>
          <a:lstStyle/>
          <a:p>
            <a:r>
              <a:rPr lang="en-US" dirty="0"/>
              <a:t>Multi-</a:t>
            </a:r>
            <a:r>
              <a:rPr lang="en-US" dirty="0" err="1"/>
              <a:t>Omic</a:t>
            </a:r>
            <a:r>
              <a:rPr lang="en-US" dirty="0"/>
              <a:t> Spectral Clustering using the Flag Manifold (MMOC) 		                    </a:t>
            </a:r>
            <a:r>
              <a:rPr lang="en-US" sz="2800" dirty="0"/>
              <a:t>Charlie Carpenter</a:t>
            </a:r>
            <a:endParaRPr lang="en-US" dirty="0"/>
          </a:p>
        </p:txBody>
      </p:sp>
      <p:sp>
        <p:nvSpPr>
          <p:cNvPr id="3" name="Content Placeholder 2">
            <a:extLst>
              <a:ext uri="{FF2B5EF4-FFF2-40B4-BE49-F238E27FC236}">
                <a16:creationId xmlns:a16="http://schemas.microsoft.com/office/drawing/2014/main" id="{41478F2E-9D04-8D83-7477-95FC9D46E58A}"/>
              </a:ext>
            </a:extLst>
          </p:cNvPr>
          <p:cNvSpPr>
            <a:spLocks noGrp="1"/>
          </p:cNvSpPr>
          <p:nvPr>
            <p:ph idx="1"/>
          </p:nvPr>
        </p:nvSpPr>
        <p:spPr>
          <a:xfrm>
            <a:off x="838200" y="1825625"/>
            <a:ext cx="10515600" cy="957319"/>
          </a:xfrm>
        </p:spPr>
        <p:txBody>
          <a:bodyPr/>
          <a:lstStyle/>
          <a:p>
            <a:r>
              <a:rPr lang="en-US" dirty="0"/>
              <a:t>Flag manifold allows for multi-view clustering</a:t>
            </a:r>
          </a:p>
          <a:p>
            <a:pPr lvl="1"/>
            <a:r>
              <a:rPr lang="en-US" dirty="0"/>
              <a:t>Can handle difference in number of features or clusters across views</a:t>
            </a:r>
          </a:p>
          <a:p>
            <a:endParaRPr lang="en-US" dirty="0"/>
          </a:p>
          <a:p>
            <a:endParaRPr lang="en-US" dirty="0"/>
          </a:p>
        </p:txBody>
      </p:sp>
      <p:graphicFrame>
        <p:nvGraphicFramePr>
          <p:cNvPr id="6" name="Table 5">
            <a:extLst>
              <a:ext uri="{FF2B5EF4-FFF2-40B4-BE49-F238E27FC236}">
                <a16:creationId xmlns:a16="http://schemas.microsoft.com/office/drawing/2014/main" id="{8EF1DD9A-15D6-1ECB-B162-E7432C084779}"/>
              </a:ext>
            </a:extLst>
          </p:cNvPr>
          <p:cNvGraphicFramePr>
            <a:graphicFrameLocks noGrp="1"/>
          </p:cNvGraphicFramePr>
          <p:nvPr>
            <p:extLst>
              <p:ext uri="{D42A27DB-BD31-4B8C-83A1-F6EECF244321}">
                <p14:modId xmlns:p14="http://schemas.microsoft.com/office/powerpoint/2010/main" val="2877151683"/>
              </p:ext>
            </p:extLst>
          </p:nvPr>
        </p:nvGraphicFramePr>
        <p:xfrm>
          <a:off x="4329405" y="4771838"/>
          <a:ext cx="631270" cy="655356"/>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3761141565"/>
                    </a:ext>
                  </a:extLst>
                </a:gridCol>
                <a:gridCol w="211495">
                  <a:extLst>
                    <a:ext uri="{9D8B030D-6E8A-4147-A177-3AD203B41FA5}">
                      <a16:colId xmlns:a16="http://schemas.microsoft.com/office/drawing/2014/main" val="1761226943"/>
                    </a:ext>
                  </a:extLst>
                </a:gridCol>
                <a:gridCol w="211495">
                  <a:extLst>
                    <a:ext uri="{9D8B030D-6E8A-4147-A177-3AD203B41FA5}">
                      <a16:colId xmlns:a16="http://schemas.microsoft.com/office/drawing/2014/main" val="2790257538"/>
                    </a:ext>
                  </a:extLst>
                </a:gridCol>
              </a:tblGrid>
              <a:tr h="218452">
                <a:tc>
                  <a:txBody>
                    <a:bodyPr/>
                    <a:lstStyle/>
                    <a:p>
                      <a:endParaRPr lang="en-US" sz="100" dirty="0"/>
                    </a:p>
                  </a:txBody>
                  <a:tcPr>
                    <a:solidFill>
                      <a:schemeClr val="accent2"/>
                    </a:solidFill>
                  </a:tcPr>
                </a:tc>
                <a:tc>
                  <a:txBody>
                    <a:bodyPr/>
                    <a:lstStyle/>
                    <a:p>
                      <a:endParaRPr lang="en-US" sz="100" dirty="0"/>
                    </a:p>
                  </a:txBody>
                  <a:tcPr>
                    <a:solidFill>
                      <a:srgbClr val="FFC000"/>
                    </a:solidFill>
                  </a:tcPr>
                </a:tc>
                <a:tc>
                  <a:txBody>
                    <a:bodyPr/>
                    <a:lstStyle/>
                    <a:p>
                      <a:endParaRPr lang="en-US" sz="100" dirty="0"/>
                    </a:p>
                  </a:txBody>
                  <a:tcPr>
                    <a:solidFill>
                      <a:srgbClr val="FFC000"/>
                    </a:solidFill>
                  </a:tcPr>
                </a:tc>
                <a:extLst>
                  <a:ext uri="{0D108BD9-81ED-4DB2-BD59-A6C34878D82A}">
                    <a16:rowId xmlns:a16="http://schemas.microsoft.com/office/drawing/2014/main" val="3401334349"/>
                  </a:ext>
                </a:extLst>
              </a:tr>
              <a:tr h="218452">
                <a:tc>
                  <a:txBody>
                    <a:bodyPr/>
                    <a:lstStyle/>
                    <a:p>
                      <a:endParaRPr lang="en-US" sz="100" dirty="0"/>
                    </a:p>
                  </a:txBody>
                  <a:tcPr>
                    <a:solidFill>
                      <a:srgbClr val="FFC000"/>
                    </a:solidFill>
                  </a:tcPr>
                </a:tc>
                <a:tc>
                  <a:txBody>
                    <a:bodyPr/>
                    <a:lstStyle/>
                    <a:p>
                      <a:endParaRPr lang="en-US" sz="100" dirty="0"/>
                    </a:p>
                  </a:txBody>
                  <a:tcPr>
                    <a:solidFill>
                      <a:schemeClr val="accent2"/>
                    </a:solidFill>
                  </a:tcPr>
                </a:tc>
                <a:tc>
                  <a:txBody>
                    <a:bodyPr/>
                    <a:lstStyle/>
                    <a:p>
                      <a:endParaRPr lang="en-US" sz="100" dirty="0"/>
                    </a:p>
                  </a:txBody>
                  <a:tcPr>
                    <a:solidFill>
                      <a:srgbClr val="FFC000"/>
                    </a:solidFill>
                  </a:tcPr>
                </a:tc>
                <a:extLst>
                  <a:ext uri="{0D108BD9-81ED-4DB2-BD59-A6C34878D82A}">
                    <a16:rowId xmlns:a16="http://schemas.microsoft.com/office/drawing/2014/main" val="251990501"/>
                  </a:ext>
                </a:extLst>
              </a:tr>
              <a:tr h="218452">
                <a:tc>
                  <a:txBody>
                    <a:bodyPr/>
                    <a:lstStyle/>
                    <a:p>
                      <a:endParaRPr lang="en-US" sz="100" dirty="0"/>
                    </a:p>
                  </a:txBody>
                  <a:tcPr>
                    <a:solidFill>
                      <a:srgbClr val="FFC000"/>
                    </a:solidFill>
                  </a:tcPr>
                </a:tc>
                <a:tc>
                  <a:txBody>
                    <a:bodyPr/>
                    <a:lstStyle/>
                    <a:p>
                      <a:endParaRPr lang="en-US" sz="100" dirty="0"/>
                    </a:p>
                  </a:txBody>
                  <a:tcPr>
                    <a:solidFill>
                      <a:srgbClr val="FFC000"/>
                    </a:solidFill>
                  </a:tcPr>
                </a:tc>
                <a:tc>
                  <a:txBody>
                    <a:bodyPr/>
                    <a:lstStyle/>
                    <a:p>
                      <a:endParaRPr lang="en-US" sz="100" dirty="0"/>
                    </a:p>
                  </a:txBody>
                  <a:tcPr>
                    <a:solidFill>
                      <a:schemeClr val="accent2"/>
                    </a:solidFill>
                  </a:tcPr>
                </a:tc>
                <a:extLst>
                  <a:ext uri="{0D108BD9-81ED-4DB2-BD59-A6C34878D82A}">
                    <a16:rowId xmlns:a16="http://schemas.microsoft.com/office/drawing/2014/main" val="400429151"/>
                  </a:ext>
                </a:extLst>
              </a:tr>
            </a:tbl>
          </a:graphicData>
        </a:graphic>
      </p:graphicFrame>
      <p:graphicFrame>
        <p:nvGraphicFramePr>
          <p:cNvPr id="9" name="Table 8">
            <a:extLst>
              <a:ext uri="{FF2B5EF4-FFF2-40B4-BE49-F238E27FC236}">
                <a16:creationId xmlns:a16="http://schemas.microsoft.com/office/drawing/2014/main" id="{0CF60853-D038-8390-3029-9427AF7CE1C0}"/>
              </a:ext>
            </a:extLst>
          </p:cNvPr>
          <p:cNvGraphicFramePr>
            <a:graphicFrameLocks noGrp="1"/>
          </p:cNvGraphicFramePr>
          <p:nvPr>
            <p:extLst>
              <p:ext uri="{D42A27DB-BD31-4B8C-83A1-F6EECF244321}">
                <p14:modId xmlns:p14="http://schemas.microsoft.com/office/powerpoint/2010/main" val="41918076"/>
              </p:ext>
            </p:extLst>
          </p:nvPr>
        </p:nvGraphicFramePr>
        <p:xfrm>
          <a:off x="3918624" y="3041106"/>
          <a:ext cx="1041400" cy="1092260"/>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3797489107"/>
                    </a:ext>
                  </a:extLst>
                </a:gridCol>
                <a:gridCol w="208280">
                  <a:extLst>
                    <a:ext uri="{9D8B030D-6E8A-4147-A177-3AD203B41FA5}">
                      <a16:colId xmlns:a16="http://schemas.microsoft.com/office/drawing/2014/main" val="1923188939"/>
                    </a:ext>
                  </a:extLst>
                </a:gridCol>
                <a:gridCol w="208280">
                  <a:extLst>
                    <a:ext uri="{9D8B030D-6E8A-4147-A177-3AD203B41FA5}">
                      <a16:colId xmlns:a16="http://schemas.microsoft.com/office/drawing/2014/main" val="3761141565"/>
                    </a:ext>
                  </a:extLst>
                </a:gridCol>
                <a:gridCol w="208280">
                  <a:extLst>
                    <a:ext uri="{9D8B030D-6E8A-4147-A177-3AD203B41FA5}">
                      <a16:colId xmlns:a16="http://schemas.microsoft.com/office/drawing/2014/main" val="1761226943"/>
                    </a:ext>
                  </a:extLst>
                </a:gridCol>
                <a:gridCol w="208280">
                  <a:extLst>
                    <a:ext uri="{9D8B030D-6E8A-4147-A177-3AD203B41FA5}">
                      <a16:colId xmlns:a16="http://schemas.microsoft.com/office/drawing/2014/main" val="2790257538"/>
                    </a:ext>
                  </a:extLst>
                </a:gridCol>
              </a:tblGrid>
              <a:tr h="218452">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3217724806"/>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3401334349"/>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1444785584"/>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tc>
                  <a:txBody>
                    <a:bodyPr/>
                    <a:lstStyle/>
                    <a:p>
                      <a:endParaRPr lang="en-US" sz="100" dirty="0"/>
                    </a:p>
                  </a:txBody>
                  <a:tcPr>
                    <a:solidFill>
                      <a:schemeClr val="accent4">
                        <a:lumMod val="40000"/>
                        <a:lumOff val="60000"/>
                      </a:schemeClr>
                    </a:solidFill>
                  </a:tcPr>
                </a:tc>
                <a:extLst>
                  <a:ext uri="{0D108BD9-81ED-4DB2-BD59-A6C34878D82A}">
                    <a16:rowId xmlns:a16="http://schemas.microsoft.com/office/drawing/2014/main" val="2849649782"/>
                  </a:ext>
                </a:extLst>
              </a:tr>
              <a:tr h="218452">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chemeClr val="accent4">
                        <a:lumMod val="40000"/>
                        <a:lumOff val="60000"/>
                      </a:schemeClr>
                    </a:solidFill>
                  </a:tcPr>
                </a:tc>
                <a:tc>
                  <a:txBody>
                    <a:bodyPr/>
                    <a:lstStyle/>
                    <a:p>
                      <a:endParaRPr lang="en-US" sz="100" dirty="0"/>
                    </a:p>
                  </a:txBody>
                  <a:tcPr>
                    <a:solidFill>
                      <a:srgbClr val="00B0F0"/>
                    </a:solidFill>
                  </a:tcPr>
                </a:tc>
                <a:extLst>
                  <a:ext uri="{0D108BD9-81ED-4DB2-BD59-A6C34878D82A}">
                    <a16:rowId xmlns:a16="http://schemas.microsoft.com/office/drawing/2014/main" val="782997678"/>
                  </a:ext>
                </a:extLst>
              </a:tr>
            </a:tbl>
          </a:graphicData>
        </a:graphic>
      </p:graphicFrame>
      <p:cxnSp>
        <p:nvCxnSpPr>
          <p:cNvPr id="12" name="Connector: Curved 11">
            <a:extLst>
              <a:ext uri="{FF2B5EF4-FFF2-40B4-BE49-F238E27FC236}">
                <a16:creationId xmlns:a16="http://schemas.microsoft.com/office/drawing/2014/main" id="{C0FF964D-41DD-044C-74F2-FF4032C4098E}"/>
              </a:ext>
            </a:extLst>
          </p:cNvPr>
          <p:cNvCxnSpPr/>
          <p:nvPr/>
        </p:nvCxnSpPr>
        <p:spPr>
          <a:xfrm>
            <a:off x="4960675" y="3572134"/>
            <a:ext cx="861627" cy="738609"/>
          </a:xfrm>
          <a:prstGeom prst="curvedConnector3">
            <a:avLst/>
          </a:prstGeom>
          <a:ln w="38100">
            <a:tailEnd type="triangle"/>
          </a:ln>
        </p:spPr>
        <p:style>
          <a:lnRef idx="2">
            <a:schemeClr val="dk1"/>
          </a:lnRef>
          <a:fillRef idx="0">
            <a:schemeClr val="dk1"/>
          </a:fillRef>
          <a:effectRef idx="1">
            <a:schemeClr val="dk1"/>
          </a:effectRef>
          <a:fontRef idx="minor">
            <a:schemeClr val="tx1"/>
          </a:fontRef>
        </p:style>
      </p:cxnSp>
      <p:cxnSp>
        <p:nvCxnSpPr>
          <p:cNvPr id="13" name="Connector: Curved 12">
            <a:extLst>
              <a:ext uri="{FF2B5EF4-FFF2-40B4-BE49-F238E27FC236}">
                <a16:creationId xmlns:a16="http://schemas.microsoft.com/office/drawing/2014/main" id="{494787E1-510C-9BA3-0CFB-AFC42196DB98}"/>
              </a:ext>
            </a:extLst>
          </p:cNvPr>
          <p:cNvCxnSpPr>
            <a:cxnSpLocks/>
            <a:stCxn id="6" idx="3"/>
          </p:cNvCxnSpPr>
          <p:nvPr/>
        </p:nvCxnSpPr>
        <p:spPr>
          <a:xfrm flipV="1">
            <a:off x="4960675" y="4319177"/>
            <a:ext cx="861627" cy="780339"/>
          </a:xfrm>
          <a:prstGeom prst="curvedConnector3">
            <a:avLst/>
          </a:prstGeom>
          <a:ln w="3810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B4F2A27F-F594-73C0-C6B0-89E621DBC8D6}"/>
              </a:ext>
            </a:extLst>
          </p:cNvPr>
          <p:cNvCxnSpPr>
            <a:cxnSpLocks/>
          </p:cNvCxnSpPr>
          <p:nvPr/>
        </p:nvCxnSpPr>
        <p:spPr>
          <a:xfrm>
            <a:off x="7033462" y="4326567"/>
            <a:ext cx="561630" cy="0"/>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graphicFrame>
        <p:nvGraphicFramePr>
          <p:cNvPr id="18" name="Table 17">
            <a:extLst>
              <a:ext uri="{FF2B5EF4-FFF2-40B4-BE49-F238E27FC236}">
                <a16:creationId xmlns:a16="http://schemas.microsoft.com/office/drawing/2014/main" id="{07B8F4BF-D49C-65D1-E8D0-977C142BBEF9}"/>
              </a:ext>
            </a:extLst>
          </p:cNvPr>
          <p:cNvGraphicFramePr>
            <a:graphicFrameLocks noGrp="1"/>
          </p:cNvGraphicFramePr>
          <p:nvPr>
            <p:extLst>
              <p:ext uri="{D42A27DB-BD31-4B8C-83A1-F6EECF244321}">
                <p14:modId xmlns:p14="http://schemas.microsoft.com/office/powerpoint/2010/main" val="2002850605"/>
              </p:ext>
            </p:extLst>
          </p:nvPr>
        </p:nvGraphicFramePr>
        <p:xfrm>
          <a:off x="7624132" y="4100725"/>
          <a:ext cx="416560" cy="436904"/>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1761226943"/>
                    </a:ext>
                  </a:extLst>
                </a:gridCol>
                <a:gridCol w="208280">
                  <a:extLst>
                    <a:ext uri="{9D8B030D-6E8A-4147-A177-3AD203B41FA5}">
                      <a16:colId xmlns:a16="http://schemas.microsoft.com/office/drawing/2014/main" val="2790257538"/>
                    </a:ext>
                  </a:extLst>
                </a:gridCol>
              </a:tblGrid>
              <a:tr h="218452">
                <a:tc>
                  <a:txBody>
                    <a:bodyPr/>
                    <a:lstStyle/>
                    <a:p>
                      <a:endParaRPr lang="en-US" sz="100" dirty="0"/>
                    </a:p>
                  </a:txBody>
                  <a:tcPr>
                    <a:solidFill>
                      <a:srgbClr val="7030A0"/>
                    </a:solidFill>
                  </a:tcPr>
                </a:tc>
                <a:tc>
                  <a:txBody>
                    <a:bodyPr/>
                    <a:lstStyle/>
                    <a:p>
                      <a:endParaRPr lang="en-US" sz="100" dirty="0"/>
                    </a:p>
                  </a:txBody>
                  <a:tcPr>
                    <a:solidFill>
                      <a:schemeClr val="accent5">
                        <a:lumMod val="60000"/>
                        <a:lumOff val="40000"/>
                      </a:schemeClr>
                    </a:solidFill>
                  </a:tcPr>
                </a:tc>
                <a:extLst>
                  <a:ext uri="{0D108BD9-81ED-4DB2-BD59-A6C34878D82A}">
                    <a16:rowId xmlns:a16="http://schemas.microsoft.com/office/drawing/2014/main" val="251990501"/>
                  </a:ext>
                </a:extLst>
              </a:tr>
              <a:tr h="218452">
                <a:tc>
                  <a:txBody>
                    <a:bodyPr/>
                    <a:lstStyle/>
                    <a:p>
                      <a:endParaRPr lang="en-US" sz="100" dirty="0"/>
                    </a:p>
                  </a:txBody>
                  <a:tcPr>
                    <a:solidFill>
                      <a:schemeClr val="accent5">
                        <a:lumMod val="60000"/>
                        <a:lumOff val="40000"/>
                      </a:schemeClr>
                    </a:solidFill>
                  </a:tcPr>
                </a:tc>
                <a:tc>
                  <a:txBody>
                    <a:bodyPr/>
                    <a:lstStyle/>
                    <a:p>
                      <a:endParaRPr lang="en-US" sz="100" dirty="0"/>
                    </a:p>
                  </a:txBody>
                  <a:tcPr>
                    <a:solidFill>
                      <a:srgbClr val="7030A0"/>
                    </a:solidFill>
                  </a:tcPr>
                </a:tc>
                <a:extLst>
                  <a:ext uri="{0D108BD9-81ED-4DB2-BD59-A6C34878D82A}">
                    <a16:rowId xmlns:a16="http://schemas.microsoft.com/office/drawing/2014/main" val="400429151"/>
                  </a:ext>
                </a:extLst>
              </a:tr>
            </a:tbl>
          </a:graphicData>
        </a:graphic>
      </p:graphicFrame>
      <p:cxnSp>
        <p:nvCxnSpPr>
          <p:cNvPr id="22" name="Straight Connector 21">
            <a:extLst>
              <a:ext uri="{FF2B5EF4-FFF2-40B4-BE49-F238E27FC236}">
                <a16:creationId xmlns:a16="http://schemas.microsoft.com/office/drawing/2014/main" id="{7132000C-D765-06CB-450C-F488B8A60BEE}"/>
              </a:ext>
            </a:extLst>
          </p:cNvPr>
          <p:cNvCxnSpPr>
            <a:cxnSpLocks/>
          </p:cNvCxnSpPr>
          <p:nvPr/>
        </p:nvCxnSpPr>
        <p:spPr>
          <a:xfrm>
            <a:off x="6866052" y="3764613"/>
            <a:ext cx="149150" cy="546130"/>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E57F6A2D-6B05-8606-3E75-7118D45A26ED}"/>
              </a:ext>
            </a:extLst>
          </p:cNvPr>
          <p:cNvCxnSpPr>
            <a:cxnSpLocks/>
          </p:cNvCxnSpPr>
          <p:nvPr/>
        </p:nvCxnSpPr>
        <p:spPr>
          <a:xfrm>
            <a:off x="5840562" y="4856873"/>
            <a:ext cx="613010" cy="92341"/>
          </a:xfrm>
          <a:prstGeom prst="line">
            <a:avLst/>
          </a:prstGeom>
        </p:spPr>
        <p:style>
          <a:lnRef idx="2">
            <a:schemeClr val="dk1"/>
          </a:lnRef>
          <a:fillRef idx="0">
            <a:schemeClr val="dk1"/>
          </a:fillRef>
          <a:effectRef idx="1">
            <a:schemeClr val="dk1"/>
          </a:effectRef>
          <a:fontRef idx="minor">
            <a:schemeClr val="tx1"/>
          </a:fontRef>
        </p:style>
      </p:cxnSp>
      <p:graphicFrame>
        <p:nvGraphicFramePr>
          <p:cNvPr id="20" name="Table 19">
            <a:extLst>
              <a:ext uri="{FF2B5EF4-FFF2-40B4-BE49-F238E27FC236}">
                <a16:creationId xmlns:a16="http://schemas.microsoft.com/office/drawing/2014/main" id="{43150FF3-A97D-FF45-69B7-ACDBB8FF05F4}"/>
              </a:ext>
            </a:extLst>
          </p:cNvPr>
          <p:cNvGraphicFramePr>
            <a:graphicFrameLocks noGrp="1"/>
          </p:cNvGraphicFramePr>
          <p:nvPr>
            <p:extLst>
              <p:ext uri="{D42A27DB-BD31-4B8C-83A1-F6EECF244321}">
                <p14:modId xmlns:p14="http://schemas.microsoft.com/office/powerpoint/2010/main" val="2298889907"/>
              </p:ext>
            </p:extLst>
          </p:nvPr>
        </p:nvGraphicFramePr>
        <p:xfrm>
          <a:off x="6402192" y="4293858"/>
          <a:ext cx="631270" cy="655356"/>
        </p:xfrm>
        <a:graphic>
          <a:graphicData uri="http://schemas.openxmlformats.org/drawingml/2006/table">
            <a:tbl>
              <a:tblPr bandRow="1">
                <a:tableStyleId>{5C22544A-7EE6-4342-B048-85BDC9FD1C3A}</a:tableStyleId>
              </a:tblPr>
              <a:tblGrid>
                <a:gridCol w="208280">
                  <a:extLst>
                    <a:ext uri="{9D8B030D-6E8A-4147-A177-3AD203B41FA5}">
                      <a16:colId xmlns:a16="http://schemas.microsoft.com/office/drawing/2014/main" val="3761141565"/>
                    </a:ext>
                  </a:extLst>
                </a:gridCol>
                <a:gridCol w="211495">
                  <a:extLst>
                    <a:ext uri="{9D8B030D-6E8A-4147-A177-3AD203B41FA5}">
                      <a16:colId xmlns:a16="http://schemas.microsoft.com/office/drawing/2014/main" val="1761226943"/>
                    </a:ext>
                  </a:extLst>
                </a:gridCol>
                <a:gridCol w="211495">
                  <a:extLst>
                    <a:ext uri="{9D8B030D-6E8A-4147-A177-3AD203B41FA5}">
                      <a16:colId xmlns:a16="http://schemas.microsoft.com/office/drawing/2014/main" val="2790257538"/>
                    </a:ext>
                  </a:extLst>
                </a:gridCol>
              </a:tblGrid>
              <a:tr h="218452">
                <a:tc>
                  <a:txBody>
                    <a:bodyPr/>
                    <a:lstStyle/>
                    <a:p>
                      <a:endParaRPr lang="en-US" sz="100" dirty="0"/>
                    </a:p>
                  </a:txBody>
                  <a:tcPr>
                    <a:solidFill>
                      <a:schemeClr val="accent2"/>
                    </a:solidFill>
                  </a:tcPr>
                </a:tc>
                <a:tc>
                  <a:txBody>
                    <a:bodyPr/>
                    <a:lstStyle/>
                    <a:p>
                      <a:endParaRPr lang="en-US" sz="100" dirty="0"/>
                    </a:p>
                  </a:txBody>
                  <a:tcPr>
                    <a:solidFill>
                      <a:srgbClr val="FFC000"/>
                    </a:solidFill>
                  </a:tcPr>
                </a:tc>
                <a:tc>
                  <a:txBody>
                    <a:bodyPr/>
                    <a:lstStyle/>
                    <a:p>
                      <a:endParaRPr lang="en-US" sz="100" dirty="0"/>
                    </a:p>
                  </a:txBody>
                  <a:tcPr>
                    <a:solidFill>
                      <a:srgbClr val="FFC000"/>
                    </a:solidFill>
                  </a:tcPr>
                </a:tc>
                <a:extLst>
                  <a:ext uri="{0D108BD9-81ED-4DB2-BD59-A6C34878D82A}">
                    <a16:rowId xmlns:a16="http://schemas.microsoft.com/office/drawing/2014/main" val="3401334349"/>
                  </a:ext>
                </a:extLst>
              </a:tr>
              <a:tr h="218452">
                <a:tc>
                  <a:txBody>
                    <a:bodyPr/>
                    <a:lstStyle/>
                    <a:p>
                      <a:endParaRPr lang="en-US" sz="100" dirty="0"/>
                    </a:p>
                  </a:txBody>
                  <a:tcPr>
                    <a:solidFill>
                      <a:srgbClr val="FFC000"/>
                    </a:solidFill>
                  </a:tcPr>
                </a:tc>
                <a:tc>
                  <a:txBody>
                    <a:bodyPr/>
                    <a:lstStyle/>
                    <a:p>
                      <a:endParaRPr lang="en-US" sz="100" dirty="0"/>
                    </a:p>
                  </a:txBody>
                  <a:tcPr>
                    <a:solidFill>
                      <a:schemeClr val="accent2"/>
                    </a:solidFill>
                  </a:tcPr>
                </a:tc>
                <a:tc>
                  <a:txBody>
                    <a:bodyPr/>
                    <a:lstStyle/>
                    <a:p>
                      <a:endParaRPr lang="en-US" sz="100" dirty="0"/>
                    </a:p>
                  </a:txBody>
                  <a:tcPr>
                    <a:solidFill>
                      <a:srgbClr val="FFC000"/>
                    </a:solidFill>
                  </a:tcPr>
                </a:tc>
                <a:extLst>
                  <a:ext uri="{0D108BD9-81ED-4DB2-BD59-A6C34878D82A}">
                    <a16:rowId xmlns:a16="http://schemas.microsoft.com/office/drawing/2014/main" val="251990501"/>
                  </a:ext>
                </a:extLst>
              </a:tr>
              <a:tr h="218452">
                <a:tc>
                  <a:txBody>
                    <a:bodyPr/>
                    <a:lstStyle/>
                    <a:p>
                      <a:endParaRPr lang="en-US" sz="100" dirty="0"/>
                    </a:p>
                  </a:txBody>
                  <a:tcPr>
                    <a:solidFill>
                      <a:srgbClr val="FFC000"/>
                    </a:solidFill>
                  </a:tcPr>
                </a:tc>
                <a:tc>
                  <a:txBody>
                    <a:bodyPr/>
                    <a:lstStyle/>
                    <a:p>
                      <a:endParaRPr lang="en-US" sz="100" dirty="0"/>
                    </a:p>
                  </a:txBody>
                  <a:tcPr>
                    <a:solidFill>
                      <a:srgbClr val="FFC000"/>
                    </a:solidFill>
                  </a:tcPr>
                </a:tc>
                <a:tc>
                  <a:txBody>
                    <a:bodyPr/>
                    <a:lstStyle/>
                    <a:p>
                      <a:endParaRPr lang="en-US" sz="100" dirty="0"/>
                    </a:p>
                  </a:txBody>
                  <a:tcPr>
                    <a:solidFill>
                      <a:schemeClr val="accent2"/>
                    </a:solidFill>
                  </a:tcPr>
                </a:tc>
                <a:extLst>
                  <a:ext uri="{0D108BD9-81ED-4DB2-BD59-A6C34878D82A}">
                    <a16:rowId xmlns:a16="http://schemas.microsoft.com/office/drawing/2014/main" val="400429151"/>
                  </a:ext>
                </a:extLst>
              </a:tr>
            </a:tbl>
          </a:graphicData>
        </a:graphic>
      </p:graphicFrame>
      <p:pic>
        <p:nvPicPr>
          <p:cNvPr id="26" name="Picture 25">
            <a:extLst>
              <a:ext uri="{FF2B5EF4-FFF2-40B4-BE49-F238E27FC236}">
                <a16:creationId xmlns:a16="http://schemas.microsoft.com/office/drawing/2014/main" id="{246888AF-ED92-F70E-4A27-0A157B3D718A}"/>
              </a:ext>
            </a:extLst>
          </p:cNvPr>
          <p:cNvPicPr>
            <a:picLocks noChangeAspect="1"/>
          </p:cNvPicPr>
          <p:nvPr/>
        </p:nvPicPr>
        <p:blipFill>
          <a:blip r:embed="rId3"/>
          <a:stretch>
            <a:fillRect/>
          </a:stretch>
        </p:blipFill>
        <p:spPr>
          <a:xfrm>
            <a:off x="3661179" y="2944630"/>
            <a:ext cx="4379513" cy="2810889"/>
          </a:xfrm>
          <a:prstGeom prst="rect">
            <a:avLst/>
          </a:prstGeom>
        </p:spPr>
      </p:pic>
      <p:pic>
        <p:nvPicPr>
          <p:cNvPr id="40" name="Picture 39">
            <a:extLst>
              <a:ext uri="{FF2B5EF4-FFF2-40B4-BE49-F238E27FC236}">
                <a16:creationId xmlns:a16="http://schemas.microsoft.com/office/drawing/2014/main" id="{F0D9F668-5E6B-BEE5-2CD4-C32EBCBAF9B4}"/>
              </a:ext>
            </a:extLst>
          </p:cNvPr>
          <p:cNvPicPr>
            <a:picLocks noChangeAspect="1"/>
          </p:cNvPicPr>
          <p:nvPr/>
        </p:nvPicPr>
        <p:blipFill>
          <a:blip r:embed="rId4"/>
          <a:stretch>
            <a:fillRect/>
          </a:stretch>
        </p:blipFill>
        <p:spPr>
          <a:xfrm>
            <a:off x="3340084" y="2782944"/>
            <a:ext cx="5021701" cy="3105664"/>
          </a:xfrm>
          <a:prstGeom prst="rect">
            <a:avLst/>
          </a:prstGeom>
        </p:spPr>
      </p:pic>
    </p:spTree>
    <p:extLst>
      <p:ext uri="{BB962C8B-B14F-4D97-AF65-F5344CB8AC3E}">
        <p14:creationId xmlns:p14="http://schemas.microsoft.com/office/powerpoint/2010/main" val="276728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F88E9-E9A8-4C2A-5BFD-4E86B1D6466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6654C6D-16DE-416F-1DE1-84F1B944D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275021"/>
            <a:ext cx="5159490" cy="3582979"/>
          </a:xfrm>
          <a:prstGeom prst="rect">
            <a:avLst/>
          </a:prstGeom>
        </p:spPr>
      </p:pic>
      <p:pic>
        <p:nvPicPr>
          <p:cNvPr id="4" name="Picture 3">
            <a:extLst>
              <a:ext uri="{FF2B5EF4-FFF2-40B4-BE49-F238E27FC236}">
                <a16:creationId xmlns:a16="http://schemas.microsoft.com/office/drawing/2014/main" id="{29A60B49-9B0C-3055-E900-9B3F2BFA1B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6798" y="0"/>
            <a:ext cx="7315201" cy="6858000"/>
          </a:xfrm>
          <a:prstGeom prst="rect">
            <a:avLst/>
          </a:prstGeom>
        </p:spPr>
      </p:pic>
      <p:sp>
        <p:nvSpPr>
          <p:cNvPr id="10" name="Content Placeholder 2">
            <a:extLst>
              <a:ext uri="{FF2B5EF4-FFF2-40B4-BE49-F238E27FC236}">
                <a16:creationId xmlns:a16="http://schemas.microsoft.com/office/drawing/2014/main" id="{180691B9-3F9C-B683-4A76-6A3E9D8C56C5}"/>
              </a:ext>
            </a:extLst>
          </p:cNvPr>
          <p:cNvSpPr>
            <a:spLocks noGrp="1"/>
          </p:cNvSpPr>
          <p:nvPr>
            <p:ph idx="1"/>
          </p:nvPr>
        </p:nvSpPr>
        <p:spPr>
          <a:xfrm>
            <a:off x="838200" y="1825625"/>
            <a:ext cx="4321290" cy="1514734"/>
          </a:xfrm>
        </p:spPr>
        <p:txBody>
          <a:bodyPr>
            <a:normAutofit lnSpcReduction="10000"/>
          </a:bodyPr>
          <a:lstStyle/>
          <a:p>
            <a:r>
              <a:rPr lang="en-US" dirty="0"/>
              <a:t>3 Microbiome Clusters based on </a:t>
            </a:r>
            <a:r>
              <a:rPr lang="en-US" dirty="0" err="1"/>
              <a:t>TraceCovW</a:t>
            </a:r>
            <a:r>
              <a:rPr lang="en-US" dirty="0"/>
              <a:t> index and visual inspection </a:t>
            </a:r>
          </a:p>
        </p:txBody>
      </p:sp>
      <p:sp>
        <p:nvSpPr>
          <p:cNvPr id="2" name="Title 1">
            <a:extLst>
              <a:ext uri="{FF2B5EF4-FFF2-40B4-BE49-F238E27FC236}">
                <a16:creationId xmlns:a16="http://schemas.microsoft.com/office/drawing/2014/main" id="{CB3377E8-1CC9-90AB-EC7C-BBDDC4949805}"/>
              </a:ext>
            </a:extLst>
          </p:cNvPr>
          <p:cNvSpPr>
            <a:spLocks noGrp="1"/>
          </p:cNvSpPr>
          <p:nvPr>
            <p:ph type="title"/>
          </p:nvPr>
        </p:nvSpPr>
        <p:spPr/>
        <p:txBody>
          <a:bodyPr/>
          <a:lstStyle/>
          <a:p>
            <a:r>
              <a:rPr lang="en-US" dirty="0"/>
              <a:t>Microbiome Clustering</a:t>
            </a:r>
          </a:p>
        </p:txBody>
      </p:sp>
    </p:spTree>
    <p:extLst>
      <p:ext uri="{BB962C8B-B14F-4D97-AF65-F5344CB8AC3E}">
        <p14:creationId xmlns:p14="http://schemas.microsoft.com/office/powerpoint/2010/main" val="3885635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62C1C4B-A6D3-B21E-545E-4083D0B673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799" y="0"/>
            <a:ext cx="7315201" cy="6858000"/>
          </a:xfrm>
          <a:prstGeom prst="rect">
            <a:avLst/>
          </a:prstGeom>
        </p:spPr>
      </p:pic>
      <p:pic>
        <p:nvPicPr>
          <p:cNvPr id="9" name="Picture 8">
            <a:extLst>
              <a:ext uri="{FF2B5EF4-FFF2-40B4-BE49-F238E27FC236}">
                <a16:creationId xmlns:a16="http://schemas.microsoft.com/office/drawing/2014/main" id="{4737FCA0-411A-5BB7-A771-623FEA6965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275021"/>
            <a:ext cx="5159490" cy="3582979"/>
          </a:xfrm>
          <a:prstGeom prst="rect">
            <a:avLst/>
          </a:prstGeom>
        </p:spPr>
      </p:pic>
      <p:sp>
        <p:nvSpPr>
          <p:cNvPr id="10" name="Content Placeholder 2">
            <a:extLst>
              <a:ext uri="{FF2B5EF4-FFF2-40B4-BE49-F238E27FC236}">
                <a16:creationId xmlns:a16="http://schemas.microsoft.com/office/drawing/2014/main" id="{8F54C25E-ADAA-5203-7182-733C640B47B4}"/>
              </a:ext>
            </a:extLst>
          </p:cNvPr>
          <p:cNvSpPr>
            <a:spLocks noGrp="1"/>
          </p:cNvSpPr>
          <p:nvPr>
            <p:ph idx="1"/>
          </p:nvPr>
        </p:nvSpPr>
        <p:spPr>
          <a:xfrm>
            <a:off x="838200" y="1825624"/>
            <a:ext cx="4321290" cy="1533395"/>
          </a:xfrm>
        </p:spPr>
        <p:txBody>
          <a:bodyPr>
            <a:normAutofit lnSpcReduction="10000"/>
          </a:bodyPr>
          <a:lstStyle/>
          <a:p>
            <a:r>
              <a:rPr lang="en-US" dirty="0"/>
              <a:t>3 Proteomics Clusters based on </a:t>
            </a:r>
            <a:r>
              <a:rPr lang="en-US" dirty="0" err="1"/>
              <a:t>TraceCovW</a:t>
            </a:r>
            <a:r>
              <a:rPr lang="en-US" dirty="0"/>
              <a:t> index and visual inspection </a:t>
            </a:r>
          </a:p>
        </p:txBody>
      </p:sp>
      <p:sp>
        <p:nvSpPr>
          <p:cNvPr id="2" name="Title 1">
            <a:extLst>
              <a:ext uri="{FF2B5EF4-FFF2-40B4-BE49-F238E27FC236}">
                <a16:creationId xmlns:a16="http://schemas.microsoft.com/office/drawing/2014/main" id="{79ECBD2C-1A64-FC25-D30D-8F41EE8C96C9}"/>
              </a:ext>
            </a:extLst>
          </p:cNvPr>
          <p:cNvSpPr>
            <a:spLocks noGrp="1"/>
          </p:cNvSpPr>
          <p:nvPr>
            <p:ph type="title"/>
          </p:nvPr>
        </p:nvSpPr>
        <p:spPr/>
        <p:txBody>
          <a:bodyPr/>
          <a:lstStyle/>
          <a:p>
            <a:r>
              <a:rPr lang="en-US" dirty="0"/>
              <a:t>Proteomics Clustering</a:t>
            </a:r>
          </a:p>
        </p:txBody>
      </p:sp>
    </p:spTree>
    <p:extLst>
      <p:ext uri="{BB962C8B-B14F-4D97-AF65-F5344CB8AC3E}">
        <p14:creationId xmlns:p14="http://schemas.microsoft.com/office/powerpoint/2010/main" val="318814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03BBC-43FC-F71A-D489-6F5E0DE76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F5A1E-74F2-2966-DDDC-12D669C4B7F3}"/>
              </a:ext>
            </a:extLst>
          </p:cNvPr>
          <p:cNvSpPr>
            <a:spLocks noGrp="1"/>
          </p:cNvSpPr>
          <p:nvPr>
            <p:ph type="title"/>
          </p:nvPr>
        </p:nvSpPr>
        <p:spPr/>
        <p:txBody>
          <a:bodyPr/>
          <a:lstStyle/>
          <a:p>
            <a:r>
              <a:rPr lang="en-US" dirty="0"/>
              <a:t>Joint Clustering</a:t>
            </a:r>
          </a:p>
        </p:txBody>
      </p:sp>
      <p:pic>
        <p:nvPicPr>
          <p:cNvPr id="7" name="Picture 6">
            <a:extLst>
              <a:ext uri="{FF2B5EF4-FFF2-40B4-BE49-F238E27FC236}">
                <a16:creationId xmlns:a16="http://schemas.microsoft.com/office/drawing/2014/main" id="{17F4F7C2-BE08-A7E0-95FC-B947B9E90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3999" y="-1"/>
            <a:ext cx="6858001" cy="6858001"/>
          </a:xfrm>
          <a:prstGeom prst="rect">
            <a:avLst/>
          </a:prstGeom>
        </p:spPr>
      </p:pic>
      <p:sp>
        <p:nvSpPr>
          <p:cNvPr id="8" name="Content Placeholder 2">
            <a:extLst>
              <a:ext uri="{FF2B5EF4-FFF2-40B4-BE49-F238E27FC236}">
                <a16:creationId xmlns:a16="http://schemas.microsoft.com/office/drawing/2014/main" id="{A568AA2D-152F-3939-BC1B-C0315A9075F8}"/>
              </a:ext>
            </a:extLst>
          </p:cNvPr>
          <p:cNvSpPr>
            <a:spLocks noGrp="1"/>
          </p:cNvSpPr>
          <p:nvPr>
            <p:ph idx="1"/>
          </p:nvPr>
        </p:nvSpPr>
        <p:spPr>
          <a:xfrm>
            <a:off x="838200" y="3428999"/>
            <a:ext cx="4321290" cy="1944991"/>
          </a:xfrm>
        </p:spPr>
        <p:txBody>
          <a:bodyPr>
            <a:normAutofit lnSpcReduction="10000"/>
          </a:bodyPr>
          <a:lstStyle/>
          <a:p>
            <a:r>
              <a:rPr lang="en-US" dirty="0"/>
              <a:t>Cluster 1: 9 subjects</a:t>
            </a:r>
          </a:p>
          <a:p>
            <a:r>
              <a:rPr lang="en-US" dirty="0"/>
              <a:t>Cluster 2: 5 subjects</a:t>
            </a:r>
          </a:p>
          <a:p>
            <a:r>
              <a:rPr lang="en-US" dirty="0"/>
              <a:t>Cluster 3: 7 subjects</a:t>
            </a:r>
          </a:p>
          <a:p>
            <a:r>
              <a:rPr lang="en-US" dirty="0"/>
              <a:t>Cluster 4: 10 subjects</a:t>
            </a:r>
          </a:p>
        </p:txBody>
      </p:sp>
      <p:sp>
        <p:nvSpPr>
          <p:cNvPr id="12" name="Content Placeholder 2">
            <a:extLst>
              <a:ext uri="{FF2B5EF4-FFF2-40B4-BE49-F238E27FC236}">
                <a16:creationId xmlns:a16="http://schemas.microsoft.com/office/drawing/2014/main" id="{6E14B25A-471D-3DE4-411A-85D9AB2E4A8A}"/>
              </a:ext>
            </a:extLst>
          </p:cNvPr>
          <p:cNvSpPr txBox="1">
            <a:spLocks/>
          </p:cNvSpPr>
          <p:nvPr/>
        </p:nvSpPr>
        <p:spPr>
          <a:xfrm>
            <a:off x="838200" y="1825625"/>
            <a:ext cx="432129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4 joint Clusters based on </a:t>
            </a:r>
            <a:r>
              <a:rPr lang="en-US" dirty="0" err="1"/>
              <a:t>TraceCovW</a:t>
            </a:r>
            <a:r>
              <a:rPr lang="en-US" dirty="0"/>
              <a:t> index</a:t>
            </a:r>
          </a:p>
        </p:txBody>
      </p:sp>
    </p:spTree>
    <p:extLst>
      <p:ext uri="{BB962C8B-B14F-4D97-AF65-F5344CB8AC3E}">
        <p14:creationId xmlns:p14="http://schemas.microsoft.com/office/powerpoint/2010/main" val="4002789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E337E-AF7A-9BDB-ABDA-0B53268A49B3}"/>
              </a:ext>
            </a:extLst>
          </p:cNvPr>
          <p:cNvSpPr>
            <a:spLocks noGrp="1"/>
          </p:cNvSpPr>
          <p:nvPr>
            <p:ph type="title"/>
          </p:nvPr>
        </p:nvSpPr>
        <p:spPr/>
        <p:txBody>
          <a:bodyPr/>
          <a:lstStyle/>
          <a:p>
            <a:r>
              <a:rPr lang="en-US" dirty="0"/>
              <a:t>Validation of Number of Joint Clusters</a:t>
            </a:r>
          </a:p>
        </p:txBody>
      </p:sp>
      <p:pic>
        <p:nvPicPr>
          <p:cNvPr id="8" name="Picture 7">
            <a:extLst>
              <a:ext uri="{FF2B5EF4-FFF2-40B4-BE49-F238E27FC236}">
                <a16:creationId xmlns:a16="http://schemas.microsoft.com/office/drawing/2014/main" id="{6B748B2D-58E8-EAF7-F357-6A04FCE139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490" y="1690688"/>
            <a:ext cx="6858957" cy="4763165"/>
          </a:xfrm>
          <a:prstGeom prst="rect">
            <a:avLst/>
          </a:prstGeom>
        </p:spPr>
      </p:pic>
      <p:sp>
        <p:nvSpPr>
          <p:cNvPr id="3" name="Content Placeholder 2">
            <a:extLst>
              <a:ext uri="{FF2B5EF4-FFF2-40B4-BE49-F238E27FC236}">
                <a16:creationId xmlns:a16="http://schemas.microsoft.com/office/drawing/2014/main" id="{37EE8EC9-62EF-8868-150B-9D1509DCB50C}"/>
              </a:ext>
            </a:extLst>
          </p:cNvPr>
          <p:cNvSpPr>
            <a:spLocks noGrp="1"/>
          </p:cNvSpPr>
          <p:nvPr>
            <p:ph idx="1"/>
          </p:nvPr>
        </p:nvSpPr>
        <p:spPr>
          <a:xfrm>
            <a:off x="838200" y="1825625"/>
            <a:ext cx="4321290" cy="2329280"/>
          </a:xfrm>
        </p:spPr>
        <p:txBody>
          <a:bodyPr>
            <a:normAutofit/>
          </a:bodyPr>
          <a:lstStyle/>
          <a:p>
            <a:r>
              <a:rPr lang="en-US" dirty="0"/>
              <a:t>There is moderate stability in cluster assignments when changing the number of groups </a:t>
            </a:r>
          </a:p>
        </p:txBody>
      </p:sp>
    </p:spTree>
    <p:extLst>
      <p:ext uri="{BB962C8B-B14F-4D97-AF65-F5344CB8AC3E}">
        <p14:creationId xmlns:p14="http://schemas.microsoft.com/office/powerpoint/2010/main" val="3448840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29340-84BD-1F29-40E5-4BB9F682DA01}"/>
              </a:ext>
            </a:extLst>
          </p:cNvPr>
          <p:cNvSpPr>
            <a:spLocks noGrp="1"/>
          </p:cNvSpPr>
          <p:nvPr>
            <p:ph type="title"/>
          </p:nvPr>
        </p:nvSpPr>
        <p:spPr/>
        <p:txBody>
          <a:bodyPr/>
          <a:lstStyle/>
          <a:p>
            <a:r>
              <a:rPr lang="en-US" dirty="0"/>
              <a:t>Cluster Comparison</a:t>
            </a:r>
          </a:p>
        </p:txBody>
      </p:sp>
      <p:pic>
        <p:nvPicPr>
          <p:cNvPr id="4" name="Picture 3">
            <a:extLst>
              <a:ext uri="{FF2B5EF4-FFF2-40B4-BE49-F238E27FC236}">
                <a16:creationId xmlns:a16="http://schemas.microsoft.com/office/drawing/2014/main" id="{FFC7F48F-D410-A085-31BD-0809B1A552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490" y="1690688"/>
            <a:ext cx="6858957" cy="4763165"/>
          </a:xfrm>
          <a:prstGeom prst="rect">
            <a:avLst/>
          </a:prstGeom>
        </p:spPr>
      </p:pic>
      <p:sp>
        <p:nvSpPr>
          <p:cNvPr id="3" name="Content Placeholder 2">
            <a:extLst>
              <a:ext uri="{FF2B5EF4-FFF2-40B4-BE49-F238E27FC236}">
                <a16:creationId xmlns:a16="http://schemas.microsoft.com/office/drawing/2014/main" id="{E86AADF7-B492-CA7A-0771-3EAFB2893A65}"/>
              </a:ext>
            </a:extLst>
          </p:cNvPr>
          <p:cNvSpPr>
            <a:spLocks noGrp="1"/>
          </p:cNvSpPr>
          <p:nvPr>
            <p:ph idx="1"/>
          </p:nvPr>
        </p:nvSpPr>
        <p:spPr>
          <a:xfrm>
            <a:off x="838200" y="1825624"/>
            <a:ext cx="4321290" cy="3083259"/>
          </a:xfrm>
        </p:spPr>
        <p:txBody>
          <a:bodyPr>
            <a:normAutofit/>
          </a:bodyPr>
          <a:lstStyle/>
          <a:p>
            <a:r>
              <a:rPr lang="en-US" dirty="0"/>
              <a:t>Microbiome and proteome clusters do not correspond directly</a:t>
            </a:r>
          </a:p>
          <a:p>
            <a:r>
              <a:rPr lang="en-US" dirty="0"/>
              <a:t>Joint clusters defined distinct subgroups</a:t>
            </a:r>
          </a:p>
          <a:p>
            <a:pPr lvl="1"/>
            <a:r>
              <a:rPr lang="en-US" dirty="0"/>
              <a:t>Not one-to-one with the individual clusters</a:t>
            </a:r>
          </a:p>
        </p:txBody>
      </p:sp>
    </p:spTree>
    <p:extLst>
      <p:ext uri="{BB962C8B-B14F-4D97-AF65-F5344CB8AC3E}">
        <p14:creationId xmlns:p14="http://schemas.microsoft.com/office/powerpoint/2010/main" val="2927433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9F081-007A-1F94-52F0-833D0E025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A9B52-A076-C11A-DCCE-861363228301}"/>
              </a:ext>
            </a:extLst>
          </p:cNvPr>
          <p:cNvSpPr>
            <a:spLocks noGrp="1"/>
          </p:cNvSpPr>
          <p:nvPr>
            <p:ph type="title"/>
          </p:nvPr>
        </p:nvSpPr>
        <p:spPr/>
        <p:txBody>
          <a:bodyPr/>
          <a:lstStyle/>
          <a:p>
            <a:r>
              <a:rPr lang="en-US" dirty="0"/>
              <a:t>Cluster Comparison</a:t>
            </a:r>
          </a:p>
        </p:txBody>
      </p:sp>
      <p:pic>
        <p:nvPicPr>
          <p:cNvPr id="5" name="Picture 4">
            <a:extLst>
              <a:ext uri="{FF2B5EF4-FFF2-40B4-BE49-F238E27FC236}">
                <a16:creationId xmlns:a16="http://schemas.microsoft.com/office/drawing/2014/main" id="{201BDB62-66B5-5268-F498-FCAB64BE84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6570" y="1281290"/>
            <a:ext cx="7745430" cy="5576710"/>
          </a:xfrm>
          <a:prstGeom prst="rect">
            <a:avLst/>
          </a:prstGeom>
        </p:spPr>
      </p:pic>
      <p:sp>
        <p:nvSpPr>
          <p:cNvPr id="3" name="Content Placeholder 2">
            <a:extLst>
              <a:ext uri="{FF2B5EF4-FFF2-40B4-BE49-F238E27FC236}">
                <a16:creationId xmlns:a16="http://schemas.microsoft.com/office/drawing/2014/main" id="{1D47342F-61A6-748F-A6F6-91F6A53A637C}"/>
              </a:ext>
            </a:extLst>
          </p:cNvPr>
          <p:cNvSpPr>
            <a:spLocks noGrp="1"/>
          </p:cNvSpPr>
          <p:nvPr>
            <p:ph idx="1"/>
          </p:nvPr>
        </p:nvSpPr>
        <p:spPr>
          <a:xfrm>
            <a:off x="838200" y="1825624"/>
            <a:ext cx="3608370" cy="3083259"/>
          </a:xfrm>
        </p:spPr>
        <p:txBody>
          <a:bodyPr>
            <a:normAutofit/>
          </a:bodyPr>
          <a:lstStyle/>
          <a:p>
            <a:r>
              <a:rPr lang="en-US" dirty="0"/>
              <a:t>Pattern maintains when microbiome or proteome clusters are increased</a:t>
            </a:r>
          </a:p>
        </p:txBody>
      </p:sp>
    </p:spTree>
    <p:extLst>
      <p:ext uri="{BB962C8B-B14F-4D97-AF65-F5344CB8AC3E}">
        <p14:creationId xmlns:p14="http://schemas.microsoft.com/office/powerpoint/2010/main" val="4019548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5144C5-E5D0-8861-0461-C460FF2BC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7757" y="687796"/>
            <a:ext cx="7404243" cy="6170203"/>
          </a:xfrm>
          <a:prstGeom prst="rect">
            <a:avLst/>
          </a:prstGeom>
        </p:spPr>
      </p:pic>
      <p:sp>
        <p:nvSpPr>
          <p:cNvPr id="2" name="Title 1">
            <a:extLst>
              <a:ext uri="{FF2B5EF4-FFF2-40B4-BE49-F238E27FC236}">
                <a16:creationId xmlns:a16="http://schemas.microsoft.com/office/drawing/2014/main" id="{B9FC1750-823F-79ED-A0F0-B3F4697FC482}"/>
              </a:ext>
            </a:extLst>
          </p:cNvPr>
          <p:cNvSpPr>
            <a:spLocks noGrp="1"/>
          </p:cNvSpPr>
          <p:nvPr>
            <p:ph type="title"/>
          </p:nvPr>
        </p:nvSpPr>
        <p:spPr/>
        <p:txBody>
          <a:bodyPr/>
          <a:lstStyle/>
          <a:p>
            <a:r>
              <a:rPr lang="en-US" dirty="0"/>
              <a:t>Abundant Bacteria</a:t>
            </a:r>
          </a:p>
        </p:txBody>
      </p:sp>
      <p:sp>
        <p:nvSpPr>
          <p:cNvPr id="3" name="Content Placeholder 2">
            <a:extLst>
              <a:ext uri="{FF2B5EF4-FFF2-40B4-BE49-F238E27FC236}">
                <a16:creationId xmlns:a16="http://schemas.microsoft.com/office/drawing/2014/main" id="{C4EA371A-BC5F-B926-D8C1-C2204FF755A3}"/>
              </a:ext>
            </a:extLst>
          </p:cNvPr>
          <p:cNvSpPr>
            <a:spLocks noGrp="1"/>
          </p:cNvSpPr>
          <p:nvPr>
            <p:ph idx="1"/>
          </p:nvPr>
        </p:nvSpPr>
        <p:spPr>
          <a:xfrm>
            <a:off x="838200" y="1825624"/>
            <a:ext cx="3749842" cy="4667251"/>
          </a:xfrm>
        </p:spPr>
        <p:txBody>
          <a:bodyPr>
            <a:normAutofit/>
          </a:bodyPr>
          <a:lstStyle/>
          <a:p>
            <a:r>
              <a:rPr lang="en-US" dirty="0"/>
              <a:t>Visualized with relative abundances, not CLR-transformation</a:t>
            </a:r>
          </a:p>
          <a:p>
            <a:r>
              <a:rPr lang="en-US" dirty="0"/>
              <a:t>Fusobacterium and both </a:t>
            </a:r>
            <a:r>
              <a:rPr lang="en-US" dirty="0" err="1"/>
              <a:t>Veillonella</a:t>
            </a:r>
            <a:r>
              <a:rPr lang="en-US" dirty="0"/>
              <a:t> have statistically significant group differences after FDR correction</a:t>
            </a:r>
          </a:p>
        </p:txBody>
      </p:sp>
    </p:spTree>
    <p:extLst>
      <p:ext uri="{BB962C8B-B14F-4D97-AF65-F5344CB8AC3E}">
        <p14:creationId xmlns:p14="http://schemas.microsoft.com/office/powerpoint/2010/main" val="322099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FD00-C95F-A5A7-FAC6-63482FE6DB4F}"/>
              </a:ext>
            </a:extLst>
          </p:cNvPr>
          <p:cNvSpPr>
            <a:spLocks noGrp="1"/>
          </p:cNvSpPr>
          <p:nvPr>
            <p:ph type="title"/>
          </p:nvPr>
        </p:nvSpPr>
        <p:spPr/>
        <p:txBody>
          <a:bodyPr/>
          <a:lstStyle/>
          <a:p>
            <a:r>
              <a:rPr lang="en-US" dirty="0"/>
              <a:t>Significant Bacteria</a:t>
            </a:r>
          </a:p>
        </p:txBody>
      </p:sp>
      <p:sp>
        <p:nvSpPr>
          <p:cNvPr id="3" name="Content Placeholder 2">
            <a:extLst>
              <a:ext uri="{FF2B5EF4-FFF2-40B4-BE49-F238E27FC236}">
                <a16:creationId xmlns:a16="http://schemas.microsoft.com/office/drawing/2014/main" id="{168DDF37-A311-1899-6FF9-CD1AF7D08DDA}"/>
              </a:ext>
            </a:extLst>
          </p:cNvPr>
          <p:cNvSpPr>
            <a:spLocks noGrp="1"/>
          </p:cNvSpPr>
          <p:nvPr>
            <p:ph idx="1"/>
          </p:nvPr>
        </p:nvSpPr>
        <p:spPr>
          <a:xfrm>
            <a:off x="838200" y="1825625"/>
            <a:ext cx="3476946" cy="4351338"/>
          </a:xfrm>
        </p:spPr>
        <p:txBody>
          <a:bodyPr/>
          <a:lstStyle/>
          <a:p>
            <a:r>
              <a:rPr lang="en-US" dirty="0"/>
              <a:t>Fusobacterium and both </a:t>
            </a:r>
            <a:r>
              <a:rPr lang="en-US" dirty="0" err="1"/>
              <a:t>Veillonella</a:t>
            </a:r>
            <a:r>
              <a:rPr lang="en-US" dirty="0"/>
              <a:t> are also abundant</a:t>
            </a:r>
          </a:p>
          <a:p>
            <a:r>
              <a:rPr lang="en-US" dirty="0"/>
              <a:t>Levene’s test indicated no violations of homogeneity of variance </a:t>
            </a:r>
          </a:p>
          <a:p>
            <a:pPr lvl="1"/>
            <a:r>
              <a:rPr lang="en-US" dirty="0"/>
              <a:t>All p &gt; 0.29</a:t>
            </a:r>
          </a:p>
        </p:txBody>
      </p:sp>
      <p:pic>
        <p:nvPicPr>
          <p:cNvPr id="8" name="Picture 7">
            <a:extLst>
              <a:ext uri="{FF2B5EF4-FFF2-40B4-BE49-F238E27FC236}">
                <a16:creationId xmlns:a16="http://schemas.microsoft.com/office/drawing/2014/main" id="{0BB5267D-E078-9D43-CDAA-C84F220F5D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5009" y="1325366"/>
            <a:ext cx="7966991" cy="5532634"/>
          </a:xfrm>
          <a:prstGeom prst="rect">
            <a:avLst/>
          </a:prstGeom>
        </p:spPr>
      </p:pic>
    </p:spTree>
    <p:extLst>
      <p:ext uri="{BB962C8B-B14F-4D97-AF65-F5344CB8AC3E}">
        <p14:creationId xmlns:p14="http://schemas.microsoft.com/office/powerpoint/2010/main" val="2225801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97E560-B4B1-4189-6F0D-39B6AB89B6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1158" y="240631"/>
            <a:ext cx="7940843" cy="6617369"/>
          </a:xfrm>
          <a:prstGeom prst="rect">
            <a:avLst/>
          </a:prstGeom>
        </p:spPr>
      </p:pic>
      <p:sp>
        <p:nvSpPr>
          <p:cNvPr id="3" name="Title 1">
            <a:extLst>
              <a:ext uri="{FF2B5EF4-FFF2-40B4-BE49-F238E27FC236}">
                <a16:creationId xmlns:a16="http://schemas.microsoft.com/office/drawing/2014/main" id="{ABD36D77-5F96-4ECE-CCF2-B41BCAC2243E}"/>
              </a:ext>
            </a:extLst>
          </p:cNvPr>
          <p:cNvSpPr txBox="1">
            <a:spLocks/>
          </p:cNvSpPr>
          <p:nvPr/>
        </p:nvSpPr>
        <p:spPr>
          <a:xfrm>
            <a:off x="533400" y="365125"/>
            <a:ext cx="4038600" cy="132556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Clinically Relevant Proteins</a:t>
            </a:r>
          </a:p>
        </p:txBody>
      </p:sp>
      <p:sp>
        <p:nvSpPr>
          <p:cNvPr id="4" name="Content Placeholder 2">
            <a:extLst>
              <a:ext uri="{FF2B5EF4-FFF2-40B4-BE49-F238E27FC236}">
                <a16:creationId xmlns:a16="http://schemas.microsoft.com/office/drawing/2014/main" id="{DC195009-84BF-2DFE-479B-3ED2C85151C4}"/>
              </a:ext>
            </a:extLst>
          </p:cNvPr>
          <p:cNvSpPr>
            <a:spLocks noGrp="1"/>
          </p:cNvSpPr>
          <p:nvPr>
            <p:ph idx="1"/>
          </p:nvPr>
        </p:nvSpPr>
        <p:spPr>
          <a:xfrm>
            <a:off x="533400" y="1825624"/>
            <a:ext cx="3608370" cy="4667251"/>
          </a:xfrm>
        </p:spPr>
        <p:txBody>
          <a:bodyPr>
            <a:normAutofit/>
          </a:bodyPr>
          <a:lstStyle/>
          <a:p>
            <a:r>
              <a:rPr lang="en-US" dirty="0"/>
              <a:t>Features of CF lung disease: elevated elastase, IL-1b, and HMG-1, alterations in MMP/TIMP balance</a:t>
            </a:r>
          </a:p>
          <a:p>
            <a:pPr lvl="1"/>
            <a:r>
              <a:rPr lang="en-US" dirty="0"/>
              <a:t>Airway damage, impaired repair mechanisms, persistent inflammation</a:t>
            </a:r>
          </a:p>
        </p:txBody>
      </p:sp>
    </p:spTree>
    <p:extLst>
      <p:ext uri="{BB962C8B-B14F-4D97-AF65-F5344CB8AC3E}">
        <p14:creationId xmlns:p14="http://schemas.microsoft.com/office/powerpoint/2010/main" val="1834493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F2196-5D6E-F2EA-D5E1-69CC3BAD7B85}"/>
              </a:ext>
            </a:extLst>
          </p:cNvPr>
          <p:cNvSpPr>
            <a:spLocks noGrp="1"/>
          </p:cNvSpPr>
          <p:nvPr>
            <p:ph type="title"/>
          </p:nvPr>
        </p:nvSpPr>
        <p:spPr/>
        <p:txBody>
          <a:bodyPr/>
          <a:lstStyle/>
          <a:p>
            <a:r>
              <a:rPr lang="en-US" dirty="0"/>
              <a:t>Cluster Description Summary</a:t>
            </a:r>
          </a:p>
        </p:txBody>
      </p:sp>
      <p:sp>
        <p:nvSpPr>
          <p:cNvPr id="3" name="Content Placeholder 2">
            <a:extLst>
              <a:ext uri="{FF2B5EF4-FFF2-40B4-BE49-F238E27FC236}">
                <a16:creationId xmlns:a16="http://schemas.microsoft.com/office/drawing/2014/main" id="{44D5E1C8-8BD2-8342-F57A-0F919B298A41}"/>
              </a:ext>
            </a:extLst>
          </p:cNvPr>
          <p:cNvSpPr>
            <a:spLocks noGrp="1"/>
          </p:cNvSpPr>
          <p:nvPr>
            <p:ph idx="1"/>
          </p:nvPr>
        </p:nvSpPr>
        <p:spPr>
          <a:xfrm>
            <a:off x="838200" y="1825625"/>
            <a:ext cx="10515600" cy="4505728"/>
          </a:xfrm>
        </p:spPr>
        <p:txBody>
          <a:bodyPr>
            <a:normAutofit fontScale="92500" lnSpcReduction="20000"/>
          </a:bodyPr>
          <a:lstStyle/>
          <a:p>
            <a:r>
              <a:rPr lang="en-US" dirty="0"/>
              <a:t>Cluster 1: </a:t>
            </a:r>
          </a:p>
          <a:p>
            <a:pPr lvl="1"/>
            <a:r>
              <a:rPr lang="en-US" dirty="0"/>
              <a:t>Non-traditional pathogens; lower inflammatory response</a:t>
            </a:r>
          </a:p>
          <a:p>
            <a:pPr lvl="2"/>
            <a:r>
              <a:rPr lang="en-US" dirty="0" err="1"/>
              <a:t>Leptotrichia</a:t>
            </a:r>
            <a:r>
              <a:rPr lang="en-US" dirty="0"/>
              <a:t>, </a:t>
            </a:r>
            <a:r>
              <a:rPr lang="en-US" dirty="0" err="1"/>
              <a:t>Selenomonas</a:t>
            </a:r>
            <a:r>
              <a:rPr lang="en-US" dirty="0"/>
              <a:t>, </a:t>
            </a:r>
            <a:r>
              <a:rPr lang="en-US" dirty="0" err="1"/>
              <a:t>Solobacterium</a:t>
            </a:r>
            <a:endParaRPr lang="en-US" dirty="0"/>
          </a:p>
          <a:p>
            <a:pPr lvl="2"/>
            <a:r>
              <a:rPr lang="en-US" dirty="0"/>
              <a:t>Lower IL-6, IL-8, IL-1b</a:t>
            </a:r>
          </a:p>
          <a:p>
            <a:r>
              <a:rPr lang="en-US" dirty="0"/>
              <a:t>Cluster 2:</a:t>
            </a:r>
          </a:p>
          <a:p>
            <a:pPr lvl="1"/>
            <a:r>
              <a:rPr lang="en-US" dirty="0"/>
              <a:t>Pseudomonas and </a:t>
            </a:r>
            <a:r>
              <a:rPr lang="en-US" dirty="0" err="1"/>
              <a:t>Nessieria</a:t>
            </a:r>
            <a:r>
              <a:rPr lang="en-US" dirty="0"/>
              <a:t>; stronger inflammatory response</a:t>
            </a:r>
          </a:p>
          <a:p>
            <a:pPr lvl="2"/>
            <a:r>
              <a:rPr lang="en-US" dirty="0"/>
              <a:t>Elevated Elastase, IL-1b, HMG-1, TIMP-1; lower MMP-2</a:t>
            </a:r>
          </a:p>
          <a:p>
            <a:r>
              <a:rPr lang="en-US" dirty="0"/>
              <a:t>Cluster 3:</a:t>
            </a:r>
          </a:p>
          <a:p>
            <a:pPr lvl="1"/>
            <a:r>
              <a:rPr lang="en-US" dirty="0"/>
              <a:t>Streptococcus; moderate inflammatory response</a:t>
            </a:r>
          </a:p>
          <a:p>
            <a:pPr lvl="2"/>
            <a:r>
              <a:rPr lang="en-US" dirty="0"/>
              <a:t>Lower IL-8</a:t>
            </a:r>
          </a:p>
          <a:p>
            <a:r>
              <a:rPr lang="en-US" dirty="0"/>
              <a:t>Cluster 4:</a:t>
            </a:r>
          </a:p>
          <a:p>
            <a:pPr lvl="1"/>
            <a:r>
              <a:rPr lang="en-US" dirty="0"/>
              <a:t>Streptococcus; moderate inflammatory response</a:t>
            </a:r>
          </a:p>
          <a:p>
            <a:pPr lvl="2"/>
            <a:r>
              <a:rPr lang="en-US" dirty="0"/>
              <a:t>Elevated TNF-α, lower HMG-1</a:t>
            </a:r>
          </a:p>
          <a:p>
            <a:pPr lvl="1"/>
            <a:endParaRPr lang="en-US" dirty="0"/>
          </a:p>
        </p:txBody>
      </p:sp>
    </p:spTree>
    <p:extLst>
      <p:ext uri="{BB962C8B-B14F-4D97-AF65-F5344CB8AC3E}">
        <p14:creationId xmlns:p14="http://schemas.microsoft.com/office/powerpoint/2010/main" val="537554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D91F20C-B56F-DBD9-6BFB-596A276FDF71}"/>
              </a:ext>
            </a:extLst>
          </p:cNvPr>
          <p:cNvGraphicFramePr>
            <a:graphicFrameLocks noGrp="1"/>
          </p:cNvGraphicFramePr>
          <p:nvPr>
            <p:extLst>
              <p:ext uri="{D42A27DB-BD31-4B8C-83A1-F6EECF244321}">
                <p14:modId xmlns:p14="http://schemas.microsoft.com/office/powerpoint/2010/main" val="4039273306"/>
              </p:ext>
            </p:extLst>
          </p:nvPr>
        </p:nvGraphicFramePr>
        <p:xfrm>
          <a:off x="577600" y="1259840"/>
          <a:ext cx="11614400" cy="5598160"/>
        </p:xfrm>
        <a:graphic>
          <a:graphicData uri="http://schemas.openxmlformats.org/drawingml/2006/table">
            <a:tbl>
              <a:tblPr firstRow="1" bandRow="1">
                <a:tableStyleId>{5C22544A-7EE6-4342-B048-85BDC9FD1C3A}</a:tableStyleId>
              </a:tblPr>
              <a:tblGrid>
                <a:gridCol w="4335764">
                  <a:extLst>
                    <a:ext uri="{9D8B030D-6E8A-4147-A177-3AD203B41FA5}">
                      <a16:colId xmlns:a16="http://schemas.microsoft.com/office/drawing/2014/main" val="1013668119"/>
                    </a:ext>
                  </a:extLst>
                </a:gridCol>
                <a:gridCol w="1819659">
                  <a:extLst>
                    <a:ext uri="{9D8B030D-6E8A-4147-A177-3AD203B41FA5}">
                      <a16:colId xmlns:a16="http://schemas.microsoft.com/office/drawing/2014/main" val="4250806876"/>
                    </a:ext>
                  </a:extLst>
                </a:gridCol>
                <a:gridCol w="1819659">
                  <a:extLst>
                    <a:ext uri="{9D8B030D-6E8A-4147-A177-3AD203B41FA5}">
                      <a16:colId xmlns:a16="http://schemas.microsoft.com/office/drawing/2014/main" val="2448341203"/>
                    </a:ext>
                  </a:extLst>
                </a:gridCol>
                <a:gridCol w="1819659">
                  <a:extLst>
                    <a:ext uri="{9D8B030D-6E8A-4147-A177-3AD203B41FA5}">
                      <a16:colId xmlns:a16="http://schemas.microsoft.com/office/drawing/2014/main" val="1856803578"/>
                    </a:ext>
                  </a:extLst>
                </a:gridCol>
                <a:gridCol w="1819659">
                  <a:extLst>
                    <a:ext uri="{9D8B030D-6E8A-4147-A177-3AD203B41FA5}">
                      <a16:colId xmlns:a16="http://schemas.microsoft.com/office/drawing/2014/main" val="2477692427"/>
                    </a:ext>
                  </a:extLst>
                </a:gridCol>
              </a:tblGrid>
              <a:tr h="370840">
                <a:tc>
                  <a:txBody>
                    <a:bodyPr/>
                    <a:lstStyle/>
                    <a:p>
                      <a:endParaRPr lang="en-US" dirty="0"/>
                    </a:p>
                  </a:txBody>
                  <a:tcPr>
                    <a:solidFill>
                      <a:schemeClr val="bg1"/>
                    </a:solidFill>
                  </a:tcPr>
                </a:tc>
                <a:tc>
                  <a:txBody>
                    <a:bodyPr/>
                    <a:lstStyle/>
                    <a:p>
                      <a:pPr algn="ctr"/>
                      <a:r>
                        <a:rPr lang="en-US" dirty="0"/>
                        <a:t>Cluster 1 </a:t>
                      </a:r>
                      <a:br>
                        <a:rPr lang="en-US" dirty="0"/>
                      </a:br>
                      <a:r>
                        <a:rPr lang="en-US" dirty="0"/>
                        <a:t>(N = 9)</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Cluster 2 </a:t>
                      </a:r>
                      <a:br>
                        <a:rPr lang="en-US" dirty="0"/>
                      </a:br>
                      <a:r>
                        <a:rPr lang="en-US" dirty="0"/>
                        <a:t>(N = 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Cluster 3 </a:t>
                      </a:r>
                      <a:br>
                        <a:rPr lang="en-US" dirty="0"/>
                      </a:br>
                      <a:r>
                        <a:rPr lang="en-US" dirty="0"/>
                        <a:t>(N = 7)</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Cluster 4 </a:t>
                      </a:r>
                      <a:br>
                        <a:rPr lang="en-US" dirty="0"/>
                      </a:br>
                      <a:r>
                        <a:rPr lang="en-US" dirty="0"/>
                        <a:t>(N = 10)</a:t>
                      </a:r>
                    </a:p>
                  </a:txBody>
                  <a:tcPr/>
                </a:tc>
                <a:extLst>
                  <a:ext uri="{0D108BD9-81ED-4DB2-BD59-A6C34878D82A}">
                    <a16:rowId xmlns:a16="http://schemas.microsoft.com/office/drawing/2014/main" val="713555157"/>
                  </a:ext>
                </a:extLst>
              </a:tr>
              <a:tr h="370840">
                <a:tc>
                  <a:txBody>
                    <a:bodyPr/>
                    <a:lstStyle/>
                    <a:p>
                      <a:r>
                        <a:rPr lang="en-US" dirty="0"/>
                        <a:t>Gender</a:t>
                      </a:r>
                      <a:br>
                        <a:rPr lang="en-US" dirty="0"/>
                      </a:br>
                      <a:r>
                        <a:rPr lang="en-US" dirty="0"/>
                        <a:t>        Female</a:t>
                      </a:r>
                      <a:br>
                        <a:rPr lang="en-US" dirty="0"/>
                      </a:br>
                      <a:r>
                        <a:rPr lang="en-US" dirty="0"/>
                        <a:t>        Male</a:t>
                      </a:r>
                    </a:p>
                  </a:txBody>
                  <a:tcPr/>
                </a:tc>
                <a:tc>
                  <a:txBody>
                    <a:bodyPr/>
                    <a:lstStyle/>
                    <a:p>
                      <a:pPr algn="ctr"/>
                      <a:br>
                        <a:rPr lang="en-US" dirty="0"/>
                      </a:br>
                      <a:r>
                        <a:rPr lang="en-US" dirty="0"/>
                        <a:t>5 (55.6%)</a:t>
                      </a:r>
                      <a:br>
                        <a:rPr lang="en-US" dirty="0"/>
                      </a:br>
                      <a:r>
                        <a:rPr lang="en-US" dirty="0"/>
                        <a:t>4 (44.4%)</a:t>
                      </a:r>
                    </a:p>
                  </a:txBody>
                  <a:tcPr/>
                </a:tc>
                <a:tc>
                  <a:txBody>
                    <a:bodyPr/>
                    <a:lstStyle/>
                    <a:p>
                      <a:pPr algn="ctr"/>
                      <a:br>
                        <a:rPr lang="en-US" dirty="0"/>
                      </a:br>
                      <a:r>
                        <a:rPr lang="en-US" dirty="0"/>
                        <a:t>2 (40.0%)</a:t>
                      </a:r>
                      <a:br>
                        <a:rPr lang="en-US" dirty="0"/>
                      </a:br>
                      <a:r>
                        <a:rPr lang="en-US" dirty="0"/>
                        <a:t>3 (60.0%)</a:t>
                      </a:r>
                    </a:p>
                  </a:txBody>
                  <a:tcPr/>
                </a:tc>
                <a:tc>
                  <a:txBody>
                    <a:bodyPr/>
                    <a:lstStyle/>
                    <a:p>
                      <a:pPr algn="ctr"/>
                      <a:br>
                        <a:rPr lang="en-US" dirty="0"/>
                      </a:br>
                      <a:r>
                        <a:rPr lang="en-US" dirty="0"/>
                        <a:t>4 (57.1%)</a:t>
                      </a:r>
                      <a:br>
                        <a:rPr lang="en-US" dirty="0"/>
                      </a:br>
                      <a:r>
                        <a:rPr lang="en-US" dirty="0"/>
                        <a:t>3 (42.9%)</a:t>
                      </a:r>
                    </a:p>
                  </a:txBody>
                  <a:tcPr/>
                </a:tc>
                <a:tc>
                  <a:txBody>
                    <a:bodyPr/>
                    <a:lstStyle/>
                    <a:p>
                      <a:pPr algn="ctr"/>
                      <a:br>
                        <a:rPr lang="en-US" dirty="0"/>
                      </a:br>
                      <a:r>
                        <a:rPr lang="en-US" dirty="0"/>
                        <a:t>5 (50.0%)</a:t>
                      </a:r>
                    </a:p>
                    <a:p>
                      <a:pPr algn="ctr"/>
                      <a:r>
                        <a:rPr lang="en-US" dirty="0"/>
                        <a:t>5 (50.0%)</a:t>
                      </a:r>
                    </a:p>
                  </a:txBody>
                  <a:tcPr/>
                </a:tc>
                <a:extLst>
                  <a:ext uri="{0D108BD9-81ED-4DB2-BD59-A6C34878D82A}">
                    <a16:rowId xmlns:a16="http://schemas.microsoft.com/office/drawing/2014/main" val="2209587526"/>
                  </a:ext>
                </a:extLst>
              </a:tr>
              <a:tr h="370840">
                <a:tc>
                  <a:txBody>
                    <a:bodyPr/>
                    <a:lstStyle/>
                    <a:p>
                      <a:r>
                        <a:rPr lang="en-US" dirty="0"/>
                        <a:t>Age (years)</a:t>
                      </a:r>
                    </a:p>
                  </a:txBody>
                  <a:tcPr/>
                </a:tc>
                <a:tc>
                  <a:txBody>
                    <a:bodyPr/>
                    <a:lstStyle/>
                    <a:p>
                      <a:pPr algn="ctr"/>
                      <a:r>
                        <a:rPr lang="en-US" dirty="0"/>
                        <a:t>14.3 (2.53)</a:t>
                      </a:r>
                    </a:p>
                  </a:txBody>
                  <a:tcPr/>
                </a:tc>
                <a:tc>
                  <a:txBody>
                    <a:bodyPr/>
                    <a:lstStyle/>
                    <a:p>
                      <a:pPr algn="ctr"/>
                      <a:r>
                        <a:rPr lang="en-US" dirty="0"/>
                        <a:t>16.6 (1.22)</a:t>
                      </a:r>
                    </a:p>
                  </a:txBody>
                  <a:tcPr/>
                </a:tc>
                <a:tc>
                  <a:txBody>
                    <a:bodyPr/>
                    <a:lstStyle/>
                    <a:p>
                      <a:pPr algn="ctr"/>
                      <a:r>
                        <a:rPr lang="en-US" dirty="0"/>
                        <a:t>15.7 (4.10)</a:t>
                      </a:r>
                    </a:p>
                  </a:txBody>
                  <a:tcPr/>
                </a:tc>
                <a:tc>
                  <a:txBody>
                    <a:bodyPr/>
                    <a:lstStyle/>
                    <a:p>
                      <a:pPr algn="ctr"/>
                      <a:r>
                        <a:rPr lang="en-US" dirty="0"/>
                        <a:t>16.9 (2.83)</a:t>
                      </a:r>
                    </a:p>
                  </a:txBody>
                  <a:tcPr/>
                </a:tc>
                <a:extLst>
                  <a:ext uri="{0D108BD9-81ED-4DB2-BD59-A6C34878D82A}">
                    <a16:rowId xmlns:a16="http://schemas.microsoft.com/office/drawing/2014/main" val="755380570"/>
                  </a:ext>
                </a:extLst>
              </a:tr>
              <a:tr h="370840">
                <a:tc>
                  <a:txBody>
                    <a:bodyPr/>
                    <a:lstStyle/>
                    <a:p>
                      <a:r>
                        <a:rPr lang="en-US" dirty="0"/>
                        <a:t>Number of F508del Alleles</a:t>
                      </a:r>
                    </a:p>
                  </a:txBody>
                  <a:tcPr/>
                </a:tc>
                <a:tc>
                  <a:txBody>
                    <a:bodyPr/>
                    <a:lstStyle/>
                    <a:p>
                      <a:pPr algn="ctr"/>
                      <a:r>
                        <a:rPr lang="en-US" dirty="0"/>
                        <a:t>1.67 (0.500)</a:t>
                      </a:r>
                    </a:p>
                  </a:txBody>
                  <a:tcPr/>
                </a:tc>
                <a:tc>
                  <a:txBody>
                    <a:bodyPr/>
                    <a:lstStyle/>
                    <a:p>
                      <a:pPr algn="ctr"/>
                      <a:r>
                        <a:rPr lang="en-US" dirty="0"/>
                        <a:t>1.40 (0.548)</a:t>
                      </a:r>
                    </a:p>
                  </a:txBody>
                  <a:tcPr/>
                </a:tc>
                <a:tc>
                  <a:txBody>
                    <a:bodyPr/>
                    <a:lstStyle/>
                    <a:p>
                      <a:pPr algn="ctr"/>
                      <a:r>
                        <a:rPr lang="en-US" dirty="0"/>
                        <a:t>1.43 (0.787)</a:t>
                      </a:r>
                    </a:p>
                  </a:txBody>
                  <a:tcPr/>
                </a:tc>
                <a:tc>
                  <a:txBody>
                    <a:bodyPr/>
                    <a:lstStyle/>
                    <a:p>
                      <a:pPr algn="ctr"/>
                      <a:r>
                        <a:rPr lang="en-US" dirty="0"/>
                        <a:t>1.70 (0.675)</a:t>
                      </a:r>
                    </a:p>
                  </a:txBody>
                  <a:tcPr/>
                </a:tc>
                <a:extLst>
                  <a:ext uri="{0D108BD9-81ED-4DB2-BD59-A6C34878D82A}">
                    <a16:rowId xmlns:a16="http://schemas.microsoft.com/office/drawing/2014/main" val="2176327886"/>
                  </a:ext>
                </a:extLst>
              </a:tr>
              <a:tr h="370840">
                <a:tc>
                  <a:txBody>
                    <a:bodyPr/>
                    <a:lstStyle/>
                    <a:p>
                      <a:r>
                        <a:rPr lang="en-US" dirty="0"/>
                        <a:t>Height (cm)</a:t>
                      </a:r>
                    </a:p>
                  </a:txBody>
                  <a:tcPr/>
                </a:tc>
                <a:tc>
                  <a:txBody>
                    <a:bodyPr/>
                    <a:lstStyle/>
                    <a:p>
                      <a:pPr algn="ctr"/>
                      <a:r>
                        <a:rPr lang="en-US" dirty="0"/>
                        <a:t>159 (9.00)</a:t>
                      </a:r>
                    </a:p>
                  </a:txBody>
                  <a:tcPr/>
                </a:tc>
                <a:tc>
                  <a:txBody>
                    <a:bodyPr/>
                    <a:lstStyle/>
                    <a:p>
                      <a:pPr algn="ctr"/>
                      <a:r>
                        <a:rPr lang="en-US" dirty="0"/>
                        <a:t>164 (5.40)</a:t>
                      </a:r>
                    </a:p>
                  </a:txBody>
                  <a:tcPr/>
                </a:tc>
                <a:tc>
                  <a:txBody>
                    <a:bodyPr/>
                    <a:lstStyle/>
                    <a:p>
                      <a:pPr algn="ctr"/>
                      <a:r>
                        <a:rPr lang="en-US" dirty="0"/>
                        <a:t>159 (8.71)</a:t>
                      </a:r>
                    </a:p>
                  </a:txBody>
                  <a:tcPr/>
                </a:tc>
                <a:tc>
                  <a:txBody>
                    <a:bodyPr/>
                    <a:lstStyle/>
                    <a:p>
                      <a:pPr algn="ctr"/>
                      <a:r>
                        <a:rPr lang="en-US" dirty="0"/>
                        <a:t>163 (7.68)</a:t>
                      </a:r>
                    </a:p>
                  </a:txBody>
                  <a:tcPr/>
                </a:tc>
                <a:extLst>
                  <a:ext uri="{0D108BD9-81ED-4DB2-BD59-A6C34878D82A}">
                    <a16:rowId xmlns:a16="http://schemas.microsoft.com/office/drawing/2014/main" val="866217403"/>
                  </a:ext>
                </a:extLst>
              </a:tr>
              <a:tr h="370840">
                <a:tc>
                  <a:txBody>
                    <a:bodyPr/>
                    <a:lstStyle/>
                    <a:p>
                      <a:r>
                        <a:rPr lang="en-US" dirty="0"/>
                        <a:t>Pulmonary Exacerbations in the Past Year</a:t>
                      </a:r>
                      <a:br>
                        <a:rPr lang="en-US" dirty="0"/>
                      </a:br>
                      <a:r>
                        <a:rPr lang="en-US" dirty="0"/>
                        <a:t>        Missing</a:t>
                      </a:r>
                    </a:p>
                  </a:txBody>
                  <a:tcPr/>
                </a:tc>
                <a:tc>
                  <a:txBody>
                    <a:bodyPr/>
                    <a:lstStyle/>
                    <a:p>
                      <a:pPr algn="ctr"/>
                      <a:r>
                        <a:rPr lang="en-US" dirty="0"/>
                        <a:t>0.778 (0.833)</a:t>
                      </a:r>
                      <a:br>
                        <a:rPr lang="en-US" dirty="0"/>
                      </a:br>
                      <a:r>
                        <a:rPr lang="en-US" dirty="0"/>
                        <a:t>0 (0%)</a:t>
                      </a:r>
                    </a:p>
                  </a:txBody>
                  <a:tcPr/>
                </a:tc>
                <a:tc>
                  <a:txBody>
                    <a:bodyPr/>
                    <a:lstStyle/>
                    <a:p>
                      <a:pPr algn="ctr"/>
                      <a:r>
                        <a:rPr lang="en-US" dirty="0"/>
                        <a:t>1.60 (1.82)</a:t>
                      </a:r>
                      <a:br>
                        <a:rPr lang="en-US" dirty="0"/>
                      </a:br>
                      <a:r>
                        <a:rPr lang="en-US" dirty="0"/>
                        <a:t>0 (0%)</a:t>
                      </a:r>
                    </a:p>
                  </a:txBody>
                  <a:tcPr/>
                </a:tc>
                <a:tc>
                  <a:txBody>
                    <a:bodyPr/>
                    <a:lstStyle/>
                    <a:p>
                      <a:pPr algn="ctr"/>
                      <a:r>
                        <a:rPr lang="en-US" dirty="0"/>
                        <a:t>0.667 (1.21)</a:t>
                      </a:r>
                      <a:br>
                        <a:rPr lang="en-US" dirty="0"/>
                      </a:br>
                      <a:r>
                        <a:rPr lang="en-US" dirty="0"/>
                        <a:t>1 (14.3%)</a:t>
                      </a:r>
                    </a:p>
                  </a:txBody>
                  <a:tcPr/>
                </a:tc>
                <a:tc>
                  <a:txBody>
                    <a:bodyPr/>
                    <a:lstStyle/>
                    <a:p>
                      <a:pPr algn="ctr"/>
                      <a:r>
                        <a:rPr lang="en-US" dirty="0"/>
                        <a:t>0.889 (1.05)</a:t>
                      </a:r>
                      <a:br>
                        <a:rPr lang="en-US" dirty="0"/>
                      </a:br>
                      <a:r>
                        <a:rPr lang="en-US" dirty="0"/>
                        <a:t>1 (10.0%)</a:t>
                      </a:r>
                    </a:p>
                  </a:txBody>
                  <a:tcPr/>
                </a:tc>
                <a:extLst>
                  <a:ext uri="{0D108BD9-81ED-4DB2-BD59-A6C34878D82A}">
                    <a16:rowId xmlns:a16="http://schemas.microsoft.com/office/drawing/2014/main" val="2202061448"/>
                  </a:ext>
                </a:extLst>
              </a:tr>
              <a:tr h="370840">
                <a:tc>
                  <a:txBody>
                    <a:bodyPr/>
                    <a:lstStyle/>
                    <a:p>
                      <a:r>
                        <a:rPr lang="en-US" dirty="0"/>
                        <a:t>Hospitalizations in the Past Year</a:t>
                      </a:r>
                      <a:br>
                        <a:rPr lang="en-US" dirty="0"/>
                      </a:br>
                      <a:r>
                        <a:rPr lang="en-US" dirty="0"/>
                        <a:t>        Missing</a:t>
                      </a:r>
                    </a:p>
                  </a:txBody>
                  <a:tcPr/>
                </a:tc>
                <a:tc>
                  <a:txBody>
                    <a:bodyPr/>
                    <a:lstStyle/>
                    <a:p>
                      <a:pPr algn="ctr"/>
                      <a:r>
                        <a:rPr lang="en-US" dirty="0"/>
                        <a:t>0.667 (0.707)</a:t>
                      </a:r>
                      <a:br>
                        <a:rPr lang="en-US" dirty="0"/>
                      </a:br>
                      <a:r>
                        <a:rPr lang="en-US" dirty="0"/>
                        <a:t>0 (0%)</a:t>
                      </a:r>
                    </a:p>
                  </a:txBody>
                  <a:tcPr/>
                </a:tc>
                <a:tc>
                  <a:txBody>
                    <a:bodyPr/>
                    <a:lstStyle/>
                    <a:p>
                      <a:pPr algn="ctr"/>
                      <a:r>
                        <a:rPr lang="en-US" dirty="0"/>
                        <a:t>1.60 (1.82)</a:t>
                      </a:r>
                      <a:br>
                        <a:rPr lang="en-US" dirty="0"/>
                      </a:br>
                      <a:r>
                        <a:rPr lang="en-US" dirty="0"/>
                        <a:t>0 (0%)</a:t>
                      </a:r>
                    </a:p>
                  </a:txBody>
                  <a:tcPr/>
                </a:tc>
                <a:tc>
                  <a:txBody>
                    <a:bodyPr/>
                    <a:lstStyle/>
                    <a:p>
                      <a:pPr algn="ctr"/>
                      <a:r>
                        <a:rPr lang="en-US" dirty="0"/>
                        <a:t>0.667 (0.816)</a:t>
                      </a:r>
                      <a:br>
                        <a:rPr lang="en-US" dirty="0"/>
                      </a:br>
                      <a:r>
                        <a:rPr lang="en-US" dirty="0"/>
                        <a:t>1 (14.3%)</a:t>
                      </a:r>
                    </a:p>
                  </a:txBody>
                  <a:tcPr/>
                </a:tc>
                <a:tc>
                  <a:txBody>
                    <a:bodyPr/>
                    <a:lstStyle/>
                    <a:p>
                      <a:pPr algn="ctr"/>
                      <a:r>
                        <a:rPr lang="en-US" dirty="0"/>
                        <a:t>1.00 (1.05)</a:t>
                      </a:r>
                      <a:br>
                        <a:rPr lang="en-US" dirty="0"/>
                      </a:br>
                      <a:r>
                        <a:rPr lang="en-US" dirty="0"/>
                        <a:t>0 (0%)</a:t>
                      </a:r>
                    </a:p>
                  </a:txBody>
                  <a:tcPr/>
                </a:tc>
                <a:extLst>
                  <a:ext uri="{0D108BD9-81ED-4DB2-BD59-A6C34878D82A}">
                    <a16:rowId xmlns:a16="http://schemas.microsoft.com/office/drawing/2014/main" val="1361638857"/>
                  </a:ext>
                </a:extLst>
              </a:tr>
              <a:tr h="370840">
                <a:tc>
                  <a:txBody>
                    <a:bodyPr/>
                    <a:lstStyle/>
                    <a:p>
                      <a:r>
                        <a:rPr lang="en-US" dirty="0"/>
                        <a:t>FEV1 % Predicted</a:t>
                      </a:r>
                      <a:br>
                        <a:rPr lang="en-US" dirty="0"/>
                      </a:br>
                      <a:r>
                        <a:rPr lang="en-US" dirty="0"/>
                        <a:t>        Missing</a:t>
                      </a:r>
                    </a:p>
                  </a:txBody>
                  <a:tcPr/>
                </a:tc>
                <a:tc>
                  <a:txBody>
                    <a:bodyPr/>
                    <a:lstStyle/>
                    <a:p>
                      <a:pPr algn="ctr"/>
                      <a:r>
                        <a:rPr lang="en-US" dirty="0"/>
                        <a:t>76.4 (20.1)</a:t>
                      </a:r>
                      <a:br>
                        <a:rPr lang="en-US" dirty="0"/>
                      </a:br>
                      <a:r>
                        <a:rPr lang="en-US" dirty="0"/>
                        <a:t>0 (0%)</a:t>
                      </a:r>
                    </a:p>
                  </a:txBody>
                  <a:tcPr/>
                </a:tc>
                <a:tc>
                  <a:txBody>
                    <a:bodyPr/>
                    <a:lstStyle/>
                    <a:p>
                      <a:pPr algn="ctr"/>
                      <a:r>
                        <a:rPr lang="en-US" dirty="0"/>
                        <a:t>77.6 (32.1)</a:t>
                      </a:r>
                      <a:br>
                        <a:rPr lang="en-US" dirty="0"/>
                      </a:br>
                      <a:r>
                        <a:rPr lang="en-US" dirty="0"/>
                        <a:t>0 (0%)</a:t>
                      </a:r>
                    </a:p>
                  </a:txBody>
                  <a:tcPr/>
                </a:tc>
                <a:tc>
                  <a:txBody>
                    <a:bodyPr/>
                    <a:lstStyle/>
                    <a:p>
                      <a:pPr algn="ctr"/>
                      <a:r>
                        <a:rPr lang="en-US" dirty="0"/>
                        <a:t>85.4 (12.1)</a:t>
                      </a:r>
                      <a:br>
                        <a:rPr lang="en-US" dirty="0"/>
                      </a:br>
                      <a:r>
                        <a:rPr lang="en-US" dirty="0"/>
                        <a:t>0 (0%)</a:t>
                      </a:r>
                    </a:p>
                  </a:txBody>
                  <a:tcPr/>
                </a:tc>
                <a:tc>
                  <a:txBody>
                    <a:bodyPr/>
                    <a:lstStyle/>
                    <a:p>
                      <a:pPr algn="ctr"/>
                      <a:r>
                        <a:rPr lang="en-US" dirty="0"/>
                        <a:t>73.4 (19.0)</a:t>
                      </a:r>
                      <a:br>
                        <a:rPr lang="en-US" dirty="0"/>
                      </a:br>
                      <a:r>
                        <a:rPr lang="en-US" dirty="0"/>
                        <a:t>1 (10%)</a:t>
                      </a:r>
                    </a:p>
                  </a:txBody>
                  <a:tcPr/>
                </a:tc>
                <a:extLst>
                  <a:ext uri="{0D108BD9-81ED-4DB2-BD59-A6C34878D82A}">
                    <a16:rowId xmlns:a16="http://schemas.microsoft.com/office/drawing/2014/main" val="1731015823"/>
                  </a:ext>
                </a:extLst>
              </a:tr>
              <a:tr h="370840">
                <a:tc>
                  <a:txBody>
                    <a:bodyPr/>
                    <a:lstStyle/>
                    <a:p>
                      <a:r>
                        <a:rPr lang="en-US" dirty="0"/>
                        <a:t>FVC % Predicted</a:t>
                      </a:r>
                      <a:br>
                        <a:rPr lang="en-US" dirty="0"/>
                      </a:br>
                      <a:r>
                        <a:rPr lang="en-US" dirty="0"/>
                        <a:t>        Missing</a:t>
                      </a:r>
                    </a:p>
                  </a:txBody>
                  <a:tcPr/>
                </a:tc>
                <a:tc>
                  <a:txBody>
                    <a:bodyPr/>
                    <a:lstStyle/>
                    <a:p>
                      <a:pPr algn="ctr"/>
                      <a:r>
                        <a:rPr lang="en-US" dirty="0"/>
                        <a:t>91.0 (19.1)</a:t>
                      </a:r>
                      <a:br>
                        <a:rPr lang="en-US" dirty="0"/>
                      </a:br>
                      <a:r>
                        <a:rPr lang="en-US" dirty="0"/>
                        <a:t>0 (0%)</a:t>
                      </a:r>
                    </a:p>
                  </a:txBody>
                  <a:tcPr/>
                </a:tc>
                <a:tc>
                  <a:txBody>
                    <a:bodyPr/>
                    <a:lstStyle/>
                    <a:p>
                      <a:pPr algn="ctr"/>
                      <a:r>
                        <a:rPr lang="en-US" dirty="0"/>
                        <a:t>89.0 (28.3)</a:t>
                      </a:r>
                      <a:br>
                        <a:rPr lang="en-US" dirty="0"/>
                      </a:br>
                      <a:r>
                        <a:rPr lang="en-US" dirty="0"/>
                        <a:t>0 (0%)</a:t>
                      </a:r>
                    </a:p>
                  </a:txBody>
                  <a:tcPr/>
                </a:tc>
                <a:tc>
                  <a:txBody>
                    <a:bodyPr/>
                    <a:lstStyle/>
                    <a:p>
                      <a:pPr algn="ctr"/>
                      <a:r>
                        <a:rPr lang="en-US" dirty="0"/>
                        <a:t>97.1 (12.8)</a:t>
                      </a:r>
                      <a:br>
                        <a:rPr lang="en-US" dirty="0"/>
                      </a:br>
                      <a:r>
                        <a:rPr lang="en-US" dirty="0"/>
                        <a:t>0 (0%)</a:t>
                      </a:r>
                    </a:p>
                  </a:txBody>
                  <a:tcPr/>
                </a:tc>
                <a:tc>
                  <a:txBody>
                    <a:bodyPr/>
                    <a:lstStyle/>
                    <a:p>
                      <a:pPr algn="ctr"/>
                      <a:r>
                        <a:rPr lang="en-US" dirty="0"/>
                        <a:t>85.1 (11.4)</a:t>
                      </a:r>
                      <a:br>
                        <a:rPr lang="en-US" dirty="0"/>
                      </a:br>
                      <a:r>
                        <a:rPr lang="en-US" dirty="0"/>
                        <a:t>1 (10%)</a:t>
                      </a:r>
                    </a:p>
                  </a:txBody>
                  <a:tcPr/>
                </a:tc>
                <a:extLst>
                  <a:ext uri="{0D108BD9-81ED-4DB2-BD59-A6C34878D82A}">
                    <a16:rowId xmlns:a16="http://schemas.microsoft.com/office/drawing/2014/main" val="2829364168"/>
                  </a:ext>
                </a:extLst>
              </a:tr>
              <a:tr h="370840">
                <a:tc>
                  <a:txBody>
                    <a:bodyPr/>
                    <a:lstStyle/>
                    <a:p>
                      <a:r>
                        <a:rPr lang="en-US" dirty="0"/>
                        <a:t>PES Total</a:t>
                      </a:r>
                    </a:p>
                  </a:txBody>
                  <a:tcPr/>
                </a:tc>
                <a:tc>
                  <a:txBody>
                    <a:bodyPr/>
                    <a:lstStyle/>
                    <a:p>
                      <a:pPr algn="ctr"/>
                      <a:r>
                        <a:rPr lang="en-US" dirty="0"/>
                        <a:t>11.4 (2.13)</a:t>
                      </a:r>
                    </a:p>
                  </a:txBody>
                  <a:tcPr/>
                </a:tc>
                <a:tc>
                  <a:txBody>
                    <a:bodyPr/>
                    <a:lstStyle/>
                    <a:p>
                      <a:pPr algn="ctr"/>
                      <a:r>
                        <a:rPr lang="en-US" dirty="0"/>
                        <a:t>11.2 (2.59)</a:t>
                      </a:r>
                    </a:p>
                  </a:txBody>
                  <a:tcPr/>
                </a:tc>
                <a:tc>
                  <a:txBody>
                    <a:bodyPr/>
                    <a:lstStyle/>
                    <a:p>
                      <a:pPr algn="ctr"/>
                      <a:r>
                        <a:rPr lang="en-US" dirty="0"/>
                        <a:t>12.0 (2.31)</a:t>
                      </a:r>
                    </a:p>
                  </a:txBody>
                  <a:tcPr/>
                </a:tc>
                <a:tc>
                  <a:txBody>
                    <a:bodyPr/>
                    <a:lstStyle/>
                    <a:p>
                      <a:pPr algn="ctr"/>
                      <a:r>
                        <a:rPr lang="en-US" dirty="0"/>
                        <a:t>11.0 (3.74)</a:t>
                      </a:r>
                    </a:p>
                  </a:txBody>
                  <a:tcPr/>
                </a:tc>
                <a:extLst>
                  <a:ext uri="{0D108BD9-81ED-4DB2-BD59-A6C34878D82A}">
                    <a16:rowId xmlns:a16="http://schemas.microsoft.com/office/drawing/2014/main" val="420615398"/>
                  </a:ext>
                </a:extLst>
              </a:tr>
            </a:tbl>
          </a:graphicData>
        </a:graphic>
      </p:graphicFrame>
      <p:sp>
        <p:nvSpPr>
          <p:cNvPr id="2" name="Title 1">
            <a:extLst>
              <a:ext uri="{FF2B5EF4-FFF2-40B4-BE49-F238E27FC236}">
                <a16:creationId xmlns:a16="http://schemas.microsoft.com/office/drawing/2014/main" id="{76D52E80-C66E-B530-C62B-57A792302831}"/>
              </a:ext>
            </a:extLst>
          </p:cNvPr>
          <p:cNvSpPr>
            <a:spLocks noGrp="1"/>
          </p:cNvSpPr>
          <p:nvPr>
            <p:ph type="title"/>
          </p:nvPr>
        </p:nvSpPr>
        <p:spPr>
          <a:xfrm>
            <a:off x="641970" y="0"/>
            <a:ext cx="12327294" cy="1325563"/>
          </a:xfrm>
        </p:spPr>
        <p:txBody>
          <a:bodyPr>
            <a:normAutofit/>
          </a:bodyPr>
          <a:lstStyle/>
          <a:p>
            <a:r>
              <a:rPr lang="en-US" dirty="0"/>
              <a:t>Cluster Demographic and Clinical Descriptions</a:t>
            </a:r>
          </a:p>
        </p:txBody>
      </p:sp>
      <p:sp>
        <p:nvSpPr>
          <p:cNvPr id="9" name="Content Placeholder 2">
            <a:extLst>
              <a:ext uri="{FF2B5EF4-FFF2-40B4-BE49-F238E27FC236}">
                <a16:creationId xmlns:a16="http://schemas.microsoft.com/office/drawing/2014/main" id="{2963F7AD-1CEA-B133-E013-8E382E66BD49}"/>
              </a:ext>
            </a:extLst>
          </p:cNvPr>
          <p:cNvSpPr txBox="1">
            <a:spLocks/>
          </p:cNvSpPr>
          <p:nvPr/>
        </p:nvSpPr>
        <p:spPr>
          <a:xfrm>
            <a:off x="577599" y="927581"/>
            <a:ext cx="4330067" cy="10454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No significant associations were found between missing data and cluster assignment (all p &gt; 0.38)</a:t>
            </a:r>
          </a:p>
        </p:txBody>
      </p:sp>
    </p:spTree>
    <p:extLst>
      <p:ext uri="{BB962C8B-B14F-4D97-AF65-F5344CB8AC3E}">
        <p14:creationId xmlns:p14="http://schemas.microsoft.com/office/powerpoint/2010/main" val="1181814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35C716-FF71-208A-F26E-367138DE6B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401" y="1365917"/>
            <a:ext cx="7908599" cy="5492083"/>
          </a:xfrm>
          <a:prstGeom prst="rect">
            <a:avLst/>
          </a:prstGeom>
        </p:spPr>
      </p:pic>
      <p:sp>
        <p:nvSpPr>
          <p:cNvPr id="6" name="Title 1">
            <a:extLst>
              <a:ext uri="{FF2B5EF4-FFF2-40B4-BE49-F238E27FC236}">
                <a16:creationId xmlns:a16="http://schemas.microsoft.com/office/drawing/2014/main" id="{284EAE91-A47E-C916-24E2-24D43FC678EC}"/>
              </a:ext>
            </a:extLst>
          </p:cNvPr>
          <p:cNvSpPr>
            <a:spLocks noGrp="1"/>
          </p:cNvSpPr>
          <p:nvPr>
            <p:ph type="title"/>
          </p:nvPr>
        </p:nvSpPr>
        <p:spPr>
          <a:xfrm>
            <a:off x="838200" y="365125"/>
            <a:ext cx="10515600" cy="1325563"/>
          </a:xfrm>
        </p:spPr>
        <p:txBody>
          <a:bodyPr/>
          <a:lstStyle/>
          <a:p>
            <a:r>
              <a:rPr lang="en-US" dirty="0"/>
              <a:t>FEV1/FVC Across Visits</a:t>
            </a:r>
          </a:p>
        </p:txBody>
      </p:sp>
      <p:sp>
        <p:nvSpPr>
          <p:cNvPr id="7" name="Content Placeholder 2">
            <a:extLst>
              <a:ext uri="{FF2B5EF4-FFF2-40B4-BE49-F238E27FC236}">
                <a16:creationId xmlns:a16="http://schemas.microsoft.com/office/drawing/2014/main" id="{8493C406-6455-18C1-3959-40C6D9775D5F}"/>
              </a:ext>
            </a:extLst>
          </p:cNvPr>
          <p:cNvSpPr txBox="1">
            <a:spLocks/>
          </p:cNvSpPr>
          <p:nvPr/>
        </p:nvSpPr>
        <p:spPr>
          <a:xfrm>
            <a:off x="838200" y="1690688"/>
            <a:ext cx="3124201" cy="429342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Times:</a:t>
            </a:r>
          </a:p>
          <a:p>
            <a:pPr lvl="1"/>
            <a:r>
              <a:rPr lang="en-US" dirty="0"/>
              <a:t>1: Admission</a:t>
            </a:r>
          </a:p>
          <a:p>
            <a:pPr lvl="1"/>
            <a:r>
              <a:rPr lang="en-US" dirty="0"/>
              <a:t>2: Discharge</a:t>
            </a:r>
          </a:p>
          <a:p>
            <a:pPr lvl="1"/>
            <a:r>
              <a:rPr lang="en-US" dirty="0"/>
              <a:t>3: Follow-up </a:t>
            </a:r>
            <a:br>
              <a:rPr lang="en-US" dirty="0"/>
            </a:br>
            <a:r>
              <a:rPr lang="en-US" dirty="0"/>
              <a:t>	 (1 month)</a:t>
            </a:r>
          </a:p>
          <a:p>
            <a:r>
              <a:rPr lang="en-US" dirty="0"/>
              <a:t>No demographic or clinical characteristics were statistically significant after FDR adjustment</a:t>
            </a:r>
          </a:p>
        </p:txBody>
      </p:sp>
    </p:spTree>
    <p:extLst>
      <p:ext uri="{BB962C8B-B14F-4D97-AF65-F5344CB8AC3E}">
        <p14:creationId xmlns:p14="http://schemas.microsoft.com/office/powerpoint/2010/main" val="2705741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06E8F-F16D-271C-0127-88FAD9ED5E79}"/>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87472831-A172-5042-668D-1C4BA36CA481}"/>
              </a:ext>
            </a:extLst>
          </p:cNvPr>
          <p:cNvSpPr>
            <a:spLocks noGrp="1"/>
          </p:cNvSpPr>
          <p:nvPr>
            <p:ph idx="1"/>
          </p:nvPr>
        </p:nvSpPr>
        <p:spPr>
          <a:xfrm>
            <a:off x="838200" y="1690688"/>
            <a:ext cx="11353800" cy="5167311"/>
          </a:xfrm>
        </p:spPr>
        <p:txBody>
          <a:bodyPr>
            <a:normAutofit/>
          </a:bodyPr>
          <a:lstStyle/>
          <a:p>
            <a:r>
              <a:rPr lang="en-US" dirty="0"/>
              <a:t>Integrated clusters showed coordinated but distinct microbial and inflammatory patterns</a:t>
            </a:r>
          </a:p>
          <a:p>
            <a:pPr lvl="1"/>
            <a:r>
              <a:rPr lang="en-US" dirty="0"/>
              <a:t>Heightened early inflammation may not impede short-term lung function improvement (Cluster 2)</a:t>
            </a:r>
          </a:p>
          <a:p>
            <a:pPr lvl="2"/>
            <a:r>
              <a:rPr lang="en-US" dirty="0"/>
              <a:t>May provide evidence for bacterial infection that was successfully treated (rather than viral)</a:t>
            </a:r>
          </a:p>
          <a:p>
            <a:pPr lvl="1"/>
            <a:r>
              <a:rPr lang="en-US" dirty="0"/>
              <a:t>Clusters 3 and 4: Similar microbiota, different inflammatory mediators, less FEV1 improvement</a:t>
            </a:r>
          </a:p>
          <a:p>
            <a:pPr lvl="2"/>
            <a:r>
              <a:rPr lang="en-US" dirty="0"/>
              <a:t>Host-response differences may drive variability in </a:t>
            </a:r>
            <a:r>
              <a:rPr lang="en-US" dirty="0" err="1"/>
              <a:t>PEx</a:t>
            </a:r>
            <a:r>
              <a:rPr lang="en-US" dirty="0"/>
              <a:t> outcomes even with comparable microbiomes</a:t>
            </a:r>
          </a:p>
          <a:p>
            <a:r>
              <a:rPr lang="en-US" dirty="0"/>
              <a:t>Findings challenge pathogen-centric or inflammation-centric models and support multidimensional views of </a:t>
            </a:r>
            <a:r>
              <a:rPr lang="en-US" dirty="0" err="1"/>
              <a:t>PEx</a:t>
            </a:r>
            <a:r>
              <a:rPr lang="en-US" dirty="0"/>
              <a:t> biology</a:t>
            </a:r>
          </a:p>
          <a:p>
            <a:pPr lvl="1"/>
            <a:r>
              <a:rPr lang="en-US" dirty="0"/>
              <a:t>Complex relationships between inflammation and clinical recovery</a:t>
            </a:r>
          </a:p>
        </p:txBody>
      </p:sp>
    </p:spTree>
    <p:extLst>
      <p:ext uri="{BB962C8B-B14F-4D97-AF65-F5344CB8AC3E}">
        <p14:creationId xmlns:p14="http://schemas.microsoft.com/office/powerpoint/2010/main" val="26602648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08B79-18DD-EDAA-A9A2-FD1DFC892955}"/>
              </a:ext>
            </a:extLst>
          </p:cNvPr>
          <p:cNvSpPr>
            <a:spLocks noGrp="1"/>
          </p:cNvSpPr>
          <p:nvPr>
            <p:ph type="title"/>
          </p:nvPr>
        </p:nvSpPr>
        <p:spPr/>
        <p:txBody>
          <a:bodyPr>
            <a:normAutofit/>
          </a:bodyPr>
          <a:lstStyle/>
          <a:p>
            <a:r>
              <a:rPr lang="en-US" dirty="0"/>
              <a:t>Previous Work with Dataset </a:t>
            </a:r>
            <a:br>
              <a:rPr lang="en-US" dirty="0"/>
            </a:br>
            <a:r>
              <a:rPr lang="en-US" dirty="0"/>
              <a:t>(</a:t>
            </a:r>
            <a:r>
              <a:rPr lang="en-US" dirty="0" err="1"/>
              <a:t>SmCCNet</a:t>
            </a:r>
            <a:r>
              <a:rPr lang="en-US" dirty="0"/>
              <a:t>)                 				      </a:t>
            </a:r>
            <a:r>
              <a:rPr lang="en-US" sz="2800" dirty="0"/>
              <a:t>Brenton Graham</a:t>
            </a:r>
            <a:endParaRPr lang="en-US" dirty="0"/>
          </a:p>
        </p:txBody>
      </p:sp>
      <p:sp>
        <p:nvSpPr>
          <p:cNvPr id="3" name="Content Placeholder 2">
            <a:extLst>
              <a:ext uri="{FF2B5EF4-FFF2-40B4-BE49-F238E27FC236}">
                <a16:creationId xmlns:a16="http://schemas.microsoft.com/office/drawing/2014/main" id="{AE186BC3-36CA-EDDD-5798-6EE8BFB7D671}"/>
              </a:ext>
            </a:extLst>
          </p:cNvPr>
          <p:cNvSpPr>
            <a:spLocks noGrp="1"/>
          </p:cNvSpPr>
          <p:nvPr>
            <p:ph idx="1"/>
          </p:nvPr>
        </p:nvSpPr>
        <p:spPr>
          <a:xfrm>
            <a:off x="838200" y="1825625"/>
            <a:ext cx="10515600" cy="2281154"/>
          </a:xfrm>
        </p:spPr>
        <p:txBody>
          <a:bodyPr>
            <a:normAutofit/>
          </a:bodyPr>
          <a:lstStyle/>
          <a:p>
            <a:r>
              <a:rPr lang="en-US" dirty="0"/>
              <a:t>Network clustering of bacteria and proteins based on FEV1</a:t>
            </a:r>
          </a:p>
          <a:p>
            <a:r>
              <a:rPr lang="en-US" dirty="0"/>
              <a:t>Overlap in key taxa was found in immune pathways</a:t>
            </a:r>
          </a:p>
          <a:p>
            <a:r>
              <a:rPr lang="en-US" dirty="0"/>
              <a:t>Taxa in pathways were previously shown to correlate positively or negatively with </a:t>
            </a:r>
            <a:r>
              <a:rPr lang="en-US" dirty="0" err="1"/>
              <a:t>PEx</a:t>
            </a:r>
            <a:r>
              <a:rPr lang="en-US" dirty="0"/>
              <a:t> recovery</a:t>
            </a:r>
          </a:p>
          <a:p>
            <a:pPr lvl="1"/>
            <a:r>
              <a:rPr lang="en-US" dirty="0"/>
              <a:t>Supports clinical relevance of microbiome-host interaction patterns</a:t>
            </a:r>
          </a:p>
        </p:txBody>
      </p:sp>
      <p:grpSp>
        <p:nvGrpSpPr>
          <p:cNvPr id="13" name="Group 12">
            <a:extLst>
              <a:ext uri="{FF2B5EF4-FFF2-40B4-BE49-F238E27FC236}">
                <a16:creationId xmlns:a16="http://schemas.microsoft.com/office/drawing/2014/main" id="{4E120263-A7B0-AD25-CD2F-5777FC3E47A2}"/>
              </a:ext>
            </a:extLst>
          </p:cNvPr>
          <p:cNvGrpSpPr/>
          <p:nvPr/>
        </p:nvGrpSpPr>
        <p:grpSpPr>
          <a:xfrm>
            <a:off x="2394737" y="4106779"/>
            <a:ext cx="7009731" cy="2743200"/>
            <a:chOff x="2430380" y="4016248"/>
            <a:chExt cx="7009731" cy="2743200"/>
          </a:xfrm>
        </p:grpSpPr>
        <p:sp>
          <p:nvSpPr>
            <p:cNvPr id="4" name="Oval 3">
              <a:extLst>
                <a:ext uri="{FF2B5EF4-FFF2-40B4-BE49-F238E27FC236}">
                  <a16:creationId xmlns:a16="http://schemas.microsoft.com/office/drawing/2014/main" id="{6916DDF9-4F45-09A1-72BE-2CE63CB4F54F}"/>
                </a:ext>
              </a:extLst>
            </p:cNvPr>
            <p:cNvSpPr/>
            <p:nvPr/>
          </p:nvSpPr>
          <p:spPr>
            <a:xfrm>
              <a:off x="2430380" y="4016248"/>
              <a:ext cx="5096042" cy="2743200"/>
            </a:xfrm>
            <a:prstGeom prst="ellipse">
              <a:avLst/>
            </a:prstGeom>
            <a:noFill/>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Oval 5">
              <a:extLst>
                <a:ext uri="{FF2B5EF4-FFF2-40B4-BE49-F238E27FC236}">
                  <a16:creationId xmlns:a16="http://schemas.microsoft.com/office/drawing/2014/main" id="{6445D954-325B-88AB-E741-4202FB059ED5}"/>
                </a:ext>
              </a:extLst>
            </p:cNvPr>
            <p:cNvSpPr/>
            <p:nvPr/>
          </p:nvSpPr>
          <p:spPr>
            <a:xfrm>
              <a:off x="4344069" y="4016248"/>
              <a:ext cx="5096042" cy="2743200"/>
            </a:xfrm>
            <a:prstGeom prst="ellipse">
              <a:avLst/>
            </a:prstGeom>
            <a:noFill/>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9" name="TextBox 8">
            <a:extLst>
              <a:ext uri="{FF2B5EF4-FFF2-40B4-BE49-F238E27FC236}">
                <a16:creationId xmlns:a16="http://schemas.microsoft.com/office/drawing/2014/main" id="{E0A6CF86-C5EF-19B7-A6B2-84A98D0E0C05}"/>
              </a:ext>
            </a:extLst>
          </p:cNvPr>
          <p:cNvSpPr txBox="1"/>
          <p:nvPr/>
        </p:nvSpPr>
        <p:spPr>
          <a:xfrm>
            <a:off x="4673952" y="4354995"/>
            <a:ext cx="2496855" cy="2246769"/>
          </a:xfrm>
          <a:prstGeom prst="rect">
            <a:avLst/>
          </a:prstGeom>
          <a:noFill/>
        </p:spPr>
        <p:txBody>
          <a:bodyPr wrap="square">
            <a:spAutoFit/>
          </a:bodyPr>
          <a:lstStyle/>
          <a:p>
            <a:pPr algn="ctr"/>
            <a:r>
              <a:rPr lang="en-US" sz="2800" dirty="0" err="1"/>
              <a:t>Prevotella</a:t>
            </a:r>
            <a:endParaRPr lang="en-US" sz="2800" dirty="0"/>
          </a:p>
          <a:p>
            <a:pPr algn="ctr"/>
            <a:r>
              <a:rPr lang="en-US" sz="2800" dirty="0"/>
              <a:t>Neisseria</a:t>
            </a:r>
          </a:p>
          <a:p>
            <a:pPr algn="ctr"/>
            <a:r>
              <a:rPr lang="en-US" sz="2800" dirty="0" err="1"/>
              <a:t>Haemophilus</a:t>
            </a:r>
            <a:endParaRPr lang="en-US" sz="2800" dirty="0"/>
          </a:p>
          <a:p>
            <a:pPr algn="ctr"/>
            <a:r>
              <a:rPr lang="en-US" sz="2800" dirty="0"/>
              <a:t>Streptococcus</a:t>
            </a:r>
          </a:p>
          <a:p>
            <a:pPr algn="ctr"/>
            <a:r>
              <a:rPr lang="en-US" sz="2800" dirty="0" err="1"/>
              <a:t>Veillonella</a:t>
            </a:r>
            <a:endParaRPr lang="en-US" sz="2800" dirty="0"/>
          </a:p>
        </p:txBody>
      </p:sp>
      <p:sp>
        <p:nvSpPr>
          <p:cNvPr id="11" name="Content Placeholder 2">
            <a:extLst>
              <a:ext uri="{FF2B5EF4-FFF2-40B4-BE49-F238E27FC236}">
                <a16:creationId xmlns:a16="http://schemas.microsoft.com/office/drawing/2014/main" id="{211252AC-159D-761B-64D3-A9159CC9BFD8}"/>
              </a:ext>
            </a:extLst>
          </p:cNvPr>
          <p:cNvSpPr txBox="1">
            <a:spLocks/>
          </p:cNvSpPr>
          <p:nvPr/>
        </p:nvSpPr>
        <p:spPr>
          <a:xfrm>
            <a:off x="2532714" y="5195455"/>
            <a:ext cx="2053225" cy="674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SmCCNet</a:t>
            </a:r>
            <a:endParaRPr lang="en-US" dirty="0"/>
          </a:p>
        </p:txBody>
      </p:sp>
      <p:sp>
        <p:nvSpPr>
          <p:cNvPr id="12" name="Content Placeholder 2">
            <a:extLst>
              <a:ext uri="{FF2B5EF4-FFF2-40B4-BE49-F238E27FC236}">
                <a16:creationId xmlns:a16="http://schemas.microsoft.com/office/drawing/2014/main" id="{9D5B0E37-6E75-94D1-2111-3D15AADAD08C}"/>
              </a:ext>
            </a:extLst>
          </p:cNvPr>
          <p:cNvSpPr txBox="1">
            <a:spLocks/>
          </p:cNvSpPr>
          <p:nvPr/>
        </p:nvSpPr>
        <p:spPr>
          <a:xfrm>
            <a:off x="7856305" y="5141010"/>
            <a:ext cx="2053225" cy="6747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MMOC</a:t>
            </a:r>
          </a:p>
        </p:txBody>
      </p:sp>
    </p:spTree>
    <p:extLst>
      <p:ext uri="{BB962C8B-B14F-4D97-AF65-F5344CB8AC3E}">
        <p14:creationId xmlns:p14="http://schemas.microsoft.com/office/powerpoint/2010/main" val="361450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7232-81B8-A9EA-C66C-752884A5DA1A}"/>
              </a:ext>
            </a:extLst>
          </p:cNvPr>
          <p:cNvSpPr>
            <a:spLocks noGrp="1"/>
          </p:cNvSpPr>
          <p:nvPr>
            <p:ph type="title"/>
          </p:nvPr>
        </p:nvSpPr>
        <p:spPr/>
        <p:txBody>
          <a:bodyPr/>
          <a:lstStyle/>
          <a:p>
            <a:r>
              <a:rPr lang="en-US" dirty="0"/>
              <a:t>Connections to the Literature</a:t>
            </a:r>
          </a:p>
        </p:txBody>
      </p:sp>
      <p:sp>
        <p:nvSpPr>
          <p:cNvPr id="3" name="Content Placeholder 2">
            <a:extLst>
              <a:ext uri="{FF2B5EF4-FFF2-40B4-BE49-F238E27FC236}">
                <a16:creationId xmlns:a16="http://schemas.microsoft.com/office/drawing/2014/main" id="{3F6A726C-AAFE-13F7-5014-29C79FF32969}"/>
              </a:ext>
            </a:extLst>
          </p:cNvPr>
          <p:cNvSpPr>
            <a:spLocks noGrp="1"/>
          </p:cNvSpPr>
          <p:nvPr>
            <p:ph idx="1"/>
          </p:nvPr>
        </p:nvSpPr>
        <p:spPr/>
        <p:txBody>
          <a:bodyPr>
            <a:normAutofit/>
          </a:bodyPr>
          <a:lstStyle/>
          <a:p>
            <a:r>
              <a:rPr lang="en-US" dirty="0"/>
              <a:t>Prior studies propose underlying biological structure within clinically heterogeneous </a:t>
            </a:r>
            <a:r>
              <a:rPr lang="en-US" dirty="0" err="1"/>
              <a:t>PEx</a:t>
            </a:r>
            <a:endParaRPr lang="en-US" dirty="0"/>
          </a:p>
          <a:p>
            <a:pPr lvl="1"/>
            <a:r>
              <a:rPr lang="en-US" dirty="0"/>
              <a:t>Widder et al. identified distinct microbial phenotypes associated with treatment response</a:t>
            </a:r>
          </a:p>
          <a:p>
            <a:pPr lvl="2"/>
            <a:r>
              <a:rPr lang="en-US" dirty="0"/>
              <a:t>Adult cohort, traditional CF pathogens</a:t>
            </a:r>
          </a:p>
          <a:p>
            <a:pPr lvl="2"/>
            <a:r>
              <a:rPr lang="en-US" dirty="0"/>
              <a:t>Demonstrated biologically meaningful subgrouping</a:t>
            </a:r>
          </a:p>
          <a:p>
            <a:r>
              <a:rPr lang="en-US" dirty="0"/>
              <a:t>Together, findings suggest microbiome-host interaction patterns may be relevant across age groups, even with different dominant taxa</a:t>
            </a:r>
          </a:p>
        </p:txBody>
      </p:sp>
    </p:spTree>
    <p:extLst>
      <p:ext uri="{BB962C8B-B14F-4D97-AF65-F5344CB8AC3E}">
        <p14:creationId xmlns:p14="http://schemas.microsoft.com/office/powerpoint/2010/main" val="685597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70A1A-3BEA-D55F-8C29-2D404CFDF1FA}"/>
              </a:ext>
            </a:extLst>
          </p:cNvPr>
          <p:cNvSpPr>
            <a:spLocks noGrp="1"/>
          </p:cNvSpPr>
          <p:nvPr>
            <p:ph type="title"/>
          </p:nvPr>
        </p:nvSpPr>
        <p:spPr/>
        <p:txBody>
          <a:bodyPr/>
          <a:lstStyle/>
          <a:p>
            <a:r>
              <a:rPr lang="en-US" dirty="0"/>
              <a:t>Limitations</a:t>
            </a:r>
          </a:p>
        </p:txBody>
      </p:sp>
      <p:sp>
        <p:nvSpPr>
          <p:cNvPr id="3" name="Content Placeholder 2">
            <a:extLst>
              <a:ext uri="{FF2B5EF4-FFF2-40B4-BE49-F238E27FC236}">
                <a16:creationId xmlns:a16="http://schemas.microsoft.com/office/drawing/2014/main" id="{3E37B686-DD44-AA29-A5F3-326530CE8FC5}"/>
              </a:ext>
            </a:extLst>
          </p:cNvPr>
          <p:cNvSpPr>
            <a:spLocks noGrp="1"/>
          </p:cNvSpPr>
          <p:nvPr>
            <p:ph idx="1"/>
          </p:nvPr>
        </p:nvSpPr>
        <p:spPr/>
        <p:txBody>
          <a:bodyPr/>
          <a:lstStyle/>
          <a:p>
            <a:r>
              <a:rPr lang="en-US" dirty="0"/>
              <a:t>Sample Size (N = 31; cost-prohibitive)</a:t>
            </a:r>
          </a:p>
          <a:p>
            <a:r>
              <a:rPr lang="en-US" dirty="0"/>
              <a:t>Proteomics from blood, not airway</a:t>
            </a:r>
          </a:p>
          <a:p>
            <a:r>
              <a:rPr lang="en-US" dirty="0"/>
              <a:t>Only looked at bacterial infections, not viral infections</a:t>
            </a:r>
          </a:p>
          <a:p>
            <a:r>
              <a:rPr lang="en-US" dirty="0"/>
              <a:t>Data collected before drug modulator therapies (2010-2012)</a:t>
            </a:r>
          </a:p>
          <a:p>
            <a:r>
              <a:rPr lang="en-US" dirty="0"/>
              <a:t>Distance Matrix (Euclidean)</a:t>
            </a:r>
          </a:p>
          <a:p>
            <a:pPr lvl="1"/>
            <a:r>
              <a:rPr lang="en-US" dirty="0"/>
              <a:t>Microbiome may benefit from ecological distance measures</a:t>
            </a:r>
          </a:p>
          <a:p>
            <a:r>
              <a:rPr lang="en-US" i="1" dirty="0"/>
              <a:t>a priori </a:t>
            </a:r>
            <a:r>
              <a:rPr lang="en-US" dirty="0"/>
              <a:t>specification of the number of clusters </a:t>
            </a:r>
          </a:p>
          <a:p>
            <a:r>
              <a:rPr lang="en-US" dirty="0"/>
              <a:t>Cluster assignments are sensitive to selected feature set</a:t>
            </a:r>
          </a:p>
        </p:txBody>
      </p:sp>
    </p:spTree>
    <p:extLst>
      <p:ext uri="{BB962C8B-B14F-4D97-AF65-F5344CB8AC3E}">
        <p14:creationId xmlns:p14="http://schemas.microsoft.com/office/powerpoint/2010/main" val="4251989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695FB-6E7E-94A0-D31A-9C75D4A27C8A}"/>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976EDABB-01CE-6F55-F454-88B3E7C8CB14}"/>
              </a:ext>
            </a:extLst>
          </p:cNvPr>
          <p:cNvSpPr>
            <a:spLocks noGrp="1"/>
          </p:cNvSpPr>
          <p:nvPr>
            <p:ph idx="1"/>
          </p:nvPr>
        </p:nvSpPr>
        <p:spPr/>
        <p:txBody>
          <a:bodyPr/>
          <a:lstStyle/>
          <a:p>
            <a:r>
              <a:rPr lang="en-US" dirty="0"/>
              <a:t>Longitudinal multi-</a:t>
            </a:r>
            <a:r>
              <a:rPr lang="en-US" dirty="0" err="1"/>
              <a:t>omic</a:t>
            </a:r>
            <a:r>
              <a:rPr lang="en-US" dirty="0"/>
              <a:t> analysis</a:t>
            </a:r>
          </a:p>
          <a:p>
            <a:r>
              <a:rPr lang="en-US" dirty="0"/>
              <a:t>Alternative distance matrices </a:t>
            </a:r>
          </a:p>
          <a:p>
            <a:r>
              <a:rPr lang="en-US" dirty="0"/>
              <a:t>Comparing multi-</a:t>
            </a:r>
            <a:r>
              <a:rPr lang="en-US" dirty="0" err="1"/>
              <a:t>omic</a:t>
            </a:r>
            <a:r>
              <a:rPr lang="en-US" dirty="0"/>
              <a:t> clustering algorithms </a:t>
            </a:r>
          </a:p>
          <a:p>
            <a:r>
              <a:rPr lang="en-US" dirty="0"/>
              <a:t>Applying clusters to a different cohort</a:t>
            </a:r>
          </a:p>
          <a:p>
            <a:pPr lvl="1"/>
            <a:r>
              <a:rPr lang="en-US" dirty="0"/>
              <a:t>Can you apply single-</a:t>
            </a:r>
            <a:r>
              <a:rPr lang="en-US" dirty="0" err="1"/>
              <a:t>omic</a:t>
            </a:r>
            <a:r>
              <a:rPr lang="en-US" dirty="0"/>
              <a:t> individuals to one of these clusters?</a:t>
            </a:r>
          </a:p>
          <a:p>
            <a:r>
              <a:rPr lang="en-US" dirty="0"/>
              <a:t>Quantify clustering stability based on feature sets</a:t>
            </a:r>
          </a:p>
          <a:p>
            <a:r>
              <a:rPr lang="en-US" dirty="0"/>
              <a:t>What is happening with those few individuals who are always in a separate cluster?</a:t>
            </a:r>
          </a:p>
        </p:txBody>
      </p:sp>
    </p:spTree>
    <p:extLst>
      <p:ext uri="{BB962C8B-B14F-4D97-AF65-F5344CB8AC3E}">
        <p14:creationId xmlns:p14="http://schemas.microsoft.com/office/powerpoint/2010/main" val="310211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A00FC-BC56-C555-7273-406165F3FDA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6DAA81A-6F51-3AC6-F1D7-23A457D561E6}"/>
              </a:ext>
            </a:extLst>
          </p:cNvPr>
          <p:cNvSpPr>
            <a:spLocks noGrp="1"/>
          </p:cNvSpPr>
          <p:nvPr>
            <p:ph idx="1"/>
          </p:nvPr>
        </p:nvSpPr>
        <p:spPr/>
        <p:txBody>
          <a:bodyPr>
            <a:normAutofit/>
          </a:bodyPr>
          <a:lstStyle/>
          <a:p>
            <a:r>
              <a:rPr lang="en-US" dirty="0"/>
              <a:t>Integrated clustering reveals distinct </a:t>
            </a:r>
            <a:r>
              <a:rPr lang="en-US" dirty="0" err="1"/>
              <a:t>PEx</a:t>
            </a:r>
            <a:r>
              <a:rPr lang="en-US" dirty="0"/>
              <a:t> subgroups not apparent from single-</a:t>
            </a:r>
            <a:r>
              <a:rPr lang="en-US" dirty="0" err="1"/>
              <a:t>omic</a:t>
            </a:r>
            <a:r>
              <a:rPr lang="en-US" dirty="0"/>
              <a:t> approaches</a:t>
            </a:r>
          </a:p>
          <a:p>
            <a:r>
              <a:rPr lang="en-US" dirty="0"/>
              <a:t>Flexible, multi-</a:t>
            </a:r>
            <a:r>
              <a:rPr lang="en-US" dirty="0" err="1"/>
              <a:t>omic</a:t>
            </a:r>
            <a:r>
              <a:rPr lang="en-US" dirty="0"/>
              <a:t> integration frameworks are needed to reflect biological complexity</a:t>
            </a:r>
          </a:p>
          <a:p>
            <a:r>
              <a:rPr lang="en-US" dirty="0"/>
              <a:t>Findings reinforce that CF </a:t>
            </a:r>
            <a:r>
              <a:rPr lang="en-US" dirty="0" err="1"/>
              <a:t>PEx</a:t>
            </a:r>
            <a:r>
              <a:rPr lang="en-US" dirty="0"/>
              <a:t> are biologically heterogeneous</a:t>
            </a:r>
          </a:p>
          <a:p>
            <a:pPr lvl="1"/>
            <a:r>
              <a:rPr lang="en-US" dirty="0"/>
              <a:t>Multi-omics approaches may help define clinically relevant </a:t>
            </a:r>
            <a:r>
              <a:rPr lang="en-US" dirty="0" err="1"/>
              <a:t>PEx</a:t>
            </a:r>
            <a:r>
              <a:rPr lang="en-US" dirty="0"/>
              <a:t> subtypes and explain variability in treatment response</a:t>
            </a:r>
          </a:p>
        </p:txBody>
      </p:sp>
    </p:spTree>
    <p:extLst>
      <p:ext uri="{BB962C8B-B14F-4D97-AF65-F5344CB8AC3E}">
        <p14:creationId xmlns:p14="http://schemas.microsoft.com/office/powerpoint/2010/main" val="2863867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bionic-vision.org | Institutions | University of Colorado Anschutz Medical  Campus">
            <a:extLst>
              <a:ext uri="{FF2B5EF4-FFF2-40B4-BE49-F238E27FC236}">
                <a16:creationId xmlns:a16="http://schemas.microsoft.com/office/drawing/2014/main" id="{3F393AC6-52FC-21AB-2455-C44040F9DC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357" y="4737009"/>
            <a:ext cx="3552790" cy="203879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D2FC290-6ECD-637A-F2EF-5493BCA9391A}"/>
              </a:ext>
            </a:extLst>
          </p:cNvPr>
          <p:cNvSpPr>
            <a:spLocks noGrp="1"/>
          </p:cNvSpPr>
          <p:nvPr>
            <p:ph type="title"/>
          </p:nvPr>
        </p:nvSpPr>
        <p:spPr/>
        <p:txBody>
          <a:bodyPr/>
          <a:lstStyle/>
          <a:p>
            <a:r>
              <a:rPr lang="en-US" dirty="0"/>
              <a:t>Thank You and Acknowledgements </a:t>
            </a:r>
          </a:p>
        </p:txBody>
      </p:sp>
      <p:sp>
        <p:nvSpPr>
          <p:cNvPr id="3" name="Content Placeholder 2">
            <a:extLst>
              <a:ext uri="{FF2B5EF4-FFF2-40B4-BE49-F238E27FC236}">
                <a16:creationId xmlns:a16="http://schemas.microsoft.com/office/drawing/2014/main" id="{99369783-599E-F617-200A-BCD93A685B34}"/>
              </a:ext>
            </a:extLst>
          </p:cNvPr>
          <p:cNvSpPr>
            <a:spLocks noGrp="1"/>
          </p:cNvSpPr>
          <p:nvPr>
            <p:ph idx="1"/>
          </p:nvPr>
        </p:nvSpPr>
        <p:spPr>
          <a:xfrm>
            <a:off x="838200" y="1825625"/>
            <a:ext cx="10515600" cy="4351338"/>
          </a:xfrm>
        </p:spPr>
        <p:txBody>
          <a:bodyPr>
            <a:normAutofit lnSpcReduction="10000"/>
          </a:bodyPr>
          <a:lstStyle/>
          <a:p>
            <a:r>
              <a:rPr lang="en-US" dirty="0"/>
              <a:t>Committee</a:t>
            </a:r>
          </a:p>
          <a:p>
            <a:pPr lvl="1"/>
            <a:r>
              <a:rPr lang="en-US" dirty="0"/>
              <a:t>Brandie Wagner</a:t>
            </a:r>
          </a:p>
          <a:p>
            <a:pPr lvl="1"/>
            <a:r>
              <a:rPr lang="en-US" dirty="0" err="1"/>
              <a:t>Debashis</a:t>
            </a:r>
            <a:r>
              <a:rPr lang="en-US" dirty="0"/>
              <a:t> Ghosh</a:t>
            </a:r>
          </a:p>
          <a:p>
            <a:pPr lvl="1"/>
            <a:r>
              <a:rPr lang="en-US" dirty="0"/>
              <a:t>Kirk Harris</a:t>
            </a:r>
          </a:p>
          <a:p>
            <a:r>
              <a:rPr lang="en-US" dirty="0"/>
              <a:t>Additional Research &amp; Technical Contributors</a:t>
            </a:r>
          </a:p>
          <a:p>
            <a:pPr lvl="1"/>
            <a:r>
              <a:rPr lang="en-US" dirty="0"/>
              <a:t>Charlie Carpenter</a:t>
            </a:r>
          </a:p>
          <a:p>
            <a:pPr lvl="1"/>
            <a:r>
              <a:rPr lang="en-US" dirty="0"/>
              <a:t>Edith </a:t>
            </a:r>
            <a:r>
              <a:rPr lang="en-US" dirty="0" err="1"/>
              <a:t>Zemanick</a:t>
            </a:r>
            <a:endParaRPr lang="en-US" dirty="0"/>
          </a:p>
          <a:p>
            <a:pPr lvl="1"/>
            <a:r>
              <a:rPr lang="en-US" dirty="0"/>
              <a:t>Brenton Graham</a:t>
            </a:r>
          </a:p>
          <a:p>
            <a:r>
              <a:rPr lang="en-US" dirty="0"/>
              <a:t>Administrative Support</a:t>
            </a:r>
          </a:p>
          <a:p>
            <a:pPr lvl="1"/>
            <a:r>
              <a:rPr lang="en-US" dirty="0"/>
              <a:t>Rocío Vélez-Pesante</a:t>
            </a:r>
          </a:p>
          <a:p>
            <a:pPr lvl="1"/>
            <a:r>
              <a:rPr lang="en-US" dirty="0"/>
              <a:t>Brenda Witt</a:t>
            </a:r>
          </a:p>
          <a:p>
            <a:pPr marL="457200" lvl="1" indent="0">
              <a:buNone/>
            </a:pPr>
            <a:endParaRPr lang="en-US" dirty="0"/>
          </a:p>
        </p:txBody>
      </p:sp>
      <p:pic>
        <p:nvPicPr>
          <p:cNvPr id="1026" name="Picture 2" descr="Center for Global Health | Colorado School of Public Health">
            <a:extLst>
              <a:ext uri="{FF2B5EF4-FFF2-40B4-BE49-F238E27FC236}">
                <a16:creationId xmlns:a16="http://schemas.microsoft.com/office/drawing/2014/main" id="{155F9CF4-B6D8-F5B1-A719-98415E63B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9437" y="4001294"/>
            <a:ext cx="3908710" cy="859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720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D619A-8BD7-8E04-2A30-B212DBE631CE}"/>
              </a:ext>
            </a:extLst>
          </p:cNvPr>
          <p:cNvSpPr>
            <a:spLocks noGrp="1"/>
          </p:cNvSpPr>
          <p:nvPr>
            <p:ph type="ctrTitle"/>
          </p:nvPr>
        </p:nvSpPr>
        <p:spPr/>
        <p:txBody>
          <a:bodyPr/>
          <a:lstStyle/>
          <a:p>
            <a:r>
              <a:rPr lang="en-US" dirty="0"/>
              <a:t>Questions?</a:t>
            </a:r>
          </a:p>
        </p:txBody>
      </p:sp>
    </p:spTree>
    <p:extLst>
      <p:ext uri="{BB962C8B-B14F-4D97-AF65-F5344CB8AC3E}">
        <p14:creationId xmlns:p14="http://schemas.microsoft.com/office/powerpoint/2010/main" val="1798288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D584D-38E7-EEDE-74BC-0AF88F3B8F21}"/>
              </a:ext>
            </a:extLst>
          </p:cNvPr>
          <p:cNvSpPr>
            <a:spLocks noGrp="1"/>
          </p:cNvSpPr>
          <p:nvPr>
            <p:ph type="ctrTitle"/>
          </p:nvPr>
        </p:nvSpPr>
        <p:spPr/>
        <p:txBody>
          <a:bodyPr/>
          <a:lstStyle/>
          <a:p>
            <a:r>
              <a:rPr lang="en-US" dirty="0"/>
              <a:t>Appendix</a:t>
            </a:r>
          </a:p>
        </p:txBody>
      </p:sp>
    </p:spTree>
    <p:extLst>
      <p:ext uri="{BB962C8B-B14F-4D97-AF65-F5344CB8AC3E}">
        <p14:creationId xmlns:p14="http://schemas.microsoft.com/office/powerpoint/2010/main" val="128874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7868-686B-478B-E668-92EAA112ABB8}"/>
              </a:ext>
            </a:extLst>
          </p:cNvPr>
          <p:cNvSpPr>
            <a:spLocks noGrp="1"/>
          </p:cNvSpPr>
          <p:nvPr>
            <p:ph type="title"/>
          </p:nvPr>
        </p:nvSpPr>
        <p:spPr/>
        <p:txBody>
          <a:bodyPr/>
          <a:lstStyle/>
          <a:p>
            <a:r>
              <a:rPr lang="en-US" dirty="0"/>
              <a:t>Data Adjustments	</a:t>
            </a:r>
          </a:p>
        </p:txBody>
      </p:sp>
      <p:sp>
        <p:nvSpPr>
          <p:cNvPr id="3" name="Content Placeholder 2">
            <a:extLst>
              <a:ext uri="{FF2B5EF4-FFF2-40B4-BE49-F238E27FC236}">
                <a16:creationId xmlns:a16="http://schemas.microsoft.com/office/drawing/2014/main" id="{DF953787-BC92-00F2-7FA7-0A71CDFD2778}"/>
              </a:ext>
            </a:extLst>
          </p:cNvPr>
          <p:cNvSpPr>
            <a:spLocks noGrp="1"/>
          </p:cNvSpPr>
          <p:nvPr>
            <p:ph idx="1"/>
          </p:nvPr>
        </p:nvSpPr>
        <p:spPr/>
        <p:txBody>
          <a:bodyPr/>
          <a:lstStyle/>
          <a:p>
            <a:r>
              <a:rPr lang="en-US" dirty="0"/>
              <a:t>Microbiome data</a:t>
            </a:r>
          </a:p>
          <a:p>
            <a:pPr lvl="1"/>
            <a:r>
              <a:rPr lang="en-US" dirty="0"/>
              <a:t>Combined bacterial taxa</a:t>
            </a:r>
          </a:p>
          <a:p>
            <a:pPr lvl="2"/>
            <a:r>
              <a:rPr lang="en-US" dirty="0"/>
              <a:t>Pseudomonas</a:t>
            </a:r>
          </a:p>
          <a:p>
            <a:pPr lvl="2"/>
            <a:r>
              <a:rPr lang="en-US" dirty="0"/>
              <a:t>May need to combine: </a:t>
            </a:r>
            <a:r>
              <a:rPr lang="en-US" dirty="0" err="1"/>
              <a:t>Veillonella</a:t>
            </a:r>
            <a:r>
              <a:rPr lang="en-US" dirty="0"/>
              <a:t>, Fusobacterium </a:t>
            </a:r>
          </a:p>
          <a:p>
            <a:pPr lvl="2"/>
            <a:endParaRPr lang="en-US" dirty="0"/>
          </a:p>
          <a:p>
            <a:r>
              <a:rPr lang="en-US" dirty="0"/>
              <a:t>Proteome data</a:t>
            </a:r>
          </a:p>
          <a:p>
            <a:pPr lvl="1"/>
            <a:r>
              <a:rPr lang="en-US" dirty="0"/>
              <a:t>Removed 106 header rows</a:t>
            </a:r>
          </a:p>
          <a:p>
            <a:pPr lvl="1"/>
            <a:r>
              <a:rPr lang="en-US" dirty="0"/>
              <a:t>Identified extraneous commas present in txt file</a:t>
            </a:r>
          </a:p>
          <a:p>
            <a:pPr lvl="1"/>
            <a:r>
              <a:rPr lang="en-US" dirty="0"/>
              <a:t>Created unique identifier as some targets had the same name</a:t>
            </a:r>
          </a:p>
          <a:p>
            <a:pPr lvl="2"/>
            <a:r>
              <a:rPr lang="en-US" dirty="0"/>
              <a:t>Removed proteins with the same target name when no additional information was  available to distinguish between them</a:t>
            </a:r>
          </a:p>
        </p:txBody>
      </p:sp>
    </p:spTree>
    <p:extLst>
      <p:ext uri="{BB962C8B-B14F-4D97-AF65-F5344CB8AC3E}">
        <p14:creationId xmlns:p14="http://schemas.microsoft.com/office/powerpoint/2010/main" val="4275891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46C7A-7741-670C-F56F-6DD7B6E2DC4B}"/>
              </a:ext>
            </a:extLst>
          </p:cNvPr>
          <p:cNvSpPr>
            <a:spLocks noGrp="1"/>
          </p:cNvSpPr>
          <p:nvPr>
            <p:ph type="title"/>
          </p:nvPr>
        </p:nvSpPr>
        <p:spPr/>
        <p:txBody>
          <a:bodyPr/>
          <a:lstStyle/>
          <a:p>
            <a:r>
              <a:rPr lang="en-US" dirty="0"/>
              <a:t>Alternative Distance Matrices - Hellinger</a:t>
            </a:r>
          </a:p>
        </p:txBody>
      </p:sp>
      <p:pic>
        <p:nvPicPr>
          <p:cNvPr id="5" name="Picture 4">
            <a:extLst>
              <a:ext uri="{FF2B5EF4-FFF2-40B4-BE49-F238E27FC236}">
                <a16:creationId xmlns:a16="http://schemas.microsoft.com/office/drawing/2014/main" id="{145C0FC0-87EB-0679-66AA-29F59A76E290}"/>
              </a:ext>
            </a:extLst>
          </p:cNvPr>
          <p:cNvPicPr>
            <a:picLocks noChangeAspect="1"/>
          </p:cNvPicPr>
          <p:nvPr/>
        </p:nvPicPr>
        <p:blipFill>
          <a:blip r:embed="rId3"/>
          <a:stretch>
            <a:fillRect/>
          </a:stretch>
        </p:blipFill>
        <p:spPr>
          <a:xfrm>
            <a:off x="521864" y="1469624"/>
            <a:ext cx="3330697" cy="3163378"/>
          </a:xfrm>
          <a:prstGeom prst="rect">
            <a:avLst/>
          </a:prstGeom>
        </p:spPr>
      </p:pic>
      <p:pic>
        <p:nvPicPr>
          <p:cNvPr id="7" name="Picture 6">
            <a:extLst>
              <a:ext uri="{FF2B5EF4-FFF2-40B4-BE49-F238E27FC236}">
                <a16:creationId xmlns:a16="http://schemas.microsoft.com/office/drawing/2014/main" id="{8B1CE51D-4A7B-76A9-3140-833DACED5526}"/>
              </a:ext>
            </a:extLst>
          </p:cNvPr>
          <p:cNvPicPr>
            <a:picLocks noChangeAspect="1"/>
          </p:cNvPicPr>
          <p:nvPr/>
        </p:nvPicPr>
        <p:blipFill>
          <a:blip r:embed="rId4"/>
          <a:stretch>
            <a:fillRect/>
          </a:stretch>
        </p:blipFill>
        <p:spPr>
          <a:xfrm>
            <a:off x="367961" y="4582048"/>
            <a:ext cx="3654954" cy="2240417"/>
          </a:xfrm>
          <a:prstGeom prst="rect">
            <a:avLst/>
          </a:prstGeom>
        </p:spPr>
      </p:pic>
      <p:pic>
        <p:nvPicPr>
          <p:cNvPr id="9" name="Picture 8">
            <a:extLst>
              <a:ext uri="{FF2B5EF4-FFF2-40B4-BE49-F238E27FC236}">
                <a16:creationId xmlns:a16="http://schemas.microsoft.com/office/drawing/2014/main" id="{39AF45A8-BF64-4E3D-BC35-2684073F6846}"/>
              </a:ext>
            </a:extLst>
          </p:cNvPr>
          <p:cNvPicPr>
            <a:picLocks noChangeAspect="1"/>
          </p:cNvPicPr>
          <p:nvPr/>
        </p:nvPicPr>
        <p:blipFill>
          <a:blip r:embed="rId5"/>
          <a:stretch>
            <a:fillRect/>
          </a:stretch>
        </p:blipFill>
        <p:spPr>
          <a:xfrm>
            <a:off x="4320870" y="1469624"/>
            <a:ext cx="3478116" cy="3163378"/>
          </a:xfrm>
          <a:prstGeom prst="rect">
            <a:avLst/>
          </a:prstGeom>
        </p:spPr>
      </p:pic>
      <p:pic>
        <p:nvPicPr>
          <p:cNvPr id="11" name="Picture 10">
            <a:extLst>
              <a:ext uri="{FF2B5EF4-FFF2-40B4-BE49-F238E27FC236}">
                <a16:creationId xmlns:a16="http://schemas.microsoft.com/office/drawing/2014/main" id="{8408C129-61A8-4A96-114F-0C94FC32BAA9}"/>
              </a:ext>
            </a:extLst>
          </p:cNvPr>
          <p:cNvPicPr>
            <a:picLocks noChangeAspect="1"/>
          </p:cNvPicPr>
          <p:nvPr/>
        </p:nvPicPr>
        <p:blipFill>
          <a:blip r:embed="rId6"/>
          <a:stretch>
            <a:fillRect/>
          </a:stretch>
        </p:blipFill>
        <p:spPr>
          <a:xfrm>
            <a:off x="4156923" y="4582048"/>
            <a:ext cx="3806010" cy="2240417"/>
          </a:xfrm>
          <a:prstGeom prst="rect">
            <a:avLst/>
          </a:prstGeom>
        </p:spPr>
      </p:pic>
      <p:pic>
        <p:nvPicPr>
          <p:cNvPr id="13" name="Picture 12">
            <a:extLst>
              <a:ext uri="{FF2B5EF4-FFF2-40B4-BE49-F238E27FC236}">
                <a16:creationId xmlns:a16="http://schemas.microsoft.com/office/drawing/2014/main" id="{14BCB27C-2D06-A096-9A0C-1785D7524D4A}"/>
              </a:ext>
            </a:extLst>
          </p:cNvPr>
          <p:cNvPicPr>
            <a:picLocks noChangeAspect="1"/>
          </p:cNvPicPr>
          <p:nvPr/>
        </p:nvPicPr>
        <p:blipFill>
          <a:blip r:embed="rId7"/>
          <a:stretch>
            <a:fillRect/>
          </a:stretch>
        </p:blipFill>
        <p:spPr>
          <a:xfrm>
            <a:off x="7962933" y="3659087"/>
            <a:ext cx="4197989" cy="3163378"/>
          </a:xfrm>
          <a:prstGeom prst="rect">
            <a:avLst/>
          </a:prstGeom>
        </p:spPr>
      </p:pic>
      <p:sp>
        <p:nvSpPr>
          <p:cNvPr id="14" name="Content Placeholder 2">
            <a:extLst>
              <a:ext uri="{FF2B5EF4-FFF2-40B4-BE49-F238E27FC236}">
                <a16:creationId xmlns:a16="http://schemas.microsoft.com/office/drawing/2014/main" id="{8785E6E5-12A5-93E1-FB76-1E40D8B24DF8}"/>
              </a:ext>
            </a:extLst>
          </p:cNvPr>
          <p:cNvSpPr>
            <a:spLocks noGrp="1"/>
          </p:cNvSpPr>
          <p:nvPr>
            <p:ph idx="1"/>
          </p:nvPr>
        </p:nvSpPr>
        <p:spPr>
          <a:xfrm>
            <a:off x="7863431" y="1690689"/>
            <a:ext cx="4297491" cy="1837188"/>
          </a:xfrm>
        </p:spPr>
        <p:txBody>
          <a:bodyPr>
            <a:normAutofit fontScale="92500" lnSpcReduction="20000"/>
          </a:bodyPr>
          <a:lstStyle/>
          <a:p>
            <a:r>
              <a:rPr lang="en-US" dirty="0"/>
              <a:t>Microbiome: 3 clusters</a:t>
            </a:r>
          </a:p>
          <a:p>
            <a:r>
              <a:rPr lang="en-US" dirty="0"/>
              <a:t>Proteomics: 4 clusters</a:t>
            </a:r>
          </a:p>
          <a:p>
            <a:r>
              <a:rPr lang="en-US" dirty="0"/>
              <a:t>Joint: 4 clusters</a:t>
            </a:r>
          </a:p>
          <a:p>
            <a:pPr lvl="1"/>
            <a:r>
              <a:rPr lang="en-US" dirty="0"/>
              <a:t>Also </a:t>
            </a:r>
            <a:r>
              <a:rPr lang="en-US"/>
              <a:t>tried: horn for both; </a:t>
            </a:r>
            <a:r>
              <a:rPr lang="en-US" dirty="0"/>
              <a:t>only for microbiome</a:t>
            </a:r>
          </a:p>
        </p:txBody>
      </p:sp>
    </p:spTree>
    <p:extLst>
      <p:ext uri="{BB962C8B-B14F-4D97-AF65-F5344CB8AC3E}">
        <p14:creationId xmlns:p14="http://schemas.microsoft.com/office/powerpoint/2010/main" val="2378070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599E2-CEC5-4746-8BA9-B79FA30591C0}"/>
              </a:ext>
            </a:extLst>
          </p:cNvPr>
          <p:cNvSpPr>
            <a:spLocks noGrp="1"/>
          </p:cNvSpPr>
          <p:nvPr>
            <p:ph type="title"/>
          </p:nvPr>
        </p:nvSpPr>
        <p:spPr/>
        <p:txBody>
          <a:bodyPr/>
          <a:lstStyle/>
          <a:p>
            <a:r>
              <a:rPr lang="en-US" dirty="0"/>
              <a:t>Dataset Overview	</a:t>
            </a:r>
          </a:p>
        </p:txBody>
      </p:sp>
      <p:sp>
        <p:nvSpPr>
          <p:cNvPr id="3" name="Content Placeholder 2">
            <a:extLst>
              <a:ext uri="{FF2B5EF4-FFF2-40B4-BE49-F238E27FC236}">
                <a16:creationId xmlns:a16="http://schemas.microsoft.com/office/drawing/2014/main" id="{C6386B26-18CF-6CFA-F951-B0EFB5197476}"/>
              </a:ext>
            </a:extLst>
          </p:cNvPr>
          <p:cNvSpPr>
            <a:spLocks noGrp="1"/>
          </p:cNvSpPr>
          <p:nvPr>
            <p:ph idx="1"/>
          </p:nvPr>
        </p:nvSpPr>
        <p:spPr>
          <a:xfrm>
            <a:off x="308343" y="1706991"/>
            <a:ext cx="3698577" cy="4785884"/>
          </a:xfrm>
        </p:spPr>
        <p:txBody>
          <a:bodyPr>
            <a:normAutofit/>
          </a:bodyPr>
          <a:lstStyle/>
          <a:p>
            <a:r>
              <a:rPr lang="en-US" dirty="0"/>
              <a:t>31 subjects (ages 10–22) hospitalized at a single site for CF pulmonary exacerbation</a:t>
            </a:r>
          </a:p>
          <a:p>
            <a:r>
              <a:rPr lang="en-US" dirty="0"/>
              <a:t>Samples collected at admission (Time 1) with relevant clinical data</a:t>
            </a:r>
          </a:p>
        </p:txBody>
      </p:sp>
      <p:pic>
        <p:nvPicPr>
          <p:cNvPr id="9" name="Picture 8">
            <a:extLst>
              <a:ext uri="{FF2B5EF4-FFF2-40B4-BE49-F238E27FC236}">
                <a16:creationId xmlns:a16="http://schemas.microsoft.com/office/drawing/2014/main" id="{F9158632-71E6-54B2-0B7A-B78D39A2E342}"/>
              </a:ext>
            </a:extLst>
          </p:cNvPr>
          <p:cNvPicPr>
            <a:picLocks noChangeAspect="1"/>
          </p:cNvPicPr>
          <p:nvPr/>
        </p:nvPicPr>
        <p:blipFill>
          <a:blip r:embed="rId3"/>
          <a:stretch>
            <a:fillRect/>
          </a:stretch>
        </p:blipFill>
        <p:spPr>
          <a:xfrm>
            <a:off x="4289244" y="1611013"/>
            <a:ext cx="3943900" cy="5220429"/>
          </a:xfrm>
          <a:prstGeom prst="rect">
            <a:avLst/>
          </a:prstGeom>
        </p:spPr>
      </p:pic>
      <p:pic>
        <p:nvPicPr>
          <p:cNvPr id="11" name="Picture 10">
            <a:extLst>
              <a:ext uri="{FF2B5EF4-FFF2-40B4-BE49-F238E27FC236}">
                <a16:creationId xmlns:a16="http://schemas.microsoft.com/office/drawing/2014/main" id="{53E39670-9FC3-8385-88EA-FDE9E1C354B0}"/>
              </a:ext>
            </a:extLst>
          </p:cNvPr>
          <p:cNvPicPr>
            <a:picLocks noChangeAspect="1"/>
          </p:cNvPicPr>
          <p:nvPr/>
        </p:nvPicPr>
        <p:blipFill>
          <a:blip r:embed="rId4"/>
          <a:stretch>
            <a:fillRect/>
          </a:stretch>
        </p:blipFill>
        <p:spPr>
          <a:xfrm>
            <a:off x="8233145" y="0"/>
            <a:ext cx="3650512" cy="6858000"/>
          </a:xfrm>
          <a:prstGeom prst="rect">
            <a:avLst/>
          </a:prstGeom>
        </p:spPr>
      </p:pic>
    </p:spTree>
    <p:extLst>
      <p:ext uri="{BB962C8B-B14F-4D97-AF65-F5344CB8AC3E}">
        <p14:creationId xmlns:p14="http://schemas.microsoft.com/office/powerpoint/2010/main" val="36966492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EF34-5479-5AE3-286C-8120AACD5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446B6-6E6A-AA7E-097A-D26A92B1BBAC}"/>
              </a:ext>
            </a:extLst>
          </p:cNvPr>
          <p:cNvSpPr>
            <a:spLocks noGrp="1"/>
          </p:cNvSpPr>
          <p:nvPr>
            <p:ph type="title"/>
          </p:nvPr>
        </p:nvSpPr>
        <p:spPr>
          <a:xfrm>
            <a:off x="641970" y="0"/>
            <a:ext cx="12327294" cy="1325563"/>
          </a:xfrm>
        </p:spPr>
        <p:txBody>
          <a:bodyPr>
            <a:normAutofit/>
          </a:bodyPr>
          <a:lstStyle/>
          <a:p>
            <a:r>
              <a:rPr lang="en-US" dirty="0"/>
              <a:t>Cluster Demographic and Clinical Descriptions</a:t>
            </a:r>
          </a:p>
        </p:txBody>
      </p:sp>
      <p:pic>
        <p:nvPicPr>
          <p:cNvPr id="4" name="Picture 3">
            <a:extLst>
              <a:ext uri="{FF2B5EF4-FFF2-40B4-BE49-F238E27FC236}">
                <a16:creationId xmlns:a16="http://schemas.microsoft.com/office/drawing/2014/main" id="{E0A348F0-03B4-D5F9-77AF-6629BEA55BDE}"/>
              </a:ext>
            </a:extLst>
          </p:cNvPr>
          <p:cNvPicPr>
            <a:picLocks noChangeAspect="1"/>
          </p:cNvPicPr>
          <p:nvPr/>
        </p:nvPicPr>
        <p:blipFill>
          <a:blip r:embed="rId3"/>
          <a:srcRect r="14430"/>
          <a:stretch>
            <a:fillRect/>
          </a:stretch>
        </p:blipFill>
        <p:spPr>
          <a:xfrm>
            <a:off x="226032" y="2285592"/>
            <a:ext cx="6086803" cy="4432654"/>
          </a:xfrm>
          <a:prstGeom prst="rect">
            <a:avLst/>
          </a:prstGeom>
        </p:spPr>
      </p:pic>
      <p:pic>
        <p:nvPicPr>
          <p:cNvPr id="6" name="Picture 5">
            <a:extLst>
              <a:ext uri="{FF2B5EF4-FFF2-40B4-BE49-F238E27FC236}">
                <a16:creationId xmlns:a16="http://schemas.microsoft.com/office/drawing/2014/main" id="{7F27A303-BD7E-7C5D-B3D7-38176C2CCBA5}"/>
              </a:ext>
            </a:extLst>
          </p:cNvPr>
          <p:cNvPicPr>
            <a:picLocks noChangeAspect="1"/>
          </p:cNvPicPr>
          <p:nvPr/>
        </p:nvPicPr>
        <p:blipFill>
          <a:blip r:embed="rId4"/>
          <a:srcRect r="13935"/>
          <a:stretch>
            <a:fillRect/>
          </a:stretch>
        </p:blipFill>
        <p:spPr>
          <a:xfrm>
            <a:off x="6509065" y="1045494"/>
            <a:ext cx="5682935" cy="5812506"/>
          </a:xfrm>
          <a:prstGeom prst="rect">
            <a:avLst/>
          </a:prstGeom>
        </p:spPr>
      </p:pic>
      <p:sp>
        <p:nvSpPr>
          <p:cNvPr id="9" name="Content Placeholder 2">
            <a:extLst>
              <a:ext uri="{FF2B5EF4-FFF2-40B4-BE49-F238E27FC236}">
                <a16:creationId xmlns:a16="http://schemas.microsoft.com/office/drawing/2014/main" id="{A56434DD-F82F-D6AB-8940-34E332885EFA}"/>
              </a:ext>
            </a:extLst>
          </p:cNvPr>
          <p:cNvSpPr txBox="1">
            <a:spLocks/>
          </p:cNvSpPr>
          <p:nvPr/>
        </p:nvSpPr>
        <p:spPr>
          <a:xfrm>
            <a:off x="641970" y="1240098"/>
            <a:ext cx="5670865" cy="104549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No significant associations were found between missing data and cluster assignment (all p &gt; 0.38)</a:t>
            </a:r>
          </a:p>
        </p:txBody>
      </p:sp>
    </p:spTree>
    <p:extLst>
      <p:ext uri="{BB962C8B-B14F-4D97-AF65-F5344CB8AC3E}">
        <p14:creationId xmlns:p14="http://schemas.microsoft.com/office/powerpoint/2010/main" val="2948937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2346</TotalTime>
  <Words>3671</Words>
  <Application>Microsoft Office PowerPoint</Application>
  <PresentationFormat>Widescreen</PresentationFormat>
  <Paragraphs>413</Paragraphs>
  <Slides>36</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Aptos Display</vt:lpstr>
      <vt:lpstr>Arial</vt:lpstr>
      <vt:lpstr>Google Sans</vt:lpstr>
      <vt:lpstr>Office Theme</vt:lpstr>
      <vt:lpstr>Multi-Omic Clustering in Children with Cystic Fibrosis at the Initiation of a Pulmonary Exacerbation</vt:lpstr>
      <vt:lpstr>Cystic Fibrosis Overview</vt:lpstr>
      <vt:lpstr>Cystic Fibrosis Overview</vt:lpstr>
      <vt:lpstr>Cystic Fibrosis Overview</vt:lpstr>
      <vt:lpstr>Cystic Fibrosis Overview</vt:lpstr>
      <vt:lpstr>Why Single-View Approaches Fall Short</vt:lpstr>
      <vt:lpstr>Dataset Overview </vt:lpstr>
      <vt:lpstr>Microbiome and Proteome Overview</vt:lpstr>
      <vt:lpstr>Research Question</vt:lpstr>
      <vt:lpstr>Spectral Clustering</vt:lpstr>
      <vt:lpstr>Multi-Omic Spectral Clustering using the Flag Manifold (MMOC)                       Charlie Carpenter</vt:lpstr>
      <vt:lpstr>Microbiome Clustering</vt:lpstr>
      <vt:lpstr>Proteomics Clustering</vt:lpstr>
      <vt:lpstr>Joint Clustering</vt:lpstr>
      <vt:lpstr>Validation of Number of Joint Clusters</vt:lpstr>
      <vt:lpstr>Cluster Comparison</vt:lpstr>
      <vt:lpstr>Cluster Comparison</vt:lpstr>
      <vt:lpstr>Abundant Bacteria</vt:lpstr>
      <vt:lpstr>Significant Bacteria</vt:lpstr>
      <vt:lpstr>PowerPoint Presentation</vt:lpstr>
      <vt:lpstr>Cluster Description Summary</vt:lpstr>
      <vt:lpstr>Cluster Demographic and Clinical Descriptions</vt:lpstr>
      <vt:lpstr>FEV1/FVC Across Visits</vt:lpstr>
      <vt:lpstr>Discussion</vt:lpstr>
      <vt:lpstr>Previous Work with Dataset  (SmCCNet)                           Brenton Graham</vt:lpstr>
      <vt:lpstr>Connections to the Literature</vt:lpstr>
      <vt:lpstr>Limitations</vt:lpstr>
      <vt:lpstr>Future Directions</vt:lpstr>
      <vt:lpstr>Conclusion</vt:lpstr>
      <vt:lpstr>Thank You and Acknowledgements </vt:lpstr>
      <vt:lpstr>Questions?</vt:lpstr>
      <vt:lpstr>Appendix</vt:lpstr>
      <vt:lpstr>Data Adjustments </vt:lpstr>
      <vt:lpstr>Alternative Distance Matrices - Hellinger</vt:lpstr>
      <vt:lpstr>Dataset Overview </vt:lpstr>
      <vt:lpstr>Cluster Demographic and Clinical Descriptions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Weible, Ezra</dc:creator>
  <cp:lastModifiedBy>Weible, Ezra</cp:lastModifiedBy>
  <cp:revision>2</cp:revision>
  <dcterms:created xsi:type="dcterms:W3CDTF">2026-01-27T00:05:58Z</dcterms:created>
  <dcterms:modified xsi:type="dcterms:W3CDTF">2026-04-07T20:56:09Z</dcterms:modified>
</cp:coreProperties>
</file>