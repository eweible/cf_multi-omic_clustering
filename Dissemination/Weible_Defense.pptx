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64" r:id="rId3"/>
    <p:sldId id="257" r:id="rId4"/>
    <p:sldId id="266" r:id="rId5"/>
    <p:sldId id="267" r:id="rId6"/>
    <p:sldId id="258" r:id="rId7"/>
    <p:sldId id="278" r:id="rId8"/>
    <p:sldId id="259" r:id="rId9"/>
    <p:sldId id="271" r:id="rId10"/>
    <p:sldId id="282" r:id="rId11"/>
    <p:sldId id="273" r:id="rId12"/>
    <p:sldId id="277" r:id="rId13"/>
    <p:sldId id="275" r:id="rId14"/>
    <p:sldId id="283" r:id="rId15"/>
    <p:sldId id="284" r:id="rId16"/>
    <p:sldId id="288" r:id="rId17"/>
    <p:sldId id="286" r:id="rId18"/>
    <p:sldId id="261" r:id="rId19"/>
    <p:sldId id="285" r:id="rId20"/>
    <p:sldId id="270" r:id="rId21"/>
    <p:sldId id="281" r:id="rId22"/>
    <p:sldId id="287"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250329-9472-4EB4-95DC-0A3648275C70}" v="25" dt="2026-03-30T22:14:32.14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4444" autoAdjust="0"/>
  </p:normalViewPr>
  <p:slideViewPr>
    <p:cSldViewPr snapToGrid="0">
      <p:cViewPr varScale="1">
        <p:scale>
          <a:sx n="93" d="100"/>
          <a:sy n="93" d="100"/>
        </p:scale>
        <p:origin x="1596"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zra Weible" userId="67bcaf2f89c4552e" providerId="LiveId" clId="{E4E19776-AA89-4579-B0CB-50FEF10C4E93}"/>
    <pc:docChg chg="undo custSel addSld delSld modSld">
      <pc:chgData name="Ezra Weible" userId="67bcaf2f89c4552e" providerId="LiveId" clId="{E4E19776-AA89-4579-B0CB-50FEF10C4E93}" dt="2026-03-30T22:14:46.509" v="465" actId="20577"/>
      <pc:docMkLst>
        <pc:docMk/>
      </pc:docMkLst>
      <pc:sldChg chg="del">
        <pc:chgData name="Ezra Weible" userId="67bcaf2f89c4552e" providerId="LiveId" clId="{E4E19776-AA89-4579-B0CB-50FEF10C4E93}" dt="2026-03-30T21:59:07.609" v="1" actId="47"/>
        <pc:sldMkLst>
          <pc:docMk/>
          <pc:sldMk cId="3483891815" sldId="262"/>
        </pc:sldMkLst>
      </pc:sldChg>
      <pc:sldChg chg="del">
        <pc:chgData name="Ezra Weible" userId="67bcaf2f89c4552e" providerId="LiveId" clId="{E4E19776-AA89-4579-B0CB-50FEF10C4E93}" dt="2026-03-30T21:59:05.890" v="0" actId="47"/>
        <pc:sldMkLst>
          <pc:docMk/>
          <pc:sldMk cId="2665840206" sldId="263"/>
        </pc:sldMkLst>
      </pc:sldChg>
      <pc:sldChg chg="addSp delSp modSp mod">
        <pc:chgData name="Ezra Weible" userId="67bcaf2f89c4552e" providerId="LiveId" clId="{E4E19776-AA89-4579-B0CB-50FEF10C4E93}" dt="2026-03-30T22:14:15.230" v="419" actId="21"/>
        <pc:sldMkLst>
          <pc:docMk/>
          <pc:sldMk cId="322099442" sldId="284"/>
        </pc:sldMkLst>
        <pc:picChg chg="add del mod">
          <ac:chgData name="Ezra Weible" userId="67bcaf2f89c4552e" providerId="LiveId" clId="{E4E19776-AA89-4579-B0CB-50FEF10C4E93}" dt="2026-03-30T22:14:15.230" v="419" actId="21"/>
          <ac:picMkLst>
            <pc:docMk/>
            <pc:sldMk cId="322099442" sldId="284"/>
            <ac:picMk id="8" creationId="{0BB5267D-E078-9D43-CDAA-C84F220F5DA6}"/>
          </ac:picMkLst>
        </pc:picChg>
      </pc:sldChg>
      <pc:sldChg chg="addSp delSp modSp new mod">
        <pc:chgData name="Ezra Weible" userId="67bcaf2f89c4552e" providerId="LiveId" clId="{E4E19776-AA89-4579-B0CB-50FEF10C4E93}" dt="2026-03-30T22:12:33.237" v="414" actId="1076"/>
        <pc:sldMkLst>
          <pc:docMk/>
          <pc:sldMk cId="3415720354" sldId="287"/>
        </pc:sldMkLst>
        <pc:spChg chg="mod">
          <ac:chgData name="Ezra Weible" userId="67bcaf2f89c4552e" providerId="LiveId" clId="{E4E19776-AA89-4579-B0CB-50FEF10C4E93}" dt="2026-03-30T22:00:54.795" v="131" actId="20577"/>
          <ac:spMkLst>
            <pc:docMk/>
            <pc:sldMk cId="3415720354" sldId="287"/>
            <ac:spMk id="2" creationId="{FD2FC290-6ECD-637A-F2EF-5493BCA9391A}"/>
          </ac:spMkLst>
        </pc:spChg>
        <pc:spChg chg="mod">
          <ac:chgData name="Ezra Weible" userId="67bcaf2f89c4552e" providerId="LiveId" clId="{E4E19776-AA89-4579-B0CB-50FEF10C4E93}" dt="2026-03-30T22:12:08.575" v="408" actId="20577"/>
          <ac:spMkLst>
            <pc:docMk/>
            <pc:sldMk cId="3415720354" sldId="287"/>
            <ac:spMk id="3" creationId="{99369783-599E-F617-200A-BCD93A685B34}"/>
          </ac:spMkLst>
        </pc:spChg>
        <pc:spChg chg="add del mod">
          <ac:chgData name="Ezra Weible" userId="67bcaf2f89c4552e" providerId="LiveId" clId="{E4E19776-AA89-4579-B0CB-50FEF10C4E93}" dt="2026-03-30T22:03:30.164" v="251" actId="478"/>
          <ac:spMkLst>
            <pc:docMk/>
            <pc:sldMk cId="3415720354" sldId="287"/>
            <ac:spMk id="5" creationId="{B16B3749-0505-3A88-D292-8B2C9F19E72D}"/>
          </ac:spMkLst>
        </pc:spChg>
        <pc:spChg chg="add mod">
          <ac:chgData name="Ezra Weible" userId="67bcaf2f89c4552e" providerId="LiveId" clId="{E4E19776-AA89-4579-B0CB-50FEF10C4E93}" dt="2026-03-30T22:04:02.279" v="272"/>
          <ac:spMkLst>
            <pc:docMk/>
            <pc:sldMk cId="3415720354" sldId="287"/>
            <ac:spMk id="6" creationId="{D44A67CD-0876-A59D-6853-53716FC41BD4}"/>
          </ac:spMkLst>
        </pc:spChg>
        <pc:picChg chg="add mod">
          <ac:chgData name="Ezra Weible" userId="67bcaf2f89c4552e" providerId="LiveId" clId="{E4E19776-AA89-4579-B0CB-50FEF10C4E93}" dt="2026-03-30T22:12:33.237" v="414" actId="1076"/>
          <ac:picMkLst>
            <pc:docMk/>
            <pc:sldMk cId="3415720354" sldId="287"/>
            <ac:picMk id="1026" creationId="{155F9CF4-B6D8-F5B1-A719-98415E63B8F7}"/>
          </ac:picMkLst>
        </pc:picChg>
        <pc:picChg chg="add mod">
          <ac:chgData name="Ezra Weible" userId="67bcaf2f89c4552e" providerId="LiveId" clId="{E4E19776-AA89-4579-B0CB-50FEF10C4E93}" dt="2026-03-30T22:12:28.643" v="413" actId="14100"/>
          <ac:picMkLst>
            <pc:docMk/>
            <pc:sldMk cId="3415720354" sldId="287"/>
            <ac:picMk id="1028" creationId="{3F393AC6-52FC-21AB-2455-C44040F9DCB1}"/>
          </ac:picMkLst>
        </pc:picChg>
      </pc:sldChg>
      <pc:sldChg chg="addSp modSp new mod">
        <pc:chgData name="Ezra Weible" userId="67bcaf2f89c4552e" providerId="LiveId" clId="{E4E19776-AA89-4579-B0CB-50FEF10C4E93}" dt="2026-03-30T22:14:46.509" v="465" actId="20577"/>
        <pc:sldMkLst>
          <pc:docMk/>
          <pc:sldMk cId="2225801808" sldId="288"/>
        </pc:sldMkLst>
        <pc:spChg chg="mod">
          <ac:chgData name="Ezra Weible" userId="67bcaf2f89c4552e" providerId="LiveId" clId="{E4E19776-AA89-4579-B0CB-50FEF10C4E93}" dt="2026-03-30T22:14:21.068" v="440" actId="20577"/>
          <ac:spMkLst>
            <pc:docMk/>
            <pc:sldMk cId="2225801808" sldId="288"/>
            <ac:spMk id="2" creationId="{2FE3FD00-C95F-A5A7-FAC6-63482FE6DB4F}"/>
          </ac:spMkLst>
        </pc:spChg>
        <pc:spChg chg="mod">
          <ac:chgData name="Ezra Weible" userId="67bcaf2f89c4552e" providerId="LiveId" clId="{E4E19776-AA89-4579-B0CB-50FEF10C4E93}" dt="2026-03-30T22:14:46.509" v="465" actId="20577"/>
          <ac:spMkLst>
            <pc:docMk/>
            <pc:sldMk cId="2225801808" sldId="288"/>
            <ac:spMk id="3" creationId="{168DDF37-A311-1899-6FF9-CD1AF7D08DDA}"/>
          </ac:spMkLst>
        </pc:spChg>
        <pc:picChg chg="add mod">
          <ac:chgData name="Ezra Weible" userId="67bcaf2f89c4552e" providerId="LiveId" clId="{E4E19776-AA89-4579-B0CB-50FEF10C4E93}" dt="2026-03-30T22:14:26.800" v="442" actId="14100"/>
          <ac:picMkLst>
            <pc:docMk/>
            <pc:sldMk cId="2225801808" sldId="288"/>
            <ac:picMk id="8" creationId="{0BB5267D-E078-9D43-CDAA-C84F220F5DA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56B035-F6BA-4127-ACCA-C4B80FF62751}" type="datetimeFigureOut">
              <a:rPr lang="en-US" smtClean="0"/>
              <a:t>3/30/2026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91C064-8647-4876-9565-66F236AD4655}" type="slidenum">
              <a:rPr lang="en-US" smtClean="0"/>
              <a:t>‹#›</a:t>
            </a:fld>
            <a:endParaRPr lang="en-US"/>
          </a:p>
        </p:txBody>
      </p:sp>
    </p:spTree>
    <p:extLst>
      <p:ext uri="{BB962C8B-B14F-4D97-AF65-F5344CB8AC3E}">
        <p14:creationId xmlns:p14="http://schemas.microsoft.com/office/powerpoint/2010/main" val="21480415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1</a:t>
            </a:fld>
            <a:endParaRPr lang="en-US"/>
          </a:p>
        </p:txBody>
      </p:sp>
    </p:spTree>
    <p:extLst>
      <p:ext uri="{BB962C8B-B14F-4D97-AF65-F5344CB8AC3E}">
        <p14:creationId xmlns:p14="http://schemas.microsoft.com/office/powerpoint/2010/main" val="16896203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6609D-BF0B-E315-8C2C-E8F680CDF9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A94F85-EE33-D6BC-CCA5-21A392C46C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CF864F-BA6C-A79C-5B07-C49487D37CEC}"/>
              </a:ext>
            </a:extLst>
          </p:cNvPr>
          <p:cNvSpPr>
            <a:spLocks noGrp="1"/>
          </p:cNvSpPr>
          <p:nvPr>
            <p:ph type="body" idx="1"/>
          </p:nvPr>
        </p:nvSpPr>
        <p:spPr/>
        <p:txBody>
          <a:bodyPr/>
          <a:lstStyle/>
          <a:p>
            <a:r>
              <a:rPr lang="en-US" dirty="0"/>
              <a:t>Cystic Fibrosis is a genetic disorder that impacts the </a:t>
            </a:r>
            <a:r>
              <a:rPr lang="en-US" b="1" dirty="0"/>
              <a:t>entire body </a:t>
            </a:r>
            <a:r>
              <a:rPr lang="en-US" dirty="0"/>
              <a:t>(mutation in </a:t>
            </a:r>
            <a:r>
              <a:rPr lang="en-US" b="1" dirty="0"/>
              <a:t>CFTR protein </a:t>
            </a:r>
            <a:r>
              <a:rPr lang="en-US" dirty="0"/>
              <a:t>which is a chloride ion channel. Without chloride leaving cells, water can’t hydrate the surface causing </a:t>
            </a:r>
            <a:r>
              <a:rPr lang="en-US" b="1" dirty="0"/>
              <a:t>thick mucus</a:t>
            </a:r>
            <a:r>
              <a:rPr lang="en-US" dirty="0"/>
              <a:t> to cover the cells, as seen in image 2). </a:t>
            </a:r>
          </a:p>
          <a:p>
            <a:r>
              <a:rPr lang="en-US" dirty="0"/>
              <a:t>This can be seen in the lungs, where the </a:t>
            </a:r>
            <a:r>
              <a:rPr lang="en-US" b="1" dirty="0"/>
              <a:t>mucus can reduce airflow </a:t>
            </a:r>
            <a:r>
              <a:rPr lang="en-US" dirty="0"/>
              <a:t>and increase infection risk. </a:t>
            </a:r>
            <a:r>
              <a:rPr lang="en-US" b="1" dirty="0"/>
              <a:t>Exacerbations</a:t>
            </a:r>
            <a:r>
              <a:rPr lang="en-US" dirty="0"/>
              <a:t> (sudden worsening of respiratory symptoms) are common due to bacterial infections and often result in hospitalization. </a:t>
            </a:r>
          </a:p>
          <a:p>
            <a:r>
              <a:rPr lang="en-US" dirty="0"/>
              <a:t>There has been a lot of rapid progress in treating CF (</a:t>
            </a:r>
            <a:r>
              <a:rPr lang="en-US" b="1" i="0" dirty="0">
                <a:solidFill>
                  <a:srgbClr val="ECECEC"/>
                </a:solidFill>
                <a:effectLst/>
                <a:latin typeface="Google Sans"/>
              </a:rPr>
              <a:t>drug modulator therapy </a:t>
            </a:r>
            <a:r>
              <a:rPr lang="en-US" b="0" i="0" dirty="0">
                <a:solidFill>
                  <a:srgbClr val="ECECEC"/>
                </a:solidFill>
                <a:effectLst/>
                <a:latin typeface="Google Sans"/>
              </a:rPr>
              <a:t>to restore protein function, reduction of mucus, etc.), but still room for improvement especially among individuals who don’t qualify for modulators</a:t>
            </a:r>
            <a:endParaRPr lang="en-US" dirty="0"/>
          </a:p>
          <a:p>
            <a:r>
              <a:rPr lang="en-US" dirty="0"/>
              <a:t>One big issue is during the exacerbations, where </a:t>
            </a:r>
            <a:r>
              <a:rPr lang="en-US" b="1" dirty="0"/>
              <a:t>each person reacts differently </a:t>
            </a:r>
            <a:r>
              <a:rPr lang="en-US" dirty="0"/>
              <a:t>so it is hard to tell which bacteria are causing their illness and what approach to use for treatment. </a:t>
            </a:r>
          </a:p>
        </p:txBody>
      </p:sp>
      <p:sp>
        <p:nvSpPr>
          <p:cNvPr id="4" name="Slide Number Placeholder 3">
            <a:extLst>
              <a:ext uri="{FF2B5EF4-FFF2-40B4-BE49-F238E27FC236}">
                <a16:creationId xmlns:a16="http://schemas.microsoft.com/office/drawing/2014/main" id="{20A8B6F2-781E-C347-36B5-E17AEEC6875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B306CC3-7D5B-44C5-9175-630B0125E4D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464857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know that during exacerbations, people can respond very differently, even when the underlying microbial triggers appear similar. So the question becomes: how do we capture that complexity?</a:t>
            </a:r>
          </a:p>
          <a:p>
            <a:r>
              <a:rPr lang="en-US" dirty="0"/>
              <a:t>No single measurement gives us the full story — the microbiome tells us what’s there, but the proteome tells us how the host is reacting. By looking at both together, we may be able to identify meaningful subgroups that reflect different biological patterns.</a:t>
            </a:r>
          </a:p>
          <a:p>
            <a:r>
              <a:rPr lang="en-US" dirty="0"/>
              <a:t>To explore this, we used a dataset that includes both microbiome and proteomic profiles collected during exacerbations…</a:t>
            </a:r>
          </a:p>
          <a:p>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3</a:t>
            </a:fld>
            <a:endParaRPr lang="en-US"/>
          </a:p>
        </p:txBody>
      </p:sp>
    </p:spTree>
    <p:extLst>
      <p:ext uri="{BB962C8B-B14F-4D97-AF65-F5344CB8AC3E}">
        <p14:creationId xmlns:p14="http://schemas.microsoft.com/office/powerpoint/2010/main" val="39749874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explore heterogeneity in CF exacerbations, we used a dataset of 31 hospitalized subjects aged 10–22. At admission, we collected sputum for microbiome profiling and blood for proteomics, along with detailed clinical data. After standard filtering and normalization, we retained about 70 bacterial taxa and over 3,600 proteins. This gives us two complementary views of each exacerbation.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study collected proteomics via blood plasma and microbiome via lung sputum and salvia across three timepoints from 75 CF patients aged 10-22 who were hospitalized for a pulmonary exacerbation. The three timepoints followed patients as they were admitted to the hospital, discharged, and as a </a:t>
            </a:r>
            <a:r>
              <a:rPr lang="en-US" dirty="0" err="1"/>
              <a:t>followup</a:t>
            </a:r>
            <a:r>
              <a:rPr lang="en-US" dirty="0"/>
              <a:t>. The microbiome data counted which bacteria out of a subset of 700 common species were present for each individual. This data was then </a:t>
            </a:r>
            <a:r>
              <a:rPr lang="en-US" dirty="0" err="1"/>
              <a:t>subsetted</a:t>
            </a:r>
            <a:r>
              <a:rPr lang="en-US" dirty="0"/>
              <a:t> to remove subsequent exacerbation per patient and samples that were of low quality or had sample processing issues. O</a:t>
            </a:r>
            <a:r>
              <a:rPr lang="en-US" sz="1200" kern="1200" dirty="0">
                <a:solidFill>
                  <a:schemeClr val="tx1"/>
                </a:solidFill>
                <a:effectLst/>
                <a:latin typeface="+mn-lt"/>
                <a:ea typeface="+mn-ea"/>
                <a:cs typeface="+mn-cs"/>
              </a:rPr>
              <a:t>ne potential outlier was identified, patient 49, and was removed, leaving 31 remaining subjects at time point 1.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Needed to have both available (reason why numbers may be different from previous analyses)</a:t>
            </a:r>
          </a:p>
          <a:p>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4</a:t>
            </a:fld>
            <a:endParaRPr lang="en-US"/>
          </a:p>
        </p:txBody>
      </p:sp>
    </p:spTree>
    <p:extLst>
      <p:ext uri="{BB962C8B-B14F-4D97-AF65-F5344CB8AC3E}">
        <p14:creationId xmlns:p14="http://schemas.microsoft.com/office/powerpoint/2010/main" val="66685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know what data we have, the key point is that these two data types capture very different aspects of an exacerbation. The microbiome tells us which bacteria are present, but the proteome tells us how the host is responding. And importantly, these don’t always align — two patients with similar microbial profiles can have very different inflammatory signatures.</a:t>
            </a:r>
          </a:p>
          <a:p>
            <a:r>
              <a:rPr lang="en-US" dirty="0"/>
              <a:t>So the question becomes: can we integrate these views to uncover meaningful subgroups within this heterogeneity?</a:t>
            </a: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For all timepoints, patients without successful collection of bacterial signal were removed (24% of subjects in time point 1). Proteins with ≥ 20% missingness were removed from the analysis. Microbes without ≥ 0.1% relative abundance in at least one subject were removed, and microbes that weren’t present in at least 10% of subjects (3 subjects) were removed. Microbiome data was analyzed using relative abundance rather than count data and were normalized with a CLR transformation. Proteins were normalized with a log2 transformation. Microbiome data were all normalized using the centralized log ratio transformation. After imputation, PCA was used to visually assess any outliers.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16s rRNA sequencing, </a:t>
            </a:r>
            <a:r>
              <a:rPr lang="en-US" sz="1200" kern="1200" dirty="0" err="1">
                <a:solidFill>
                  <a:schemeClr val="tx1"/>
                </a:solidFill>
                <a:effectLst/>
                <a:latin typeface="+mn-lt"/>
                <a:ea typeface="+mn-ea"/>
                <a:cs typeface="+mn-cs"/>
              </a:rPr>
              <a:t>somascan</a:t>
            </a:r>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5</a:t>
            </a:fld>
            <a:endParaRPr lang="en-US"/>
          </a:p>
        </p:txBody>
      </p:sp>
    </p:spTree>
    <p:extLst>
      <p:ext uri="{BB962C8B-B14F-4D97-AF65-F5344CB8AC3E}">
        <p14:creationId xmlns:p14="http://schemas.microsoft.com/office/powerpoint/2010/main" val="15629818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6</a:t>
            </a:fld>
            <a:endParaRPr lang="en-US"/>
          </a:p>
        </p:txBody>
      </p:sp>
    </p:spTree>
    <p:extLst>
      <p:ext uri="{BB962C8B-B14F-4D97-AF65-F5344CB8AC3E}">
        <p14:creationId xmlns:p14="http://schemas.microsoft.com/office/powerpoint/2010/main" val="2243669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Spectral clustering works by building a similarity graph between subjects and then using the graph’s eigenvectors to reveal structure. This lets us detect clusters that aren’t spherical or linearly separable — which is important for biological data, where patterns are often irregular. It also gives us a low‑dimensional representation that we can use across both microbiome and proteomic views.</a:t>
            </a:r>
          </a:p>
        </p:txBody>
      </p:sp>
      <p:sp>
        <p:nvSpPr>
          <p:cNvPr id="4" name="Slide Number Placeholder 3"/>
          <p:cNvSpPr>
            <a:spLocks noGrp="1"/>
          </p:cNvSpPr>
          <p:nvPr>
            <p:ph type="sldNum" sz="quarter" idx="5"/>
          </p:nvPr>
        </p:nvSpPr>
        <p:spPr/>
        <p:txBody>
          <a:bodyPr/>
          <a:lstStyle/>
          <a:p>
            <a:fld id="{8191C064-8647-4876-9565-66F236AD4655}" type="slidenum">
              <a:rPr lang="en-US" smtClean="0"/>
              <a:t>7</a:t>
            </a:fld>
            <a:endParaRPr lang="en-US"/>
          </a:p>
        </p:txBody>
      </p:sp>
    </p:spTree>
    <p:extLst>
      <p:ext uri="{BB962C8B-B14F-4D97-AF65-F5344CB8AC3E}">
        <p14:creationId xmlns:p14="http://schemas.microsoft.com/office/powerpoint/2010/main" val="12443284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cleaning and rearranging and combining code so that it made sense for this project outside of Charlie’s dissertation </a:t>
            </a:r>
          </a:p>
        </p:txBody>
      </p:sp>
      <p:sp>
        <p:nvSpPr>
          <p:cNvPr id="4" name="Slide Number Placeholder 3"/>
          <p:cNvSpPr>
            <a:spLocks noGrp="1"/>
          </p:cNvSpPr>
          <p:nvPr>
            <p:ph type="sldNum" sz="quarter" idx="5"/>
          </p:nvPr>
        </p:nvSpPr>
        <p:spPr/>
        <p:txBody>
          <a:bodyPr/>
          <a:lstStyle/>
          <a:p>
            <a:fld id="{8191C064-8647-4876-9565-66F236AD4655}" type="slidenum">
              <a:rPr lang="en-US" smtClean="0"/>
              <a:t>8</a:t>
            </a:fld>
            <a:endParaRPr lang="en-US"/>
          </a:p>
        </p:txBody>
      </p:sp>
    </p:spTree>
    <p:extLst>
      <p:ext uri="{BB962C8B-B14F-4D97-AF65-F5344CB8AC3E}">
        <p14:creationId xmlns:p14="http://schemas.microsoft.com/office/powerpoint/2010/main" val="14979446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9</a:t>
            </a:fld>
            <a:endParaRPr lang="en-US"/>
          </a:p>
        </p:txBody>
      </p:sp>
    </p:spTree>
    <p:extLst>
      <p:ext uri="{BB962C8B-B14F-4D97-AF65-F5344CB8AC3E}">
        <p14:creationId xmlns:p14="http://schemas.microsoft.com/office/powerpoint/2010/main" val="8908427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EC021-105D-7729-08AA-9B9A76FFB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AFB1F2-EEE2-132D-F9FF-42F523DC0D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535390-006C-4094-C98F-BB2289B696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62DF4B-1FC7-52AE-EE94-69F7E050E5CF}"/>
              </a:ext>
            </a:extLst>
          </p:cNvPr>
          <p:cNvSpPr>
            <a:spLocks noGrp="1"/>
          </p:cNvSpPr>
          <p:nvPr>
            <p:ph type="sldNum" sz="quarter" idx="5"/>
          </p:nvPr>
        </p:nvSpPr>
        <p:spPr/>
        <p:txBody>
          <a:bodyPr/>
          <a:lstStyle/>
          <a:p>
            <a:fld id="{8191C064-8647-4876-9565-66F236AD4655}" type="slidenum">
              <a:rPr lang="en-US" smtClean="0"/>
              <a:t>10</a:t>
            </a:fld>
            <a:endParaRPr lang="en-US"/>
          </a:p>
        </p:txBody>
      </p:sp>
    </p:spTree>
    <p:extLst>
      <p:ext uri="{BB962C8B-B14F-4D97-AF65-F5344CB8AC3E}">
        <p14:creationId xmlns:p14="http://schemas.microsoft.com/office/powerpoint/2010/main" val="34851597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Looks like the mb groups are driving the differences in the overall groups more than the pt groups (they are more consistent/stable whereas the pt groups had more crossover). When looking at them overall, the overall cluster is giving additional information than just the two pt and mb </a:t>
            </a:r>
            <a:r>
              <a:rPr lang="en-US" dirty="0" err="1"/>
              <a:t>clusts</a:t>
            </a:r>
            <a:r>
              <a:rPr lang="en-US" dirty="0"/>
              <a:t> (no pair of pt and mb perfectly goes into one group </a:t>
            </a:r>
            <a:r>
              <a:rPr lang="en-US" dirty="0" err="1"/>
              <a:t>clust</a:t>
            </a:r>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group clusters are not fully 1-to-1, thus it is capturing something different than just combining the individual clusters</a:t>
            </a:r>
          </a:p>
          <a:p>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13</a:t>
            </a:fld>
            <a:endParaRPr lang="en-US"/>
          </a:p>
        </p:txBody>
      </p:sp>
    </p:spTree>
    <p:extLst>
      <p:ext uri="{BB962C8B-B14F-4D97-AF65-F5344CB8AC3E}">
        <p14:creationId xmlns:p14="http://schemas.microsoft.com/office/powerpoint/2010/main" val="40679645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85A52-488E-FA8E-6CFB-A23DCB9971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D2DBE2-4D44-951D-6802-01FCEAB589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DFEE49-8830-12D0-58E1-70C597159916}"/>
              </a:ext>
            </a:extLst>
          </p:cNvPr>
          <p:cNvSpPr>
            <a:spLocks noGrp="1"/>
          </p:cNvSpPr>
          <p:nvPr>
            <p:ph type="body" idx="1"/>
          </p:nvPr>
        </p:nvSpPr>
        <p:spPr/>
        <p:txBody>
          <a:bodyPr/>
          <a:lstStyle/>
          <a:p>
            <a:r>
              <a:rPr lang="en-US" dirty="0"/>
              <a:t>Looks like the mb groups are driving the differences in the overall groups more than the pt groups (they are more consistent/stable whereas the pt groups had more crossover). When looking at them overall, the overall cluster is giving additional information than just the two pt and mb </a:t>
            </a:r>
            <a:r>
              <a:rPr lang="en-US" dirty="0" err="1"/>
              <a:t>clusts</a:t>
            </a:r>
            <a:r>
              <a:rPr lang="en-US" dirty="0"/>
              <a:t> (no pair of pt and mb perfectly goes into one group </a:t>
            </a:r>
            <a:r>
              <a:rPr lang="en-US" dirty="0" err="1"/>
              <a:t>clust</a:t>
            </a:r>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group clusters are not fully 1-to-1, thus it is capturing something different than just combining the individual clusters</a:t>
            </a:r>
          </a:p>
          <a:p>
            <a:endParaRPr lang="en-US" dirty="0"/>
          </a:p>
        </p:txBody>
      </p:sp>
      <p:sp>
        <p:nvSpPr>
          <p:cNvPr id="4" name="Slide Number Placeholder 3">
            <a:extLst>
              <a:ext uri="{FF2B5EF4-FFF2-40B4-BE49-F238E27FC236}">
                <a16:creationId xmlns:a16="http://schemas.microsoft.com/office/drawing/2014/main" id="{0C3C5E37-6A67-66D4-8A31-32316A7FBE0D}"/>
              </a:ext>
            </a:extLst>
          </p:cNvPr>
          <p:cNvSpPr>
            <a:spLocks noGrp="1"/>
          </p:cNvSpPr>
          <p:nvPr>
            <p:ph type="sldNum" sz="quarter" idx="5"/>
          </p:nvPr>
        </p:nvSpPr>
        <p:spPr/>
        <p:txBody>
          <a:bodyPr/>
          <a:lstStyle/>
          <a:p>
            <a:fld id="{8191C064-8647-4876-9565-66F236AD4655}" type="slidenum">
              <a:rPr lang="en-US" smtClean="0"/>
              <a:t>14</a:t>
            </a:fld>
            <a:endParaRPr lang="en-US"/>
          </a:p>
        </p:txBody>
      </p:sp>
    </p:spTree>
    <p:extLst>
      <p:ext uri="{BB962C8B-B14F-4D97-AF65-F5344CB8AC3E}">
        <p14:creationId xmlns:p14="http://schemas.microsoft.com/office/powerpoint/2010/main" val="19916616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18</a:t>
            </a:fld>
            <a:endParaRPr lang="en-US"/>
          </a:p>
        </p:txBody>
      </p:sp>
    </p:spTree>
    <p:extLst>
      <p:ext uri="{BB962C8B-B14F-4D97-AF65-F5344CB8AC3E}">
        <p14:creationId xmlns:p14="http://schemas.microsoft.com/office/powerpoint/2010/main" val="14348189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C705EB-21DE-94F2-5CCA-AD2F6CE05AE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F320822-A3D4-D335-43E4-C4798B6C13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19C6FBB-D10E-367D-2B81-481F68FD2573}"/>
              </a:ext>
            </a:extLst>
          </p:cNvPr>
          <p:cNvSpPr>
            <a:spLocks noGrp="1"/>
          </p:cNvSpPr>
          <p:nvPr>
            <p:ph type="dt" sz="half" idx="10"/>
          </p:nvPr>
        </p:nvSpPr>
        <p:spPr/>
        <p:txBody>
          <a:bodyPr/>
          <a:lstStyle/>
          <a:p>
            <a:fld id="{8C2D25AA-EB80-4850-95EF-F61C8C15279B}" type="datetimeFigureOut">
              <a:rPr lang="en-US" smtClean="0"/>
              <a:t>3/30/2026</a:t>
            </a:fld>
            <a:endParaRPr lang="en-US"/>
          </a:p>
        </p:txBody>
      </p:sp>
      <p:sp>
        <p:nvSpPr>
          <p:cNvPr id="5" name="Footer Placeholder 4">
            <a:extLst>
              <a:ext uri="{FF2B5EF4-FFF2-40B4-BE49-F238E27FC236}">
                <a16:creationId xmlns:a16="http://schemas.microsoft.com/office/drawing/2014/main" id="{2C5F8460-C63D-A86B-83A2-07A206D46F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E8CC1-5102-070A-5BAF-DCAF0DA66BEF}"/>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37392286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B522A-3633-2E2B-310B-F623ED20BE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0787E0-5937-1189-DED8-BE779B801B4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A0EC5C-0B97-5826-8FDA-3DBD6D024365}"/>
              </a:ext>
            </a:extLst>
          </p:cNvPr>
          <p:cNvSpPr>
            <a:spLocks noGrp="1"/>
          </p:cNvSpPr>
          <p:nvPr>
            <p:ph type="dt" sz="half" idx="10"/>
          </p:nvPr>
        </p:nvSpPr>
        <p:spPr/>
        <p:txBody>
          <a:bodyPr/>
          <a:lstStyle/>
          <a:p>
            <a:fld id="{8C2D25AA-EB80-4850-95EF-F61C8C15279B}" type="datetimeFigureOut">
              <a:rPr lang="en-US" smtClean="0"/>
              <a:t>3/30/2026</a:t>
            </a:fld>
            <a:endParaRPr lang="en-US"/>
          </a:p>
        </p:txBody>
      </p:sp>
      <p:sp>
        <p:nvSpPr>
          <p:cNvPr id="5" name="Footer Placeholder 4">
            <a:extLst>
              <a:ext uri="{FF2B5EF4-FFF2-40B4-BE49-F238E27FC236}">
                <a16:creationId xmlns:a16="http://schemas.microsoft.com/office/drawing/2014/main" id="{5F9C0293-6F02-533A-5327-271B31F3FC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6DA91F-E365-54FE-ACA1-C791B397FD12}"/>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1212061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75C59-A0FF-78F5-A299-1A54D8C4F2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5E12F7-958C-3786-9384-C7FF7820713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957CADB-BC4A-CEE4-0750-F62F889BDB29}"/>
              </a:ext>
            </a:extLst>
          </p:cNvPr>
          <p:cNvSpPr>
            <a:spLocks noGrp="1"/>
          </p:cNvSpPr>
          <p:nvPr>
            <p:ph type="dt" sz="half" idx="10"/>
          </p:nvPr>
        </p:nvSpPr>
        <p:spPr/>
        <p:txBody>
          <a:bodyPr/>
          <a:lstStyle/>
          <a:p>
            <a:fld id="{8C2D25AA-EB80-4850-95EF-F61C8C15279B}" type="datetimeFigureOut">
              <a:rPr lang="en-US" smtClean="0"/>
              <a:t>3/30/2026</a:t>
            </a:fld>
            <a:endParaRPr lang="en-US"/>
          </a:p>
        </p:txBody>
      </p:sp>
      <p:sp>
        <p:nvSpPr>
          <p:cNvPr id="5" name="Footer Placeholder 4">
            <a:extLst>
              <a:ext uri="{FF2B5EF4-FFF2-40B4-BE49-F238E27FC236}">
                <a16:creationId xmlns:a16="http://schemas.microsoft.com/office/drawing/2014/main" id="{2B09572B-E277-89FE-F82D-46BDB74519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AAF1A3-2EFF-AB8E-7F73-0FCBF687A352}"/>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25804886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73F3-ACF1-A35C-1772-24D34584D9F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AC5C00D-D587-BF8A-B982-2795375DB9E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1EA0D5C-881D-0EEA-8028-A16DBE585D1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ED13206-63D8-E6E7-4A38-796FFA02F07C}"/>
              </a:ext>
            </a:extLst>
          </p:cNvPr>
          <p:cNvSpPr>
            <a:spLocks noGrp="1"/>
          </p:cNvSpPr>
          <p:nvPr>
            <p:ph type="dt" sz="half" idx="10"/>
          </p:nvPr>
        </p:nvSpPr>
        <p:spPr/>
        <p:txBody>
          <a:bodyPr/>
          <a:lstStyle/>
          <a:p>
            <a:fld id="{8C2D25AA-EB80-4850-95EF-F61C8C15279B}" type="datetimeFigureOut">
              <a:rPr lang="en-US" smtClean="0"/>
              <a:t>3/30/2026</a:t>
            </a:fld>
            <a:endParaRPr lang="en-US"/>
          </a:p>
        </p:txBody>
      </p:sp>
      <p:sp>
        <p:nvSpPr>
          <p:cNvPr id="6" name="Footer Placeholder 5">
            <a:extLst>
              <a:ext uri="{FF2B5EF4-FFF2-40B4-BE49-F238E27FC236}">
                <a16:creationId xmlns:a16="http://schemas.microsoft.com/office/drawing/2014/main" id="{5F3E9ADC-BE83-615A-D5D9-273088A4FBE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17348A6-DD57-F762-F145-293D48AC5690}"/>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1623384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4F8DA-DBBB-D331-4CFA-BCAA298D4EB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24B0E0B-56B5-3D6D-3CC6-5592A81A61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7B0570-12FA-D256-7F86-EBE2ADAD595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159D83-7ED7-5AA1-0347-2C925B705DB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F31833F-E943-A258-B819-0E45D8C76E3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3A32996-6865-82A6-CED6-5BCB6262BC3E}"/>
              </a:ext>
            </a:extLst>
          </p:cNvPr>
          <p:cNvSpPr>
            <a:spLocks noGrp="1"/>
          </p:cNvSpPr>
          <p:nvPr>
            <p:ph type="dt" sz="half" idx="10"/>
          </p:nvPr>
        </p:nvSpPr>
        <p:spPr/>
        <p:txBody>
          <a:bodyPr/>
          <a:lstStyle/>
          <a:p>
            <a:fld id="{8C2D25AA-EB80-4850-95EF-F61C8C15279B}" type="datetimeFigureOut">
              <a:rPr lang="en-US" smtClean="0"/>
              <a:t>3/30/2026</a:t>
            </a:fld>
            <a:endParaRPr lang="en-US"/>
          </a:p>
        </p:txBody>
      </p:sp>
      <p:sp>
        <p:nvSpPr>
          <p:cNvPr id="8" name="Footer Placeholder 7">
            <a:extLst>
              <a:ext uri="{FF2B5EF4-FFF2-40B4-BE49-F238E27FC236}">
                <a16:creationId xmlns:a16="http://schemas.microsoft.com/office/drawing/2014/main" id="{E9ABCCC2-CDB5-9065-C766-B4677A011B9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B35653D-691B-AE91-C6F4-0A7A2EDEC9C4}"/>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34711159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2C041-BE47-5D7E-0DF2-E2CD7E5B17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E55A608-3A8D-0482-08DF-CED5C3D47704}"/>
              </a:ext>
            </a:extLst>
          </p:cNvPr>
          <p:cNvSpPr>
            <a:spLocks noGrp="1"/>
          </p:cNvSpPr>
          <p:nvPr>
            <p:ph type="dt" sz="half" idx="10"/>
          </p:nvPr>
        </p:nvSpPr>
        <p:spPr/>
        <p:txBody>
          <a:bodyPr/>
          <a:lstStyle/>
          <a:p>
            <a:fld id="{8C2D25AA-EB80-4850-95EF-F61C8C15279B}" type="datetimeFigureOut">
              <a:rPr lang="en-US" smtClean="0"/>
              <a:t>3/30/2026</a:t>
            </a:fld>
            <a:endParaRPr lang="en-US"/>
          </a:p>
        </p:txBody>
      </p:sp>
      <p:sp>
        <p:nvSpPr>
          <p:cNvPr id="4" name="Footer Placeholder 3">
            <a:extLst>
              <a:ext uri="{FF2B5EF4-FFF2-40B4-BE49-F238E27FC236}">
                <a16:creationId xmlns:a16="http://schemas.microsoft.com/office/drawing/2014/main" id="{DF4B9F7D-1587-B24D-8455-6AB6A9BEE11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B19065E-990C-F15E-6753-9FBFA543A63B}"/>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33461935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0FE53A9-9EF8-3588-387E-547AFC261FE1}"/>
              </a:ext>
            </a:extLst>
          </p:cNvPr>
          <p:cNvSpPr>
            <a:spLocks noGrp="1"/>
          </p:cNvSpPr>
          <p:nvPr>
            <p:ph type="dt" sz="half" idx="10"/>
          </p:nvPr>
        </p:nvSpPr>
        <p:spPr/>
        <p:txBody>
          <a:bodyPr/>
          <a:lstStyle/>
          <a:p>
            <a:fld id="{8C2D25AA-EB80-4850-95EF-F61C8C15279B}" type="datetimeFigureOut">
              <a:rPr lang="en-US" smtClean="0"/>
              <a:t>3/30/2026</a:t>
            </a:fld>
            <a:endParaRPr lang="en-US"/>
          </a:p>
        </p:txBody>
      </p:sp>
      <p:sp>
        <p:nvSpPr>
          <p:cNvPr id="3" name="Footer Placeholder 2">
            <a:extLst>
              <a:ext uri="{FF2B5EF4-FFF2-40B4-BE49-F238E27FC236}">
                <a16:creationId xmlns:a16="http://schemas.microsoft.com/office/drawing/2014/main" id="{1000E68C-E4C9-30A4-A196-D7A3E3A493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5B2F1AE-2024-8A9C-0583-C327D4AC837F}"/>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20716960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0BAF19-148E-721E-51CE-B0885BC4EA0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74D3153-D062-667D-F20A-D5653EC3939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D89E464-445E-2417-59CC-F494123FD7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7CF154-E3DB-B793-8319-377905D2BE96}"/>
              </a:ext>
            </a:extLst>
          </p:cNvPr>
          <p:cNvSpPr>
            <a:spLocks noGrp="1"/>
          </p:cNvSpPr>
          <p:nvPr>
            <p:ph type="dt" sz="half" idx="10"/>
          </p:nvPr>
        </p:nvSpPr>
        <p:spPr/>
        <p:txBody>
          <a:bodyPr/>
          <a:lstStyle/>
          <a:p>
            <a:fld id="{8C2D25AA-EB80-4850-95EF-F61C8C15279B}" type="datetimeFigureOut">
              <a:rPr lang="en-US" smtClean="0"/>
              <a:t>3/30/2026</a:t>
            </a:fld>
            <a:endParaRPr lang="en-US"/>
          </a:p>
        </p:txBody>
      </p:sp>
      <p:sp>
        <p:nvSpPr>
          <p:cNvPr id="6" name="Footer Placeholder 5">
            <a:extLst>
              <a:ext uri="{FF2B5EF4-FFF2-40B4-BE49-F238E27FC236}">
                <a16:creationId xmlns:a16="http://schemas.microsoft.com/office/drawing/2014/main" id="{D17E1266-CFD9-62DB-5D18-DC0763358BC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174A0F-0D29-6527-A57F-96FED6C34FAF}"/>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30926931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33BC0-BE31-B506-4110-98A62B84D74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5B3DB7A-18DB-4F55-C0ED-2780326E4A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90A858A-01D6-61B9-2D0F-26205969BD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F66807E-DB1D-5CFF-425F-F677F87BC15A}"/>
              </a:ext>
            </a:extLst>
          </p:cNvPr>
          <p:cNvSpPr>
            <a:spLocks noGrp="1"/>
          </p:cNvSpPr>
          <p:nvPr>
            <p:ph type="dt" sz="half" idx="10"/>
          </p:nvPr>
        </p:nvSpPr>
        <p:spPr/>
        <p:txBody>
          <a:bodyPr/>
          <a:lstStyle/>
          <a:p>
            <a:fld id="{8C2D25AA-EB80-4850-95EF-F61C8C15279B}" type="datetimeFigureOut">
              <a:rPr lang="en-US" smtClean="0"/>
              <a:t>3/30/2026</a:t>
            </a:fld>
            <a:endParaRPr lang="en-US"/>
          </a:p>
        </p:txBody>
      </p:sp>
      <p:sp>
        <p:nvSpPr>
          <p:cNvPr id="6" name="Footer Placeholder 5">
            <a:extLst>
              <a:ext uri="{FF2B5EF4-FFF2-40B4-BE49-F238E27FC236}">
                <a16:creationId xmlns:a16="http://schemas.microsoft.com/office/drawing/2014/main" id="{2B68C2DA-D987-5C60-4BB5-7980EDDE57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8E473-3736-CB15-EC35-4632EEF78109}"/>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29240719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E9FC6-2B81-3625-5CF7-F5A9CBA7CA4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9D9C022-5BD1-CA0C-4868-8978056E4CE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AD629F-C4AD-D402-14E4-7D028C45202E}"/>
              </a:ext>
            </a:extLst>
          </p:cNvPr>
          <p:cNvSpPr>
            <a:spLocks noGrp="1"/>
          </p:cNvSpPr>
          <p:nvPr>
            <p:ph type="dt" sz="half" idx="10"/>
          </p:nvPr>
        </p:nvSpPr>
        <p:spPr/>
        <p:txBody>
          <a:bodyPr/>
          <a:lstStyle/>
          <a:p>
            <a:fld id="{8C2D25AA-EB80-4850-95EF-F61C8C15279B}" type="datetimeFigureOut">
              <a:rPr lang="en-US" smtClean="0"/>
              <a:t>3/30/2026</a:t>
            </a:fld>
            <a:endParaRPr lang="en-US"/>
          </a:p>
        </p:txBody>
      </p:sp>
      <p:sp>
        <p:nvSpPr>
          <p:cNvPr id="5" name="Footer Placeholder 4">
            <a:extLst>
              <a:ext uri="{FF2B5EF4-FFF2-40B4-BE49-F238E27FC236}">
                <a16:creationId xmlns:a16="http://schemas.microsoft.com/office/drawing/2014/main" id="{B7703D06-4CD4-5F09-F4BD-32C02985571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5535D9-02C8-8CCE-ED61-0074C561FA6A}"/>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40217311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0B550E-EBA4-2659-ABFC-D9F7F8D0DD8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DBF93A3-26C0-E94E-BCFA-E438E7A9DB6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508D60C-ABF6-EBE7-C093-BC09AEAACA56}"/>
              </a:ext>
            </a:extLst>
          </p:cNvPr>
          <p:cNvSpPr>
            <a:spLocks noGrp="1"/>
          </p:cNvSpPr>
          <p:nvPr>
            <p:ph type="dt" sz="half" idx="10"/>
          </p:nvPr>
        </p:nvSpPr>
        <p:spPr/>
        <p:txBody>
          <a:bodyPr/>
          <a:lstStyle/>
          <a:p>
            <a:fld id="{8C2D25AA-EB80-4850-95EF-F61C8C15279B}" type="datetimeFigureOut">
              <a:rPr lang="en-US" smtClean="0"/>
              <a:t>3/30/2026</a:t>
            </a:fld>
            <a:endParaRPr lang="en-US"/>
          </a:p>
        </p:txBody>
      </p:sp>
      <p:sp>
        <p:nvSpPr>
          <p:cNvPr id="5" name="Footer Placeholder 4">
            <a:extLst>
              <a:ext uri="{FF2B5EF4-FFF2-40B4-BE49-F238E27FC236}">
                <a16:creationId xmlns:a16="http://schemas.microsoft.com/office/drawing/2014/main" id="{D0F5DD3C-291F-1D16-6EC0-6828EA274E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931542-BF42-3C5B-4376-FD7066729061}"/>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2562041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41FCA1-9EB0-5ECF-DAE5-E7B08DE1B69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B54717C-9EA6-9EBF-838B-8160E789338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984343-40DE-ECB0-192C-5688D2FA8D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C2D25AA-EB80-4850-95EF-F61C8C15279B}" type="datetimeFigureOut">
              <a:rPr lang="en-US" smtClean="0"/>
              <a:t>3/30/2026</a:t>
            </a:fld>
            <a:endParaRPr lang="en-US"/>
          </a:p>
        </p:txBody>
      </p:sp>
      <p:sp>
        <p:nvSpPr>
          <p:cNvPr id="5" name="Footer Placeholder 4">
            <a:extLst>
              <a:ext uri="{FF2B5EF4-FFF2-40B4-BE49-F238E27FC236}">
                <a16:creationId xmlns:a16="http://schemas.microsoft.com/office/drawing/2014/main" id="{06D36770-A46C-7873-B29C-195D7955F97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2C988F3-76AA-9CB3-8EA0-31B68AB4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3FE422B-14AB-4675-9FEF-CF559844F92F}" type="slidenum">
              <a:rPr lang="en-US" smtClean="0"/>
              <a:t>‹#›</a:t>
            </a:fld>
            <a:endParaRPr lang="en-US"/>
          </a:p>
        </p:txBody>
      </p:sp>
    </p:spTree>
    <p:extLst>
      <p:ext uri="{BB962C8B-B14F-4D97-AF65-F5344CB8AC3E}">
        <p14:creationId xmlns:p14="http://schemas.microsoft.com/office/powerpoint/2010/main" val="32370839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jpe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microsoft.com/office/2007/relationships/hdphoto" Target="../media/hdphoto2.wdp"/><Relationship Id="rId5" Type="http://schemas.openxmlformats.org/officeDocument/2006/relationships/image" Target="../media/image13.png"/><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017E96-B33B-8FB2-5D5A-4B75BC8D79AE}"/>
              </a:ext>
            </a:extLst>
          </p:cNvPr>
          <p:cNvSpPr>
            <a:spLocks noGrp="1"/>
          </p:cNvSpPr>
          <p:nvPr>
            <p:ph type="ctrTitle"/>
          </p:nvPr>
        </p:nvSpPr>
        <p:spPr/>
        <p:txBody>
          <a:bodyPr>
            <a:normAutofit fontScale="90000"/>
          </a:bodyPr>
          <a:lstStyle/>
          <a:p>
            <a:r>
              <a:rPr lang="en-US" dirty="0"/>
              <a:t>Multi-</a:t>
            </a:r>
            <a:r>
              <a:rPr lang="en-US" dirty="0" err="1"/>
              <a:t>Omic</a:t>
            </a:r>
            <a:r>
              <a:rPr lang="en-US" dirty="0"/>
              <a:t> Clustering in Children with CF at the Initiation of a Pulmonary Exacerbation</a:t>
            </a:r>
          </a:p>
        </p:txBody>
      </p:sp>
      <p:sp>
        <p:nvSpPr>
          <p:cNvPr id="3" name="Subtitle 2">
            <a:extLst>
              <a:ext uri="{FF2B5EF4-FFF2-40B4-BE49-F238E27FC236}">
                <a16:creationId xmlns:a16="http://schemas.microsoft.com/office/drawing/2014/main" id="{2B385980-EBF2-C4F0-4F70-8E2F48576F4F}"/>
              </a:ext>
            </a:extLst>
          </p:cNvPr>
          <p:cNvSpPr>
            <a:spLocks noGrp="1"/>
          </p:cNvSpPr>
          <p:nvPr>
            <p:ph type="subTitle" idx="1"/>
          </p:nvPr>
        </p:nvSpPr>
        <p:spPr/>
        <p:txBody>
          <a:bodyPr/>
          <a:lstStyle/>
          <a:p>
            <a:r>
              <a:rPr lang="en-US" dirty="0"/>
              <a:t>Ezra Weible</a:t>
            </a:r>
          </a:p>
          <a:p>
            <a:r>
              <a:rPr lang="en-US" dirty="0"/>
              <a:t>10 February 2026</a:t>
            </a:r>
          </a:p>
        </p:txBody>
      </p:sp>
    </p:spTree>
    <p:extLst>
      <p:ext uri="{BB962C8B-B14F-4D97-AF65-F5344CB8AC3E}">
        <p14:creationId xmlns:p14="http://schemas.microsoft.com/office/powerpoint/2010/main" val="8751892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1D529-998D-60F8-35A8-F3DFF887F317}"/>
            </a:ext>
          </a:extLst>
        </p:cNvPr>
        <p:cNvGrpSpPr/>
        <p:nvPr/>
      </p:nvGrpSpPr>
      <p:grpSpPr>
        <a:xfrm>
          <a:off x="0" y="0"/>
          <a:ext cx="0" cy="0"/>
          <a:chOff x="0" y="0"/>
          <a:chExt cx="0" cy="0"/>
        </a:xfrm>
      </p:grpSpPr>
      <p:pic>
        <p:nvPicPr>
          <p:cNvPr id="1026" name="Picture 2" descr="How Cystic Fibrosis Is Treated">
            <a:extLst>
              <a:ext uri="{FF2B5EF4-FFF2-40B4-BE49-F238E27FC236}">
                <a16:creationId xmlns:a16="http://schemas.microsoft.com/office/drawing/2014/main" id="{7846733E-02E7-425C-83A0-7BA2B4AD5D5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32" r="-150"/>
          <a:stretch/>
        </p:blipFill>
        <p:spPr bwMode="auto">
          <a:xfrm>
            <a:off x="6096000" y="0"/>
            <a:ext cx="5748666" cy="3821739"/>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140+ Lung Cancer Research Stock Illustrations, Royalty-Free Vector Graphics  &amp; Clip Art - iStock">
            <a:extLst>
              <a:ext uri="{FF2B5EF4-FFF2-40B4-BE49-F238E27FC236}">
                <a16:creationId xmlns:a16="http://schemas.microsoft.com/office/drawing/2014/main" id="{61292346-C9EF-6BB4-9A03-F7B530A0C34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7096" b="7339"/>
          <a:stretch/>
        </p:blipFill>
        <p:spPr bwMode="auto">
          <a:xfrm>
            <a:off x="6433330" y="3821739"/>
            <a:ext cx="5074005" cy="303625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cteria PNG transparent image download, size: 1855x2093px">
            <a:extLst>
              <a:ext uri="{FF2B5EF4-FFF2-40B4-BE49-F238E27FC236}">
                <a16:creationId xmlns:a16="http://schemas.microsoft.com/office/drawing/2014/main" id="{5396A768-12AF-5032-71D4-033179E2EF7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93421" y="5140578"/>
            <a:ext cx="329922" cy="37222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Bacteria - Free vector clipart images on creazilla.com">
            <a:extLst>
              <a:ext uri="{FF2B5EF4-FFF2-40B4-BE49-F238E27FC236}">
                <a16:creationId xmlns:a16="http://schemas.microsoft.com/office/drawing/2014/main" id="{25430379-5990-D104-9396-B0238719278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811099" y="5178552"/>
            <a:ext cx="279647" cy="241325"/>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Bacteria - Free vector clipart images on creazilla.com">
            <a:extLst>
              <a:ext uri="{FF2B5EF4-FFF2-40B4-BE49-F238E27FC236}">
                <a16:creationId xmlns:a16="http://schemas.microsoft.com/office/drawing/2014/main" id="{266B8B87-A957-1558-1675-56A8FF0FE49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545683" y="5800188"/>
            <a:ext cx="276480" cy="26337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8" descr="Bacteria PNG transparent image download, size: 1855x2093px">
            <a:extLst>
              <a:ext uri="{FF2B5EF4-FFF2-40B4-BE49-F238E27FC236}">
                <a16:creationId xmlns:a16="http://schemas.microsoft.com/office/drawing/2014/main" id="{1202E9C5-7FFD-E61D-2B6A-3C1432534F3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48309" t="-1427" r="-3235" b="-838"/>
          <a:stretch/>
        </p:blipFill>
        <p:spPr bwMode="auto">
          <a:xfrm flipH="1">
            <a:off x="9548934" y="5299214"/>
            <a:ext cx="127933" cy="268767"/>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Bacteria - Free vector clipart images on creazilla.com">
            <a:extLst>
              <a:ext uri="{FF2B5EF4-FFF2-40B4-BE49-F238E27FC236}">
                <a16:creationId xmlns:a16="http://schemas.microsoft.com/office/drawing/2014/main" id="{C09A34DC-CDE1-4015-15F5-4E981392B96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19702" y="6018275"/>
            <a:ext cx="301377" cy="2413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Functional Consequences of CFTR Interactions in Cystic Fibrosis">
            <a:extLst>
              <a:ext uri="{FF2B5EF4-FFF2-40B4-BE49-F238E27FC236}">
                <a16:creationId xmlns:a16="http://schemas.microsoft.com/office/drawing/2014/main" id="{8430187A-38FE-2A2E-FEE8-F467EBEC8FC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41264" y="1"/>
            <a:ext cx="5201442" cy="342899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Cystic Fibrosis Patients Living Much Longer in 2022 Than in 2008">
            <a:extLst>
              <a:ext uri="{FF2B5EF4-FFF2-40B4-BE49-F238E27FC236}">
                <a16:creationId xmlns:a16="http://schemas.microsoft.com/office/drawing/2014/main" id="{D928CB49-C30C-5842-2E91-FAF27A40EC65}"/>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75299" y="3409085"/>
            <a:ext cx="5173369" cy="34489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80159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231D2-494A-C65C-641B-C213BEB3C783}"/>
              </a:ext>
            </a:extLst>
          </p:cNvPr>
          <p:cNvSpPr>
            <a:spLocks noGrp="1"/>
          </p:cNvSpPr>
          <p:nvPr>
            <p:ph type="title"/>
          </p:nvPr>
        </p:nvSpPr>
        <p:spPr>
          <a:xfrm>
            <a:off x="701269" y="365125"/>
            <a:ext cx="10883423" cy="1325563"/>
          </a:xfrm>
        </p:spPr>
        <p:txBody>
          <a:bodyPr/>
          <a:lstStyle/>
          <a:p>
            <a:r>
              <a:rPr lang="en-US" dirty="0"/>
              <a:t>Why Single-View Approaches Fall Short</a:t>
            </a:r>
          </a:p>
        </p:txBody>
      </p:sp>
      <p:sp>
        <p:nvSpPr>
          <p:cNvPr id="3" name="Content Placeholder 2">
            <a:extLst>
              <a:ext uri="{FF2B5EF4-FFF2-40B4-BE49-F238E27FC236}">
                <a16:creationId xmlns:a16="http://schemas.microsoft.com/office/drawing/2014/main" id="{2A8C60A8-B7A3-E1E6-BD3D-1A6BF6006A12}"/>
              </a:ext>
            </a:extLst>
          </p:cNvPr>
          <p:cNvSpPr>
            <a:spLocks noGrp="1"/>
          </p:cNvSpPr>
          <p:nvPr>
            <p:ph idx="1"/>
          </p:nvPr>
        </p:nvSpPr>
        <p:spPr>
          <a:xfrm>
            <a:off x="838200" y="1825625"/>
            <a:ext cx="5899484" cy="4351338"/>
          </a:xfrm>
        </p:spPr>
        <p:txBody>
          <a:bodyPr>
            <a:normAutofit/>
          </a:bodyPr>
          <a:lstStyle/>
          <a:p>
            <a:pPr marL="0" indent="0">
              <a:buNone/>
            </a:pPr>
            <a:endParaRPr lang="en-US" dirty="0">
              <a:solidFill>
                <a:schemeClr val="bg1"/>
              </a:solidFill>
            </a:endParaRPr>
          </a:p>
          <a:p>
            <a:pPr marL="0" indent="0">
              <a:buNone/>
            </a:pPr>
            <a:br>
              <a:rPr lang="en-US" dirty="0">
                <a:solidFill>
                  <a:schemeClr val="bg1"/>
                </a:solidFill>
              </a:rPr>
            </a:br>
            <a:br>
              <a:rPr lang="en-US" dirty="0">
                <a:solidFill>
                  <a:schemeClr val="bg1"/>
                </a:solidFill>
              </a:rPr>
            </a:br>
            <a:endParaRPr lang="en-US" dirty="0">
              <a:solidFill>
                <a:schemeClr val="bg1"/>
              </a:solidFill>
            </a:endParaRPr>
          </a:p>
          <a:p>
            <a:r>
              <a:rPr lang="en-US" dirty="0"/>
              <a:t>By integrating the lung microbiome (bacterial infections) with proteomics (host’s response), we may identify meaningful subgroups to aid in clinical decision making</a:t>
            </a:r>
          </a:p>
        </p:txBody>
      </p:sp>
      <p:pic>
        <p:nvPicPr>
          <p:cNvPr id="1026" name="Picture 2" descr="The Six Blind Men and the Elephant: Differing Perspectives on Grades | the  music room">
            <a:extLst>
              <a:ext uri="{FF2B5EF4-FFF2-40B4-BE49-F238E27FC236}">
                <a16:creationId xmlns:a16="http://schemas.microsoft.com/office/drawing/2014/main" id="{85D6B59B-D8BC-035B-7794-7CCC56263D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14597" y="3293215"/>
            <a:ext cx="5577403" cy="3564785"/>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57495DBD-827A-8358-14ED-24B2B6E83542}"/>
              </a:ext>
            </a:extLst>
          </p:cNvPr>
          <p:cNvSpPr txBox="1">
            <a:spLocks/>
          </p:cNvSpPr>
          <p:nvPr/>
        </p:nvSpPr>
        <p:spPr>
          <a:xfrm>
            <a:off x="838200" y="1825625"/>
            <a:ext cx="10515600" cy="18319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Individuals can show very different host responses to similar bacterial infections</a:t>
            </a:r>
          </a:p>
          <a:p>
            <a:r>
              <a:rPr lang="en-US" dirty="0"/>
              <a:t>No single measurement or ‘omics approach captures the full picture</a:t>
            </a:r>
          </a:p>
        </p:txBody>
      </p:sp>
    </p:spTree>
    <p:extLst>
      <p:ext uri="{BB962C8B-B14F-4D97-AF65-F5344CB8AC3E}">
        <p14:creationId xmlns:p14="http://schemas.microsoft.com/office/powerpoint/2010/main" val="5593913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599E2-CEC5-4746-8BA9-B79FA30591C0}"/>
              </a:ext>
            </a:extLst>
          </p:cNvPr>
          <p:cNvSpPr>
            <a:spLocks noGrp="1"/>
          </p:cNvSpPr>
          <p:nvPr>
            <p:ph type="title"/>
          </p:nvPr>
        </p:nvSpPr>
        <p:spPr/>
        <p:txBody>
          <a:bodyPr/>
          <a:lstStyle/>
          <a:p>
            <a:r>
              <a:rPr lang="en-US" dirty="0"/>
              <a:t>Dataset Overview	</a:t>
            </a:r>
          </a:p>
        </p:txBody>
      </p:sp>
      <p:sp>
        <p:nvSpPr>
          <p:cNvPr id="3" name="Content Placeholder 2">
            <a:extLst>
              <a:ext uri="{FF2B5EF4-FFF2-40B4-BE49-F238E27FC236}">
                <a16:creationId xmlns:a16="http://schemas.microsoft.com/office/drawing/2014/main" id="{C6386B26-18CF-6CFA-F951-B0EFB5197476}"/>
              </a:ext>
            </a:extLst>
          </p:cNvPr>
          <p:cNvSpPr>
            <a:spLocks noGrp="1"/>
          </p:cNvSpPr>
          <p:nvPr>
            <p:ph idx="1"/>
          </p:nvPr>
        </p:nvSpPr>
        <p:spPr>
          <a:xfrm>
            <a:off x="308343" y="1706991"/>
            <a:ext cx="3698577" cy="4351338"/>
          </a:xfrm>
        </p:spPr>
        <p:txBody>
          <a:bodyPr>
            <a:normAutofit/>
          </a:bodyPr>
          <a:lstStyle/>
          <a:p>
            <a:r>
              <a:rPr lang="en-US" dirty="0"/>
              <a:t>31 subjects (ages 10–22) hospitalized for CF pulmonary exacerbation</a:t>
            </a:r>
          </a:p>
          <a:p>
            <a:r>
              <a:rPr lang="en-US" dirty="0"/>
              <a:t>Samples collected at admission (Time 1) with relevant clinical data</a:t>
            </a:r>
          </a:p>
          <a:p>
            <a:pPr lvl="1"/>
            <a:r>
              <a:rPr lang="en-US" dirty="0"/>
              <a:t>Sputum for microbiome, blood for proteomics</a:t>
            </a:r>
          </a:p>
        </p:txBody>
      </p:sp>
      <p:pic>
        <p:nvPicPr>
          <p:cNvPr id="9" name="Picture 8">
            <a:extLst>
              <a:ext uri="{FF2B5EF4-FFF2-40B4-BE49-F238E27FC236}">
                <a16:creationId xmlns:a16="http://schemas.microsoft.com/office/drawing/2014/main" id="{F9158632-71E6-54B2-0B7A-B78D39A2E342}"/>
              </a:ext>
            </a:extLst>
          </p:cNvPr>
          <p:cNvPicPr>
            <a:picLocks noChangeAspect="1"/>
          </p:cNvPicPr>
          <p:nvPr/>
        </p:nvPicPr>
        <p:blipFill>
          <a:blip r:embed="rId3"/>
          <a:stretch>
            <a:fillRect/>
          </a:stretch>
        </p:blipFill>
        <p:spPr>
          <a:xfrm>
            <a:off x="4289244" y="1611013"/>
            <a:ext cx="3943900" cy="5220429"/>
          </a:xfrm>
          <a:prstGeom prst="rect">
            <a:avLst/>
          </a:prstGeom>
        </p:spPr>
      </p:pic>
      <p:pic>
        <p:nvPicPr>
          <p:cNvPr id="11" name="Picture 10">
            <a:extLst>
              <a:ext uri="{FF2B5EF4-FFF2-40B4-BE49-F238E27FC236}">
                <a16:creationId xmlns:a16="http://schemas.microsoft.com/office/drawing/2014/main" id="{53E39670-9FC3-8385-88EA-FDE9E1C354B0}"/>
              </a:ext>
            </a:extLst>
          </p:cNvPr>
          <p:cNvPicPr>
            <a:picLocks noChangeAspect="1"/>
          </p:cNvPicPr>
          <p:nvPr/>
        </p:nvPicPr>
        <p:blipFill>
          <a:blip r:embed="rId4"/>
          <a:stretch>
            <a:fillRect/>
          </a:stretch>
        </p:blipFill>
        <p:spPr>
          <a:xfrm>
            <a:off x="8233144" y="0"/>
            <a:ext cx="3650512" cy="6858000"/>
          </a:xfrm>
          <a:prstGeom prst="rect">
            <a:avLst/>
          </a:prstGeom>
        </p:spPr>
      </p:pic>
    </p:spTree>
    <p:extLst>
      <p:ext uri="{BB962C8B-B14F-4D97-AF65-F5344CB8AC3E}">
        <p14:creationId xmlns:p14="http://schemas.microsoft.com/office/powerpoint/2010/main" val="36966492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473CFA-358E-1E02-C6D7-81F317D50B6E}"/>
              </a:ext>
            </a:extLst>
          </p:cNvPr>
          <p:cNvSpPr>
            <a:spLocks noGrp="1"/>
          </p:cNvSpPr>
          <p:nvPr>
            <p:ph type="title"/>
          </p:nvPr>
        </p:nvSpPr>
        <p:spPr/>
        <p:txBody>
          <a:bodyPr/>
          <a:lstStyle/>
          <a:p>
            <a:r>
              <a:rPr lang="en-US" dirty="0"/>
              <a:t>Microbiome and Proteome Overview</a:t>
            </a:r>
          </a:p>
        </p:txBody>
      </p:sp>
      <p:sp>
        <p:nvSpPr>
          <p:cNvPr id="3" name="Content Placeholder 2">
            <a:extLst>
              <a:ext uri="{FF2B5EF4-FFF2-40B4-BE49-F238E27FC236}">
                <a16:creationId xmlns:a16="http://schemas.microsoft.com/office/drawing/2014/main" id="{F14A6AE9-CF3B-A0E6-184E-7E3598F6BB0C}"/>
              </a:ext>
            </a:extLst>
          </p:cNvPr>
          <p:cNvSpPr>
            <a:spLocks noGrp="1"/>
          </p:cNvSpPr>
          <p:nvPr>
            <p:ph idx="1"/>
          </p:nvPr>
        </p:nvSpPr>
        <p:spPr>
          <a:xfrm>
            <a:off x="838200" y="1825625"/>
            <a:ext cx="8356600" cy="4351338"/>
          </a:xfrm>
        </p:spPr>
        <p:txBody>
          <a:bodyPr>
            <a:normAutofit/>
          </a:bodyPr>
          <a:lstStyle/>
          <a:p>
            <a:r>
              <a:rPr lang="en-US" dirty="0"/>
              <a:t>Microbiome – sputum (16s rRNA sequencing)</a:t>
            </a:r>
          </a:p>
          <a:p>
            <a:pPr lvl="1"/>
            <a:r>
              <a:rPr lang="en-US" dirty="0"/>
              <a:t>Identifies which bacteria are present in the lungs</a:t>
            </a:r>
          </a:p>
          <a:p>
            <a:pPr lvl="1"/>
            <a:r>
              <a:rPr lang="en-US" dirty="0"/>
              <a:t>Analyzed as relative abundances (CLR-transformed)</a:t>
            </a:r>
          </a:p>
          <a:p>
            <a:pPr lvl="1"/>
            <a:r>
              <a:rPr lang="en-US" dirty="0"/>
              <a:t>73 bacterial taxa retained after filtering</a:t>
            </a:r>
          </a:p>
          <a:p>
            <a:r>
              <a:rPr lang="en-US" dirty="0"/>
              <a:t>Proteome – blood (</a:t>
            </a:r>
            <a:r>
              <a:rPr lang="en-US" dirty="0" err="1"/>
              <a:t>SomaScan</a:t>
            </a:r>
            <a:r>
              <a:rPr lang="en-US" dirty="0"/>
              <a:t>)</a:t>
            </a:r>
          </a:p>
          <a:p>
            <a:pPr lvl="1"/>
            <a:r>
              <a:rPr lang="en-US" dirty="0"/>
              <a:t>Reflects the host’s response, particularly by looking at proteins related to the inflammatory and immune system</a:t>
            </a:r>
          </a:p>
          <a:p>
            <a:pPr lvl="1"/>
            <a:r>
              <a:rPr lang="en-US" dirty="0"/>
              <a:t>Analyzed as relative fluorescent unit (RFU; log2 transformed)</a:t>
            </a:r>
          </a:p>
          <a:p>
            <a:pPr lvl="1"/>
            <a:r>
              <a:rPr lang="en-US" dirty="0"/>
              <a:t>3,895 proteins retained after filtering</a:t>
            </a:r>
          </a:p>
        </p:txBody>
      </p:sp>
      <p:pic>
        <p:nvPicPr>
          <p:cNvPr id="2050" name="Picture 2" descr="Lung microbiome of critically ill patients is predictive of clinical  outcomes">
            <a:extLst>
              <a:ext uri="{FF2B5EF4-FFF2-40B4-BE49-F238E27FC236}">
                <a16:creationId xmlns:a16="http://schemas.microsoft.com/office/drawing/2014/main" id="{D50E71D0-A2B8-D3D5-941C-05DEF54050B3}"/>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1046" b="98745" l="2034" r="94746">
                        <a14:foregroundMark x1="6441" y1="79079" x2="9153" y2="76360"/>
                        <a14:foregroundMark x1="7627" y1="82218" x2="2034" y2="80544"/>
                        <a14:foregroundMark x1="6780" y1="84519" x2="4746" y2="86611"/>
                        <a14:foregroundMark x1="26271" y1="73222" x2="23898" y2="98117"/>
                        <a14:foregroundMark x1="23898" y1="98117" x2="23559" y2="98745"/>
                        <a14:foregroundMark x1="42034" y1="63598" x2="46949" y2="54812"/>
                        <a14:foregroundMark x1="42034" y1="57950" x2="48475" y2="44142"/>
                        <a14:foregroundMark x1="41695" y1="60042" x2="50169" y2="43305"/>
                        <a14:foregroundMark x1="50169" y1="43305" x2="40000" y2="48745"/>
                        <a14:foregroundMark x1="44915" y1="44142" x2="39831" y2="40586"/>
                        <a14:foregroundMark x1="50678" y1="24686" x2="46441" y2="26151"/>
                        <a14:foregroundMark x1="59492" y1="22803" x2="68644" y2="36611"/>
                        <a14:foregroundMark x1="68644" y1="36611" x2="67966" y2="32636"/>
                        <a14:foregroundMark x1="33138" y1="51511" x2="31356" y2="56695"/>
                        <a14:foregroundMark x1="36102" y1="42887" x2="35161" y2="45626"/>
                        <a14:foregroundMark x1="53220" y1="29916" x2="59661" y2="13389"/>
                        <a14:foregroundMark x1="59661" y1="13389" x2="64407" y2="29289"/>
                        <a14:foregroundMark x1="64407" y1="29289" x2="68644" y2="34100"/>
                        <a14:foregroundMark x1="64576" y1="33054" x2="67966" y2="48745"/>
                        <a14:foregroundMark x1="67288" y1="22803" x2="73220" y2="45188"/>
                        <a14:foregroundMark x1="73220" y1="45188" x2="63559" y2="27406"/>
                        <a14:foregroundMark x1="63559" y1="27406" x2="77458" y2="38912"/>
                        <a14:foregroundMark x1="77458" y1="38912" x2="62373" y2="48117"/>
                        <a14:foregroundMark x1="62373" y1="48117" x2="58814" y2="31799"/>
                        <a14:foregroundMark x1="58814" y1="31799" x2="69661" y2="19665"/>
                        <a14:foregroundMark x1="76949" y1="46234" x2="75763" y2="43096"/>
                        <a14:foregroundMark x1="65763" y1="47908" x2="71864" y2="49582"/>
                        <a14:foregroundMark x1="53390" y1="32845" x2="40678" y2="31172"/>
                        <a14:foregroundMark x1="50678" y1="21757" x2="44576" y2="29079"/>
                        <a14:foregroundMark x1="52203" y1="19456" x2="48983" y2="16946"/>
                        <a14:foregroundMark x1="56780" y1="16736" x2="55932" y2="5858"/>
                        <a14:foregroundMark x1="56780" y1="1464" x2="56780" y2="1464"/>
                        <a14:foregroundMark x1="53898" y1="4184" x2="33051" y2="30335"/>
                        <a14:foregroundMark x1="63898" y1="6904" x2="81864" y2="38912"/>
                        <a14:foregroundMark x1="81864" y1="38912" x2="83390" y2="50209"/>
                        <a14:foregroundMark x1="84407" y1="59833" x2="87288" y2="80544"/>
                        <a14:foregroundMark x1="89153" y1="82636" x2="91695" y2="87448"/>
                        <a14:foregroundMark x1="94068" y1="87029" x2="94746" y2="88912"/>
                        <a14:foregroundMark x1="74576" y1="51674" x2="74576" y2="51255"/>
                        <a14:foregroundMark x1="43051" y1="39958" x2="46610" y2="43724"/>
                        <a14:foregroundMark x1="46780" y1="55439" x2="50000" y2="47699"/>
                        <a14:backgroundMark x1="34407" y1="59623" x2="34407" y2="59623"/>
                        <a14:backgroundMark x1="35424" y1="47908" x2="35424" y2="47908"/>
                        <a14:backgroundMark x1="35085" y1="47908" x2="34746" y2="46025"/>
                        <a14:backgroundMark x1="35254" y1="45607" x2="37627" y2="62971"/>
                        <a14:backgroundMark x1="37627" y1="62971" x2="34746" y2="47699"/>
                        <a14:backgroundMark x1="1525" y1="85565" x2="2542" y2="87238"/>
                      </a14:backgroundRemoval>
                    </a14:imgEffect>
                  </a14:imgLayer>
                </a14:imgProps>
              </a:ext>
              <a:ext uri="{28A0092B-C50C-407E-A947-70E740481C1C}">
                <a14:useLocalDpi xmlns:a14="http://schemas.microsoft.com/office/drawing/2010/main" val="0"/>
              </a:ext>
            </a:extLst>
          </a:blip>
          <a:srcRect b="12114"/>
          <a:stretch>
            <a:fillRect/>
          </a:stretch>
        </p:blipFill>
        <p:spPr bwMode="auto">
          <a:xfrm>
            <a:off x="9090823" y="1825625"/>
            <a:ext cx="2197407" cy="156460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Routine Blood Work: Test Types, Importance, Results">
            <a:extLst>
              <a:ext uri="{FF2B5EF4-FFF2-40B4-BE49-F238E27FC236}">
                <a16:creationId xmlns:a16="http://schemas.microsoft.com/office/drawing/2014/main" id="{125A97CC-B521-F49B-911A-8C0157756CEA}"/>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5500" b="91700" l="2267" r="95267">
                        <a14:foregroundMark x1="59600" y1="13100" x2="59600" y2="13100"/>
                        <a14:foregroundMark x1="58400" y1="7000" x2="58000" y2="5500"/>
                        <a14:foregroundMark x1="83867" y1="41900" x2="92067" y2="67100"/>
                        <a14:foregroundMark x1="92067" y1="67100" x2="82667" y2="51700"/>
                        <a14:foregroundMark x1="89800" y1="72200" x2="95267" y2="75200"/>
                        <a14:foregroundMark x1="34333" y1="73400" x2="34933" y2="71500"/>
                        <a14:foregroundMark x1="24733" y1="69100" x2="22067" y2="69700"/>
                        <a14:foregroundMark x1="13933" y1="71200" x2="2267" y2="88400"/>
                        <a14:foregroundMark x1="2267" y1="88400" x2="2267" y2="88400"/>
                        <a14:foregroundMark x1="13133" y1="80400" x2="44533" y2="77700"/>
                        <a14:foregroundMark x1="44533" y1="77700" x2="45333" y2="77100"/>
                        <a14:foregroundMark x1="40000" y1="75200" x2="37600" y2="81300"/>
                        <a14:foregroundMark x1="36933" y1="72500" x2="52933" y2="82400"/>
                        <a14:foregroundMark x1="52933" y1="82400" x2="49800" y2="74600"/>
                        <a14:foregroundMark x1="3533" y1="87800" x2="3933" y2="91700"/>
                      </a14:backgroundRemoval>
                    </a14:imgEffect>
                  </a14:imgLayer>
                </a14:imgProps>
              </a:ext>
              <a:ext uri="{28A0092B-C50C-407E-A947-70E740481C1C}">
                <a14:useLocalDpi xmlns:a14="http://schemas.microsoft.com/office/drawing/2010/main" val="0"/>
              </a:ext>
            </a:extLst>
          </a:blip>
          <a:srcRect/>
          <a:stretch>
            <a:fillRect/>
          </a:stretch>
        </p:blipFill>
        <p:spPr bwMode="auto">
          <a:xfrm>
            <a:off x="9124950" y="4001294"/>
            <a:ext cx="2425700" cy="16171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9212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70158-9708-27ED-4DE7-9DC4CD33B94D}"/>
              </a:ext>
            </a:extLst>
          </p:cNvPr>
          <p:cNvSpPr>
            <a:spLocks noGrp="1"/>
          </p:cNvSpPr>
          <p:nvPr>
            <p:ph type="title"/>
          </p:nvPr>
        </p:nvSpPr>
        <p:spPr/>
        <p:txBody>
          <a:bodyPr/>
          <a:lstStyle/>
          <a:p>
            <a:r>
              <a:rPr lang="en-US" dirty="0"/>
              <a:t>Research Question</a:t>
            </a:r>
          </a:p>
        </p:txBody>
      </p:sp>
      <p:sp>
        <p:nvSpPr>
          <p:cNvPr id="3" name="Content Placeholder 2">
            <a:extLst>
              <a:ext uri="{FF2B5EF4-FFF2-40B4-BE49-F238E27FC236}">
                <a16:creationId xmlns:a16="http://schemas.microsoft.com/office/drawing/2014/main" id="{72BF229D-4DF7-F8D0-B34B-83C1AF2ABE70}"/>
              </a:ext>
            </a:extLst>
          </p:cNvPr>
          <p:cNvSpPr>
            <a:spLocks noGrp="1"/>
          </p:cNvSpPr>
          <p:nvPr>
            <p:ph idx="1"/>
          </p:nvPr>
        </p:nvSpPr>
        <p:spPr/>
        <p:txBody>
          <a:bodyPr>
            <a:normAutofit/>
          </a:bodyPr>
          <a:lstStyle/>
          <a:p>
            <a:r>
              <a:rPr lang="en-US" dirty="0"/>
              <a:t>Can we identify subgroups of patients who share similar microbiome-proteome patterns during CF exacerbations?</a:t>
            </a:r>
          </a:p>
          <a:p>
            <a:pPr lvl="1"/>
            <a:r>
              <a:rPr lang="en-US" dirty="0"/>
              <a:t>Is a multi-omics approach providing additional information than either individually?</a:t>
            </a:r>
          </a:p>
          <a:p>
            <a:pPr lvl="1"/>
            <a:r>
              <a:rPr lang="en-US" dirty="0"/>
              <a:t>What makes these subgroups distinct on a bacterial-protein level?</a:t>
            </a:r>
          </a:p>
          <a:p>
            <a:pPr lvl="1"/>
            <a:r>
              <a:rPr lang="en-US" dirty="0"/>
              <a:t>Is there any clinical relevance to these subgroups?</a:t>
            </a:r>
          </a:p>
          <a:p>
            <a:pPr lvl="1"/>
            <a:endParaRPr lang="en-US" dirty="0"/>
          </a:p>
        </p:txBody>
      </p:sp>
    </p:spTree>
    <p:extLst>
      <p:ext uri="{BB962C8B-B14F-4D97-AF65-F5344CB8AC3E}">
        <p14:creationId xmlns:p14="http://schemas.microsoft.com/office/powerpoint/2010/main" val="36748593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2185C7-D426-7132-ACF3-E902B3329F01}"/>
              </a:ext>
            </a:extLst>
          </p:cNvPr>
          <p:cNvSpPr>
            <a:spLocks noGrp="1"/>
          </p:cNvSpPr>
          <p:nvPr>
            <p:ph type="title"/>
          </p:nvPr>
        </p:nvSpPr>
        <p:spPr/>
        <p:txBody>
          <a:bodyPr/>
          <a:lstStyle/>
          <a:p>
            <a:r>
              <a:rPr lang="en-US" dirty="0"/>
              <a:t>Spectral Clustering</a:t>
            </a:r>
          </a:p>
        </p:txBody>
      </p:sp>
      <p:sp>
        <p:nvSpPr>
          <p:cNvPr id="3" name="Content Placeholder 2">
            <a:extLst>
              <a:ext uri="{FF2B5EF4-FFF2-40B4-BE49-F238E27FC236}">
                <a16:creationId xmlns:a16="http://schemas.microsoft.com/office/drawing/2014/main" id="{F92CD0A6-26BB-ED8C-8338-505577AF2C98}"/>
              </a:ext>
            </a:extLst>
          </p:cNvPr>
          <p:cNvSpPr>
            <a:spLocks noGrp="1"/>
          </p:cNvSpPr>
          <p:nvPr>
            <p:ph idx="1"/>
          </p:nvPr>
        </p:nvSpPr>
        <p:spPr/>
        <p:txBody>
          <a:bodyPr/>
          <a:lstStyle/>
          <a:p>
            <a:r>
              <a:rPr lang="en-US" dirty="0"/>
              <a:t>Captures complex, non‑linear structure that k‑means cannot</a:t>
            </a:r>
          </a:p>
          <a:p>
            <a:pPr lvl="1"/>
            <a:r>
              <a:rPr lang="en-US" dirty="0"/>
              <a:t>Suitable for high-dimensional biological data</a:t>
            </a:r>
          </a:p>
          <a:p>
            <a:r>
              <a:rPr lang="en-US" dirty="0"/>
              <a:t>Builds a similarity graph between subjects and finds structure using the graph Laplacian’s eigenvectors</a:t>
            </a:r>
          </a:p>
          <a:p>
            <a:pPr lvl="1"/>
            <a:endParaRPr lang="en-US" dirty="0"/>
          </a:p>
        </p:txBody>
      </p:sp>
      <p:pic>
        <p:nvPicPr>
          <p:cNvPr id="5" name="Picture 4">
            <a:extLst>
              <a:ext uri="{FF2B5EF4-FFF2-40B4-BE49-F238E27FC236}">
                <a16:creationId xmlns:a16="http://schemas.microsoft.com/office/drawing/2014/main" id="{00F79A68-C7DE-0C88-C73C-92E4B62B2FDF}"/>
              </a:ext>
            </a:extLst>
          </p:cNvPr>
          <p:cNvPicPr>
            <a:picLocks noChangeAspect="1"/>
          </p:cNvPicPr>
          <p:nvPr/>
        </p:nvPicPr>
        <p:blipFill>
          <a:blip r:embed="rId3"/>
          <a:stretch>
            <a:fillRect/>
          </a:stretch>
        </p:blipFill>
        <p:spPr>
          <a:xfrm>
            <a:off x="2719372" y="3652024"/>
            <a:ext cx="6753255" cy="3102847"/>
          </a:xfrm>
          <a:prstGeom prst="rect">
            <a:avLst/>
          </a:prstGeom>
        </p:spPr>
      </p:pic>
    </p:spTree>
    <p:extLst>
      <p:ext uri="{BB962C8B-B14F-4D97-AF65-F5344CB8AC3E}">
        <p14:creationId xmlns:p14="http://schemas.microsoft.com/office/powerpoint/2010/main" val="2202053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95986-277D-56D4-4D36-CEF315D807C2}"/>
              </a:ext>
            </a:extLst>
          </p:cNvPr>
          <p:cNvSpPr>
            <a:spLocks noGrp="1"/>
          </p:cNvSpPr>
          <p:nvPr>
            <p:ph type="title"/>
          </p:nvPr>
        </p:nvSpPr>
        <p:spPr/>
        <p:txBody>
          <a:bodyPr>
            <a:normAutofit/>
          </a:bodyPr>
          <a:lstStyle/>
          <a:p>
            <a:r>
              <a:rPr lang="en-US" dirty="0"/>
              <a:t>Multi-</a:t>
            </a:r>
            <a:r>
              <a:rPr lang="en-US" dirty="0" err="1"/>
              <a:t>Omic</a:t>
            </a:r>
            <a:r>
              <a:rPr lang="en-US" dirty="0"/>
              <a:t> Spectral Clustering using the Flag Manifold (MMOC) 		                    </a:t>
            </a:r>
            <a:r>
              <a:rPr lang="en-US" sz="2800" dirty="0"/>
              <a:t>Charlie Carpenter</a:t>
            </a:r>
            <a:endParaRPr lang="en-US" dirty="0"/>
          </a:p>
        </p:txBody>
      </p:sp>
      <p:sp>
        <p:nvSpPr>
          <p:cNvPr id="3" name="Content Placeholder 2">
            <a:extLst>
              <a:ext uri="{FF2B5EF4-FFF2-40B4-BE49-F238E27FC236}">
                <a16:creationId xmlns:a16="http://schemas.microsoft.com/office/drawing/2014/main" id="{41478F2E-9D04-8D83-7477-95FC9D46E58A}"/>
              </a:ext>
            </a:extLst>
          </p:cNvPr>
          <p:cNvSpPr>
            <a:spLocks noGrp="1"/>
          </p:cNvSpPr>
          <p:nvPr>
            <p:ph idx="1"/>
          </p:nvPr>
        </p:nvSpPr>
        <p:spPr/>
        <p:txBody>
          <a:bodyPr/>
          <a:lstStyle/>
          <a:p>
            <a:r>
              <a:rPr lang="en-US" dirty="0"/>
              <a:t>Flag manifold allows for multi-view clustering</a:t>
            </a:r>
          </a:p>
          <a:p>
            <a:pPr lvl="1"/>
            <a:r>
              <a:rPr lang="en-US" dirty="0"/>
              <a:t>Can handle difference in number of features or clusters across views</a:t>
            </a:r>
          </a:p>
          <a:p>
            <a:endParaRPr lang="en-US" dirty="0"/>
          </a:p>
          <a:p>
            <a:endParaRPr lang="en-US" dirty="0"/>
          </a:p>
        </p:txBody>
      </p:sp>
      <p:pic>
        <p:nvPicPr>
          <p:cNvPr id="7" name="Picture 6">
            <a:extLst>
              <a:ext uri="{FF2B5EF4-FFF2-40B4-BE49-F238E27FC236}">
                <a16:creationId xmlns:a16="http://schemas.microsoft.com/office/drawing/2014/main" id="{F6497FB1-48A6-DD48-6063-46D4B22EDA67}"/>
              </a:ext>
            </a:extLst>
          </p:cNvPr>
          <p:cNvPicPr>
            <a:picLocks noChangeAspect="1"/>
          </p:cNvPicPr>
          <p:nvPr/>
        </p:nvPicPr>
        <p:blipFill>
          <a:blip r:embed="rId3"/>
          <a:stretch>
            <a:fillRect/>
          </a:stretch>
        </p:blipFill>
        <p:spPr>
          <a:xfrm>
            <a:off x="2918969" y="3061853"/>
            <a:ext cx="6354062" cy="3115110"/>
          </a:xfrm>
          <a:prstGeom prst="rect">
            <a:avLst/>
          </a:prstGeom>
        </p:spPr>
      </p:pic>
    </p:spTree>
    <p:extLst>
      <p:ext uri="{BB962C8B-B14F-4D97-AF65-F5344CB8AC3E}">
        <p14:creationId xmlns:p14="http://schemas.microsoft.com/office/powerpoint/2010/main" val="27672818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62C1C4B-A6D3-B21E-545E-4083D0B673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76799" y="0"/>
            <a:ext cx="7315201" cy="6858000"/>
          </a:xfrm>
          <a:prstGeom prst="rect">
            <a:avLst/>
          </a:prstGeom>
        </p:spPr>
      </p:pic>
      <p:pic>
        <p:nvPicPr>
          <p:cNvPr id="9" name="Picture 8">
            <a:extLst>
              <a:ext uri="{FF2B5EF4-FFF2-40B4-BE49-F238E27FC236}">
                <a16:creationId xmlns:a16="http://schemas.microsoft.com/office/drawing/2014/main" id="{4737FCA0-411A-5BB7-A771-623FEA6965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275021"/>
            <a:ext cx="5159490" cy="3582979"/>
          </a:xfrm>
          <a:prstGeom prst="rect">
            <a:avLst/>
          </a:prstGeom>
        </p:spPr>
      </p:pic>
      <p:sp>
        <p:nvSpPr>
          <p:cNvPr id="10" name="Content Placeholder 2">
            <a:extLst>
              <a:ext uri="{FF2B5EF4-FFF2-40B4-BE49-F238E27FC236}">
                <a16:creationId xmlns:a16="http://schemas.microsoft.com/office/drawing/2014/main" id="{8F54C25E-ADAA-5203-7182-733C640B47B4}"/>
              </a:ext>
            </a:extLst>
          </p:cNvPr>
          <p:cNvSpPr>
            <a:spLocks noGrp="1"/>
          </p:cNvSpPr>
          <p:nvPr>
            <p:ph idx="1"/>
          </p:nvPr>
        </p:nvSpPr>
        <p:spPr>
          <a:xfrm>
            <a:off x="838200" y="1825625"/>
            <a:ext cx="4321290" cy="1325563"/>
          </a:xfrm>
        </p:spPr>
        <p:txBody>
          <a:bodyPr/>
          <a:lstStyle/>
          <a:p>
            <a:r>
              <a:rPr lang="en-US" dirty="0"/>
              <a:t>3 Proteomics Clusters based on </a:t>
            </a:r>
            <a:r>
              <a:rPr lang="en-US" dirty="0" err="1"/>
              <a:t>TrCovW</a:t>
            </a:r>
            <a:r>
              <a:rPr lang="en-US" dirty="0"/>
              <a:t> index and visual inspection </a:t>
            </a:r>
          </a:p>
        </p:txBody>
      </p:sp>
      <p:sp>
        <p:nvSpPr>
          <p:cNvPr id="2" name="Title 1">
            <a:extLst>
              <a:ext uri="{FF2B5EF4-FFF2-40B4-BE49-F238E27FC236}">
                <a16:creationId xmlns:a16="http://schemas.microsoft.com/office/drawing/2014/main" id="{79ECBD2C-1A64-FC25-D30D-8F41EE8C96C9}"/>
              </a:ext>
            </a:extLst>
          </p:cNvPr>
          <p:cNvSpPr>
            <a:spLocks noGrp="1"/>
          </p:cNvSpPr>
          <p:nvPr>
            <p:ph type="title"/>
          </p:nvPr>
        </p:nvSpPr>
        <p:spPr/>
        <p:txBody>
          <a:bodyPr/>
          <a:lstStyle/>
          <a:p>
            <a:r>
              <a:rPr lang="en-US" dirty="0"/>
              <a:t>Proteomics Clustering</a:t>
            </a:r>
          </a:p>
        </p:txBody>
      </p:sp>
    </p:spTree>
    <p:extLst>
      <p:ext uri="{BB962C8B-B14F-4D97-AF65-F5344CB8AC3E}">
        <p14:creationId xmlns:p14="http://schemas.microsoft.com/office/powerpoint/2010/main" val="3188146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F88E9-E9A8-4C2A-5BFD-4E86B1D6466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36654C6D-16DE-416F-1DE1-84F1B944D7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3275021"/>
            <a:ext cx="5159490" cy="3582979"/>
          </a:xfrm>
          <a:prstGeom prst="rect">
            <a:avLst/>
          </a:prstGeom>
        </p:spPr>
      </p:pic>
      <p:pic>
        <p:nvPicPr>
          <p:cNvPr id="4" name="Picture 3">
            <a:extLst>
              <a:ext uri="{FF2B5EF4-FFF2-40B4-BE49-F238E27FC236}">
                <a16:creationId xmlns:a16="http://schemas.microsoft.com/office/drawing/2014/main" id="{29A60B49-9B0C-3055-E900-9B3F2BFA1B6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76798" y="0"/>
            <a:ext cx="7315201" cy="6858000"/>
          </a:xfrm>
          <a:prstGeom prst="rect">
            <a:avLst/>
          </a:prstGeom>
        </p:spPr>
      </p:pic>
      <p:sp>
        <p:nvSpPr>
          <p:cNvPr id="10" name="Content Placeholder 2">
            <a:extLst>
              <a:ext uri="{FF2B5EF4-FFF2-40B4-BE49-F238E27FC236}">
                <a16:creationId xmlns:a16="http://schemas.microsoft.com/office/drawing/2014/main" id="{180691B9-3F9C-B683-4A76-6A3E9D8C56C5}"/>
              </a:ext>
            </a:extLst>
          </p:cNvPr>
          <p:cNvSpPr>
            <a:spLocks noGrp="1"/>
          </p:cNvSpPr>
          <p:nvPr>
            <p:ph idx="1"/>
          </p:nvPr>
        </p:nvSpPr>
        <p:spPr>
          <a:xfrm>
            <a:off x="838200" y="1825625"/>
            <a:ext cx="4321290" cy="1325563"/>
          </a:xfrm>
        </p:spPr>
        <p:txBody>
          <a:bodyPr/>
          <a:lstStyle/>
          <a:p>
            <a:r>
              <a:rPr lang="en-US" dirty="0"/>
              <a:t>3 Microbiome Clusters based on </a:t>
            </a:r>
            <a:r>
              <a:rPr lang="en-US" dirty="0" err="1"/>
              <a:t>TrCovW</a:t>
            </a:r>
            <a:r>
              <a:rPr lang="en-US" dirty="0"/>
              <a:t> index and visual inspection </a:t>
            </a:r>
          </a:p>
        </p:txBody>
      </p:sp>
      <p:sp>
        <p:nvSpPr>
          <p:cNvPr id="2" name="Title 1">
            <a:extLst>
              <a:ext uri="{FF2B5EF4-FFF2-40B4-BE49-F238E27FC236}">
                <a16:creationId xmlns:a16="http://schemas.microsoft.com/office/drawing/2014/main" id="{CB3377E8-1CC9-90AB-EC7C-BBDDC4949805}"/>
              </a:ext>
            </a:extLst>
          </p:cNvPr>
          <p:cNvSpPr>
            <a:spLocks noGrp="1"/>
          </p:cNvSpPr>
          <p:nvPr>
            <p:ph type="title"/>
          </p:nvPr>
        </p:nvSpPr>
        <p:spPr/>
        <p:txBody>
          <a:bodyPr/>
          <a:lstStyle/>
          <a:p>
            <a:r>
              <a:rPr lang="en-US" dirty="0"/>
              <a:t>Microbiome Clustering</a:t>
            </a:r>
          </a:p>
        </p:txBody>
      </p:sp>
    </p:spTree>
    <p:extLst>
      <p:ext uri="{BB962C8B-B14F-4D97-AF65-F5344CB8AC3E}">
        <p14:creationId xmlns:p14="http://schemas.microsoft.com/office/powerpoint/2010/main" val="38856356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03BBC-43FC-F71A-D489-6F5E0DE76D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8F5A1E-74F2-2966-DDDC-12D669C4B7F3}"/>
              </a:ext>
            </a:extLst>
          </p:cNvPr>
          <p:cNvSpPr>
            <a:spLocks noGrp="1"/>
          </p:cNvSpPr>
          <p:nvPr>
            <p:ph type="title"/>
          </p:nvPr>
        </p:nvSpPr>
        <p:spPr/>
        <p:txBody>
          <a:bodyPr/>
          <a:lstStyle/>
          <a:p>
            <a:r>
              <a:rPr lang="en-US" dirty="0"/>
              <a:t>Joint Clustering</a:t>
            </a:r>
          </a:p>
        </p:txBody>
      </p:sp>
      <p:pic>
        <p:nvPicPr>
          <p:cNvPr id="7" name="Picture 6">
            <a:extLst>
              <a:ext uri="{FF2B5EF4-FFF2-40B4-BE49-F238E27FC236}">
                <a16:creationId xmlns:a16="http://schemas.microsoft.com/office/drawing/2014/main" id="{17F4F7C2-BE08-A7E0-95FC-B947B9E9063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33999" y="-1"/>
            <a:ext cx="6858001" cy="6858001"/>
          </a:xfrm>
          <a:prstGeom prst="rect">
            <a:avLst/>
          </a:prstGeom>
        </p:spPr>
      </p:pic>
      <p:sp>
        <p:nvSpPr>
          <p:cNvPr id="8" name="Content Placeholder 2">
            <a:extLst>
              <a:ext uri="{FF2B5EF4-FFF2-40B4-BE49-F238E27FC236}">
                <a16:creationId xmlns:a16="http://schemas.microsoft.com/office/drawing/2014/main" id="{A568AA2D-152F-3939-BC1B-C0315A9075F8}"/>
              </a:ext>
            </a:extLst>
          </p:cNvPr>
          <p:cNvSpPr>
            <a:spLocks noGrp="1"/>
          </p:cNvSpPr>
          <p:nvPr>
            <p:ph idx="1"/>
          </p:nvPr>
        </p:nvSpPr>
        <p:spPr>
          <a:xfrm>
            <a:off x="838200" y="3428999"/>
            <a:ext cx="4321290" cy="1944991"/>
          </a:xfrm>
        </p:spPr>
        <p:txBody>
          <a:bodyPr>
            <a:normAutofit lnSpcReduction="10000"/>
          </a:bodyPr>
          <a:lstStyle/>
          <a:p>
            <a:r>
              <a:rPr lang="en-US" dirty="0"/>
              <a:t>Group 1: 9 subjects</a:t>
            </a:r>
          </a:p>
          <a:p>
            <a:r>
              <a:rPr lang="en-US" dirty="0"/>
              <a:t>Group 2: 5 subjects</a:t>
            </a:r>
          </a:p>
          <a:p>
            <a:r>
              <a:rPr lang="en-US" dirty="0"/>
              <a:t>Group 3: 7 subjects</a:t>
            </a:r>
          </a:p>
          <a:p>
            <a:r>
              <a:rPr lang="en-US" dirty="0"/>
              <a:t>Group 4: 10 subjects</a:t>
            </a:r>
          </a:p>
        </p:txBody>
      </p:sp>
      <p:sp>
        <p:nvSpPr>
          <p:cNvPr id="12" name="Content Placeholder 2">
            <a:extLst>
              <a:ext uri="{FF2B5EF4-FFF2-40B4-BE49-F238E27FC236}">
                <a16:creationId xmlns:a16="http://schemas.microsoft.com/office/drawing/2014/main" id="{6E14B25A-471D-3DE4-411A-85D9AB2E4A8A}"/>
              </a:ext>
            </a:extLst>
          </p:cNvPr>
          <p:cNvSpPr txBox="1">
            <a:spLocks/>
          </p:cNvSpPr>
          <p:nvPr/>
        </p:nvSpPr>
        <p:spPr>
          <a:xfrm>
            <a:off x="838200" y="1825625"/>
            <a:ext cx="4321290"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4 joint Clusters based on </a:t>
            </a:r>
            <a:r>
              <a:rPr lang="en-US" dirty="0" err="1"/>
              <a:t>TrCovW</a:t>
            </a:r>
            <a:r>
              <a:rPr lang="en-US" dirty="0"/>
              <a:t> index</a:t>
            </a:r>
          </a:p>
        </p:txBody>
      </p:sp>
    </p:spTree>
    <p:extLst>
      <p:ext uri="{BB962C8B-B14F-4D97-AF65-F5344CB8AC3E}">
        <p14:creationId xmlns:p14="http://schemas.microsoft.com/office/powerpoint/2010/main" val="40027891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8E337E-AF7A-9BDB-ABDA-0B53268A49B3}"/>
              </a:ext>
            </a:extLst>
          </p:cNvPr>
          <p:cNvSpPr>
            <a:spLocks noGrp="1"/>
          </p:cNvSpPr>
          <p:nvPr>
            <p:ph type="title"/>
          </p:nvPr>
        </p:nvSpPr>
        <p:spPr/>
        <p:txBody>
          <a:bodyPr/>
          <a:lstStyle/>
          <a:p>
            <a:r>
              <a:rPr lang="en-US" dirty="0"/>
              <a:t>Validation of Number of Joint Clusters</a:t>
            </a:r>
          </a:p>
        </p:txBody>
      </p:sp>
      <p:pic>
        <p:nvPicPr>
          <p:cNvPr id="8" name="Picture 7">
            <a:extLst>
              <a:ext uri="{FF2B5EF4-FFF2-40B4-BE49-F238E27FC236}">
                <a16:creationId xmlns:a16="http://schemas.microsoft.com/office/drawing/2014/main" id="{6B748B2D-58E8-EAF7-F357-6A04FCE139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66521" y="1729710"/>
            <a:ext cx="6858957" cy="4763165"/>
          </a:xfrm>
          <a:prstGeom prst="rect">
            <a:avLst/>
          </a:prstGeom>
        </p:spPr>
      </p:pic>
    </p:spTree>
    <p:extLst>
      <p:ext uri="{BB962C8B-B14F-4D97-AF65-F5344CB8AC3E}">
        <p14:creationId xmlns:p14="http://schemas.microsoft.com/office/powerpoint/2010/main" val="34488405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29340-84BD-1F29-40E5-4BB9F682DA01}"/>
              </a:ext>
            </a:extLst>
          </p:cNvPr>
          <p:cNvSpPr>
            <a:spLocks noGrp="1"/>
          </p:cNvSpPr>
          <p:nvPr>
            <p:ph type="title"/>
          </p:nvPr>
        </p:nvSpPr>
        <p:spPr/>
        <p:txBody>
          <a:bodyPr/>
          <a:lstStyle/>
          <a:p>
            <a:r>
              <a:rPr lang="en-US" dirty="0"/>
              <a:t>Cluster Comparison</a:t>
            </a:r>
          </a:p>
        </p:txBody>
      </p:sp>
      <p:pic>
        <p:nvPicPr>
          <p:cNvPr id="4" name="Picture 3">
            <a:extLst>
              <a:ext uri="{FF2B5EF4-FFF2-40B4-BE49-F238E27FC236}">
                <a16:creationId xmlns:a16="http://schemas.microsoft.com/office/drawing/2014/main" id="{FFC7F48F-D410-A085-31BD-0809B1A5528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66521" y="1690688"/>
            <a:ext cx="6858957" cy="4763165"/>
          </a:xfrm>
          <a:prstGeom prst="rect">
            <a:avLst/>
          </a:prstGeom>
        </p:spPr>
      </p:pic>
    </p:spTree>
    <p:extLst>
      <p:ext uri="{BB962C8B-B14F-4D97-AF65-F5344CB8AC3E}">
        <p14:creationId xmlns:p14="http://schemas.microsoft.com/office/powerpoint/2010/main" val="29274335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9F081-007A-1F94-52F0-833D0E0255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4A9B52-A076-C11A-DCCE-861363228301}"/>
              </a:ext>
            </a:extLst>
          </p:cNvPr>
          <p:cNvSpPr>
            <a:spLocks noGrp="1"/>
          </p:cNvSpPr>
          <p:nvPr>
            <p:ph type="title"/>
          </p:nvPr>
        </p:nvSpPr>
        <p:spPr/>
        <p:txBody>
          <a:bodyPr/>
          <a:lstStyle/>
          <a:p>
            <a:r>
              <a:rPr lang="en-US" dirty="0"/>
              <a:t>Cluster Comparison</a:t>
            </a:r>
          </a:p>
        </p:txBody>
      </p:sp>
      <p:pic>
        <p:nvPicPr>
          <p:cNvPr id="5" name="Picture 4">
            <a:extLst>
              <a:ext uri="{FF2B5EF4-FFF2-40B4-BE49-F238E27FC236}">
                <a16:creationId xmlns:a16="http://schemas.microsoft.com/office/drawing/2014/main" id="{201BDB62-66B5-5268-F498-FCAB64BE84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3285" y="1281290"/>
            <a:ext cx="7745430" cy="5576710"/>
          </a:xfrm>
          <a:prstGeom prst="rect">
            <a:avLst/>
          </a:prstGeom>
        </p:spPr>
      </p:pic>
    </p:spTree>
    <p:extLst>
      <p:ext uri="{BB962C8B-B14F-4D97-AF65-F5344CB8AC3E}">
        <p14:creationId xmlns:p14="http://schemas.microsoft.com/office/powerpoint/2010/main" val="40195486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5144C5-E5D0-8861-0461-C460FF2BC8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87757" y="687796"/>
            <a:ext cx="7404243" cy="6170203"/>
          </a:xfrm>
          <a:prstGeom prst="rect">
            <a:avLst/>
          </a:prstGeom>
        </p:spPr>
      </p:pic>
      <p:sp>
        <p:nvSpPr>
          <p:cNvPr id="2" name="Title 1">
            <a:extLst>
              <a:ext uri="{FF2B5EF4-FFF2-40B4-BE49-F238E27FC236}">
                <a16:creationId xmlns:a16="http://schemas.microsoft.com/office/drawing/2014/main" id="{B9FC1750-823F-79ED-A0F0-B3F4697FC482}"/>
              </a:ext>
            </a:extLst>
          </p:cNvPr>
          <p:cNvSpPr>
            <a:spLocks noGrp="1"/>
          </p:cNvSpPr>
          <p:nvPr>
            <p:ph type="title"/>
          </p:nvPr>
        </p:nvSpPr>
        <p:spPr/>
        <p:txBody>
          <a:bodyPr/>
          <a:lstStyle/>
          <a:p>
            <a:r>
              <a:rPr lang="en-US" dirty="0"/>
              <a:t>Abundant Bacteria</a:t>
            </a:r>
          </a:p>
        </p:txBody>
      </p:sp>
      <p:sp>
        <p:nvSpPr>
          <p:cNvPr id="6" name="Content Placeholder 2">
            <a:extLst>
              <a:ext uri="{FF2B5EF4-FFF2-40B4-BE49-F238E27FC236}">
                <a16:creationId xmlns:a16="http://schemas.microsoft.com/office/drawing/2014/main" id="{337BDB2B-21A5-31EC-1CE5-335845DBDC4F}"/>
              </a:ext>
            </a:extLst>
          </p:cNvPr>
          <p:cNvSpPr txBox="1">
            <a:spLocks/>
          </p:cNvSpPr>
          <p:nvPr/>
        </p:nvSpPr>
        <p:spPr>
          <a:xfrm>
            <a:off x="595902" y="1825625"/>
            <a:ext cx="4058292" cy="4667250"/>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Fusobacterium and both </a:t>
            </a:r>
            <a:r>
              <a:rPr lang="en-US" sz="2400" dirty="0" err="1"/>
              <a:t>Veillonella</a:t>
            </a:r>
            <a:r>
              <a:rPr lang="en-US" sz="2400" dirty="0"/>
              <a:t> have statistically significant group differences after FDR correction</a:t>
            </a:r>
          </a:p>
          <a:p>
            <a:r>
              <a:rPr lang="en-US" sz="2400" dirty="0"/>
              <a:t>9 were statistically significant: </a:t>
            </a:r>
          </a:p>
          <a:p>
            <a:pPr lvl="1"/>
            <a:r>
              <a:rPr lang="es-ES" sz="1800" dirty="0" err="1"/>
              <a:t>Veillonella</a:t>
            </a:r>
            <a:r>
              <a:rPr lang="es-ES" sz="1800" dirty="0"/>
              <a:t> (</a:t>
            </a:r>
            <a:r>
              <a:rPr lang="es-ES" sz="1800" dirty="0" err="1"/>
              <a:t>Selenomonadales</a:t>
            </a:r>
            <a:r>
              <a:rPr lang="es-ES" sz="1800" dirty="0"/>
              <a:t>)</a:t>
            </a:r>
          </a:p>
          <a:p>
            <a:pPr lvl="1"/>
            <a:r>
              <a:rPr lang="es-ES" sz="1800" dirty="0" err="1"/>
              <a:t>Veillonella</a:t>
            </a:r>
            <a:r>
              <a:rPr lang="es-ES" sz="1800" dirty="0"/>
              <a:t> (Clostridiales)</a:t>
            </a:r>
          </a:p>
          <a:p>
            <a:pPr lvl="1"/>
            <a:r>
              <a:rPr lang="es-ES" sz="1800" dirty="0" err="1"/>
              <a:t>Fusobacterium</a:t>
            </a:r>
            <a:r>
              <a:rPr lang="es-ES" sz="1800" dirty="0"/>
              <a:t> (</a:t>
            </a:r>
            <a:r>
              <a:rPr lang="es-ES" sz="1800" dirty="0" err="1"/>
              <a:t>Fusobacteriia</a:t>
            </a:r>
            <a:r>
              <a:rPr lang="es-ES" sz="1800" dirty="0"/>
              <a:t>) </a:t>
            </a:r>
          </a:p>
          <a:p>
            <a:pPr lvl="1"/>
            <a:r>
              <a:rPr lang="en-US" sz="1800" dirty="0"/>
              <a:t>Fusobacterium (Fusobacteria) </a:t>
            </a:r>
          </a:p>
          <a:p>
            <a:pPr lvl="1"/>
            <a:r>
              <a:rPr lang="en-US" sz="1800" dirty="0" err="1"/>
              <a:t>Leptotrichia</a:t>
            </a:r>
            <a:endParaRPr lang="en-US" sz="1800" dirty="0"/>
          </a:p>
          <a:p>
            <a:pPr lvl="1"/>
            <a:r>
              <a:rPr lang="en-US" sz="1800" dirty="0" err="1"/>
              <a:t>Lachnoanaerobaculum</a:t>
            </a:r>
            <a:r>
              <a:rPr lang="en-US" sz="1800" dirty="0"/>
              <a:t> </a:t>
            </a:r>
          </a:p>
          <a:p>
            <a:pPr lvl="1"/>
            <a:r>
              <a:rPr lang="en-US" sz="1800" dirty="0"/>
              <a:t>Neisseriaceae</a:t>
            </a:r>
          </a:p>
          <a:p>
            <a:pPr lvl="1"/>
            <a:r>
              <a:rPr lang="en-US" sz="1800" dirty="0" err="1"/>
              <a:t>Selenomonas</a:t>
            </a:r>
            <a:endParaRPr lang="en-US" sz="1800" dirty="0"/>
          </a:p>
          <a:p>
            <a:pPr lvl="1"/>
            <a:r>
              <a:rPr lang="en-US" sz="1800" dirty="0" err="1"/>
              <a:t>Solobacterium</a:t>
            </a:r>
            <a:endParaRPr lang="en-US" sz="1800" dirty="0"/>
          </a:p>
        </p:txBody>
      </p:sp>
    </p:spTree>
    <p:extLst>
      <p:ext uri="{BB962C8B-B14F-4D97-AF65-F5344CB8AC3E}">
        <p14:creationId xmlns:p14="http://schemas.microsoft.com/office/powerpoint/2010/main" val="3220994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3FD00-C95F-A5A7-FAC6-63482FE6DB4F}"/>
              </a:ext>
            </a:extLst>
          </p:cNvPr>
          <p:cNvSpPr>
            <a:spLocks noGrp="1"/>
          </p:cNvSpPr>
          <p:nvPr>
            <p:ph type="title"/>
          </p:nvPr>
        </p:nvSpPr>
        <p:spPr/>
        <p:txBody>
          <a:bodyPr/>
          <a:lstStyle/>
          <a:p>
            <a:r>
              <a:rPr lang="en-US" dirty="0"/>
              <a:t>Significant Bacteria</a:t>
            </a:r>
          </a:p>
        </p:txBody>
      </p:sp>
      <p:sp>
        <p:nvSpPr>
          <p:cNvPr id="3" name="Content Placeholder 2">
            <a:extLst>
              <a:ext uri="{FF2B5EF4-FFF2-40B4-BE49-F238E27FC236}">
                <a16:creationId xmlns:a16="http://schemas.microsoft.com/office/drawing/2014/main" id="{168DDF37-A311-1899-6FF9-CD1AF7D08DDA}"/>
              </a:ext>
            </a:extLst>
          </p:cNvPr>
          <p:cNvSpPr>
            <a:spLocks noGrp="1"/>
          </p:cNvSpPr>
          <p:nvPr>
            <p:ph idx="1"/>
          </p:nvPr>
        </p:nvSpPr>
        <p:spPr>
          <a:xfrm>
            <a:off x="838200" y="1825625"/>
            <a:ext cx="3476946" cy="4351338"/>
          </a:xfrm>
        </p:spPr>
        <p:txBody>
          <a:bodyPr/>
          <a:lstStyle/>
          <a:p>
            <a:r>
              <a:rPr lang="en-US" dirty="0"/>
              <a:t>Fusobacterium and both </a:t>
            </a:r>
            <a:r>
              <a:rPr lang="en-US" dirty="0" err="1"/>
              <a:t>Veillonella</a:t>
            </a:r>
            <a:r>
              <a:rPr lang="en-US" dirty="0"/>
              <a:t> are also abundant</a:t>
            </a:r>
          </a:p>
        </p:txBody>
      </p:sp>
      <p:pic>
        <p:nvPicPr>
          <p:cNvPr id="8" name="Picture 7">
            <a:extLst>
              <a:ext uri="{FF2B5EF4-FFF2-40B4-BE49-F238E27FC236}">
                <a16:creationId xmlns:a16="http://schemas.microsoft.com/office/drawing/2014/main" id="{0BB5267D-E078-9D43-CDAA-C84F220F5DA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25009" y="1325366"/>
            <a:ext cx="7966991" cy="5532634"/>
          </a:xfrm>
          <a:prstGeom prst="rect">
            <a:avLst/>
          </a:prstGeom>
        </p:spPr>
      </p:pic>
    </p:spTree>
    <p:extLst>
      <p:ext uri="{BB962C8B-B14F-4D97-AF65-F5344CB8AC3E}">
        <p14:creationId xmlns:p14="http://schemas.microsoft.com/office/powerpoint/2010/main" val="22258018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BE81-EA35-BFBB-90BD-BF96A3167A76}"/>
              </a:ext>
            </a:extLst>
          </p:cNvPr>
          <p:cNvSpPr>
            <a:spLocks noGrp="1"/>
          </p:cNvSpPr>
          <p:nvPr>
            <p:ph type="title"/>
          </p:nvPr>
        </p:nvSpPr>
        <p:spPr>
          <a:xfrm>
            <a:off x="838200" y="365125"/>
            <a:ext cx="3124201" cy="2008205"/>
          </a:xfrm>
        </p:spPr>
        <p:txBody>
          <a:bodyPr>
            <a:normAutofit/>
          </a:bodyPr>
          <a:lstStyle/>
          <a:p>
            <a:r>
              <a:rPr lang="en-US" dirty="0"/>
              <a:t>Clinically Relevant Proteins</a:t>
            </a:r>
          </a:p>
        </p:txBody>
      </p:sp>
      <p:pic>
        <p:nvPicPr>
          <p:cNvPr id="5" name="Picture 4">
            <a:extLst>
              <a:ext uri="{FF2B5EF4-FFF2-40B4-BE49-F238E27FC236}">
                <a16:creationId xmlns:a16="http://schemas.microsoft.com/office/drawing/2014/main" id="{ED97E560-B4B1-4189-6F0D-39B6AB89B6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62401" y="0"/>
            <a:ext cx="8229600" cy="6858000"/>
          </a:xfrm>
          <a:prstGeom prst="rect">
            <a:avLst/>
          </a:prstGeom>
        </p:spPr>
      </p:pic>
      <p:sp>
        <p:nvSpPr>
          <p:cNvPr id="6" name="Content Placeholder 2">
            <a:extLst>
              <a:ext uri="{FF2B5EF4-FFF2-40B4-BE49-F238E27FC236}">
                <a16:creationId xmlns:a16="http://schemas.microsoft.com/office/drawing/2014/main" id="{1A29A372-73FE-D1A8-997D-D1FE69B82593}"/>
              </a:ext>
            </a:extLst>
          </p:cNvPr>
          <p:cNvSpPr txBox="1">
            <a:spLocks/>
          </p:cNvSpPr>
          <p:nvPr/>
        </p:nvSpPr>
        <p:spPr>
          <a:xfrm>
            <a:off x="595902" y="2527443"/>
            <a:ext cx="3124201" cy="396543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No proteins were statistically significant after FDR adjustment</a:t>
            </a:r>
            <a:endParaRPr lang="en-US" sz="1800" dirty="0"/>
          </a:p>
        </p:txBody>
      </p:sp>
    </p:spTree>
    <p:extLst>
      <p:ext uri="{BB962C8B-B14F-4D97-AF65-F5344CB8AC3E}">
        <p14:creationId xmlns:p14="http://schemas.microsoft.com/office/powerpoint/2010/main" val="18344935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52E80-C66E-B530-C62B-57A792302831}"/>
              </a:ext>
            </a:extLst>
          </p:cNvPr>
          <p:cNvSpPr>
            <a:spLocks noGrp="1"/>
          </p:cNvSpPr>
          <p:nvPr>
            <p:ph type="title"/>
          </p:nvPr>
        </p:nvSpPr>
        <p:spPr>
          <a:xfrm>
            <a:off x="838200" y="365125"/>
            <a:ext cx="5670865" cy="1325563"/>
          </a:xfrm>
        </p:spPr>
        <p:txBody>
          <a:bodyPr>
            <a:normAutofit fontScale="90000"/>
          </a:bodyPr>
          <a:lstStyle/>
          <a:p>
            <a:r>
              <a:rPr lang="en-US" dirty="0"/>
              <a:t>Cluster Demographic and Clinical Descriptions</a:t>
            </a:r>
          </a:p>
        </p:txBody>
      </p:sp>
      <p:pic>
        <p:nvPicPr>
          <p:cNvPr id="4" name="Picture 3">
            <a:extLst>
              <a:ext uri="{FF2B5EF4-FFF2-40B4-BE49-F238E27FC236}">
                <a16:creationId xmlns:a16="http://schemas.microsoft.com/office/drawing/2014/main" id="{A55F0CE3-C401-2421-46CB-43102A955851}"/>
              </a:ext>
            </a:extLst>
          </p:cNvPr>
          <p:cNvPicPr>
            <a:picLocks noChangeAspect="1"/>
          </p:cNvPicPr>
          <p:nvPr/>
        </p:nvPicPr>
        <p:blipFill>
          <a:blip r:embed="rId3"/>
          <a:srcRect r="14430"/>
          <a:stretch>
            <a:fillRect/>
          </a:stretch>
        </p:blipFill>
        <p:spPr>
          <a:xfrm>
            <a:off x="226032" y="2285592"/>
            <a:ext cx="6086803" cy="4432654"/>
          </a:xfrm>
          <a:prstGeom prst="rect">
            <a:avLst/>
          </a:prstGeom>
        </p:spPr>
      </p:pic>
      <p:pic>
        <p:nvPicPr>
          <p:cNvPr id="6" name="Picture 5">
            <a:extLst>
              <a:ext uri="{FF2B5EF4-FFF2-40B4-BE49-F238E27FC236}">
                <a16:creationId xmlns:a16="http://schemas.microsoft.com/office/drawing/2014/main" id="{FF4B13E2-9CEC-E6AD-5947-E716DD972331}"/>
              </a:ext>
            </a:extLst>
          </p:cNvPr>
          <p:cNvPicPr>
            <a:picLocks noChangeAspect="1"/>
          </p:cNvPicPr>
          <p:nvPr/>
        </p:nvPicPr>
        <p:blipFill>
          <a:blip r:embed="rId4"/>
          <a:srcRect r="13935"/>
          <a:stretch>
            <a:fillRect/>
          </a:stretch>
        </p:blipFill>
        <p:spPr>
          <a:xfrm>
            <a:off x="6509065" y="1045494"/>
            <a:ext cx="5682935" cy="5812506"/>
          </a:xfrm>
          <a:prstGeom prst="rect">
            <a:avLst/>
          </a:prstGeom>
        </p:spPr>
      </p:pic>
    </p:spTree>
    <p:extLst>
      <p:ext uri="{BB962C8B-B14F-4D97-AF65-F5344CB8AC3E}">
        <p14:creationId xmlns:p14="http://schemas.microsoft.com/office/powerpoint/2010/main" val="11818144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735C716-FF71-208A-F26E-367138DE6B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83401" y="1365917"/>
            <a:ext cx="7908599" cy="5492083"/>
          </a:xfrm>
          <a:prstGeom prst="rect">
            <a:avLst/>
          </a:prstGeom>
        </p:spPr>
      </p:pic>
      <p:sp>
        <p:nvSpPr>
          <p:cNvPr id="6" name="Title 1">
            <a:extLst>
              <a:ext uri="{FF2B5EF4-FFF2-40B4-BE49-F238E27FC236}">
                <a16:creationId xmlns:a16="http://schemas.microsoft.com/office/drawing/2014/main" id="{284EAE91-A47E-C916-24E2-24D43FC678EC}"/>
              </a:ext>
            </a:extLst>
          </p:cNvPr>
          <p:cNvSpPr>
            <a:spLocks noGrp="1"/>
          </p:cNvSpPr>
          <p:nvPr>
            <p:ph type="title"/>
          </p:nvPr>
        </p:nvSpPr>
        <p:spPr>
          <a:xfrm>
            <a:off x="838200" y="365125"/>
            <a:ext cx="10515600" cy="1325563"/>
          </a:xfrm>
        </p:spPr>
        <p:txBody>
          <a:bodyPr/>
          <a:lstStyle/>
          <a:p>
            <a:r>
              <a:rPr lang="en-US" dirty="0"/>
              <a:t>FEV1/FVC Across Visits</a:t>
            </a:r>
          </a:p>
        </p:txBody>
      </p:sp>
      <p:sp>
        <p:nvSpPr>
          <p:cNvPr id="7" name="Content Placeholder 2">
            <a:extLst>
              <a:ext uri="{FF2B5EF4-FFF2-40B4-BE49-F238E27FC236}">
                <a16:creationId xmlns:a16="http://schemas.microsoft.com/office/drawing/2014/main" id="{8493C406-6455-18C1-3959-40C6D9775D5F}"/>
              </a:ext>
            </a:extLst>
          </p:cNvPr>
          <p:cNvSpPr txBox="1">
            <a:spLocks/>
          </p:cNvSpPr>
          <p:nvPr/>
        </p:nvSpPr>
        <p:spPr>
          <a:xfrm>
            <a:off x="838200" y="1690688"/>
            <a:ext cx="3124201" cy="396543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No demographic or clinical characteristics were statistically significant after FDR adjustment</a:t>
            </a:r>
            <a:endParaRPr lang="en-US" sz="1800" dirty="0"/>
          </a:p>
        </p:txBody>
      </p:sp>
    </p:spTree>
    <p:extLst>
      <p:ext uri="{BB962C8B-B14F-4D97-AF65-F5344CB8AC3E}">
        <p14:creationId xmlns:p14="http://schemas.microsoft.com/office/powerpoint/2010/main" val="27057419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70A1A-3BEA-D55F-8C29-2D404CFDF1FA}"/>
              </a:ext>
            </a:extLst>
          </p:cNvPr>
          <p:cNvSpPr>
            <a:spLocks noGrp="1"/>
          </p:cNvSpPr>
          <p:nvPr>
            <p:ph type="title"/>
          </p:nvPr>
        </p:nvSpPr>
        <p:spPr/>
        <p:txBody>
          <a:bodyPr/>
          <a:lstStyle/>
          <a:p>
            <a:r>
              <a:rPr lang="en-US" dirty="0"/>
              <a:t>Discussion</a:t>
            </a:r>
          </a:p>
        </p:txBody>
      </p:sp>
      <p:sp>
        <p:nvSpPr>
          <p:cNvPr id="3" name="Content Placeholder 2">
            <a:extLst>
              <a:ext uri="{FF2B5EF4-FFF2-40B4-BE49-F238E27FC236}">
                <a16:creationId xmlns:a16="http://schemas.microsoft.com/office/drawing/2014/main" id="{3E37B686-DD44-AA29-A5F3-326530CE8FC5}"/>
              </a:ext>
            </a:extLst>
          </p:cNvPr>
          <p:cNvSpPr>
            <a:spLocks noGrp="1"/>
          </p:cNvSpPr>
          <p:nvPr>
            <p:ph idx="1"/>
          </p:nvPr>
        </p:nvSpPr>
        <p:spPr/>
        <p:txBody>
          <a:bodyPr/>
          <a:lstStyle/>
          <a:p>
            <a:r>
              <a:rPr lang="en-US" dirty="0"/>
              <a:t>TODO - How do these results compare to Brenton’s paper</a:t>
            </a:r>
          </a:p>
          <a:p>
            <a:r>
              <a:rPr lang="en-US" dirty="0"/>
              <a:t>Limitations</a:t>
            </a:r>
          </a:p>
          <a:p>
            <a:pPr lvl="1"/>
            <a:r>
              <a:rPr lang="en-US" dirty="0"/>
              <a:t>Sample Size</a:t>
            </a:r>
          </a:p>
          <a:p>
            <a:pPr lvl="1"/>
            <a:r>
              <a:rPr lang="en-US" dirty="0"/>
              <a:t>Only looked at children</a:t>
            </a:r>
          </a:p>
          <a:p>
            <a:pPr lvl="2"/>
            <a:r>
              <a:rPr lang="en-US" dirty="0"/>
              <a:t>May reduce generalizability to adults</a:t>
            </a:r>
          </a:p>
          <a:p>
            <a:pPr lvl="1"/>
            <a:r>
              <a:rPr lang="en-US" dirty="0"/>
              <a:t>Same distance matrix for each view (Euclidian)</a:t>
            </a:r>
          </a:p>
          <a:p>
            <a:pPr lvl="2"/>
            <a:r>
              <a:rPr lang="en-US" dirty="0"/>
              <a:t>Ecological may be better for microbiome</a:t>
            </a:r>
          </a:p>
          <a:p>
            <a:pPr lvl="1"/>
            <a:r>
              <a:rPr lang="en-US" dirty="0"/>
              <a:t>Looking at proteomics from blood</a:t>
            </a:r>
          </a:p>
          <a:p>
            <a:pPr lvl="2"/>
            <a:r>
              <a:rPr lang="en-US" dirty="0"/>
              <a:t>may not correspond to what we are seeing in the airway</a:t>
            </a:r>
          </a:p>
          <a:p>
            <a:pPr lvl="1"/>
            <a:r>
              <a:rPr lang="en-US" dirty="0"/>
              <a:t>Have to decide the appropriate measure to determine the number of joint clusters</a:t>
            </a:r>
          </a:p>
          <a:p>
            <a:pPr lvl="2"/>
            <a:endParaRPr lang="en-US" dirty="0"/>
          </a:p>
          <a:p>
            <a:pPr lvl="1"/>
            <a:endParaRPr lang="en-US" dirty="0"/>
          </a:p>
          <a:p>
            <a:pPr lvl="1"/>
            <a:endParaRPr lang="en-US" dirty="0"/>
          </a:p>
          <a:p>
            <a:endParaRPr lang="en-US" dirty="0"/>
          </a:p>
        </p:txBody>
      </p:sp>
    </p:spTree>
    <p:extLst>
      <p:ext uri="{BB962C8B-B14F-4D97-AF65-F5344CB8AC3E}">
        <p14:creationId xmlns:p14="http://schemas.microsoft.com/office/powerpoint/2010/main" val="42519897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2FD12A-01BA-E9FB-5320-3D92B4DFF7C0}"/>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75D73A7E-F91F-5FDC-E617-10C310D3F0A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4603904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bionic-vision.org | Institutions | University of Colorado Anschutz Medical  Campus">
            <a:extLst>
              <a:ext uri="{FF2B5EF4-FFF2-40B4-BE49-F238E27FC236}">
                <a16:creationId xmlns:a16="http://schemas.microsoft.com/office/drawing/2014/main" id="{3F393AC6-52FC-21AB-2455-C44040F9DC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45357" y="4737009"/>
            <a:ext cx="3552790" cy="2038796"/>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D2FC290-6ECD-637A-F2EF-5493BCA9391A}"/>
              </a:ext>
            </a:extLst>
          </p:cNvPr>
          <p:cNvSpPr>
            <a:spLocks noGrp="1"/>
          </p:cNvSpPr>
          <p:nvPr>
            <p:ph type="title"/>
          </p:nvPr>
        </p:nvSpPr>
        <p:spPr/>
        <p:txBody>
          <a:bodyPr/>
          <a:lstStyle/>
          <a:p>
            <a:r>
              <a:rPr lang="en-US" dirty="0"/>
              <a:t>Thank You and Acknowledgements </a:t>
            </a:r>
          </a:p>
        </p:txBody>
      </p:sp>
      <p:sp>
        <p:nvSpPr>
          <p:cNvPr id="3" name="Content Placeholder 2">
            <a:extLst>
              <a:ext uri="{FF2B5EF4-FFF2-40B4-BE49-F238E27FC236}">
                <a16:creationId xmlns:a16="http://schemas.microsoft.com/office/drawing/2014/main" id="{99369783-599E-F617-200A-BCD93A685B34}"/>
              </a:ext>
            </a:extLst>
          </p:cNvPr>
          <p:cNvSpPr>
            <a:spLocks noGrp="1"/>
          </p:cNvSpPr>
          <p:nvPr>
            <p:ph idx="1"/>
          </p:nvPr>
        </p:nvSpPr>
        <p:spPr>
          <a:xfrm>
            <a:off x="838200" y="1825625"/>
            <a:ext cx="10515600" cy="4351338"/>
          </a:xfrm>
        </p:spPr>
        <p:txBody>
          <a:bodyPr>
            <a:normAutofit lnSpcReduction="10000"/>
          </a:bodyPr>
          <a:lstStyle/>
          <a:p>
            <a:r>
              <a:rPr lang="en-US" dirty="0"/>
              <a:t>Committee</a:t>
            </a:r>
          </a:p>
          <a:p>
            <a:pPr lvl="1"/>
            <a:r>
              <a:rPr lang="en-US" dirty="0"/>
              <a:t>Brandie Wagner</a:t>
            </a:r>
          </a:p>
          <a:p>
            <a:pPr lvl="1"/>
            <a:r>
              <a:rPr lang="en-US" dirty="0" err="1"/>
              <a:t>Debashis</a:t>
            </a:r>
            <a:r>
              <a:rPr lang="en-US" dirty="0"/>
              <a:t> Ghosh</a:t>
            </a:r>
          </a:p>
          <a:p>
            <a:pPr lvl="1"/>
            <a:r>
              <a:rPr lang="en-US" dirty="0"/>
              <a:t>Kirk Harris</a:t>
            </a:r>
          </a:p>
          <a:p>
            <a:r>
              <a:rPr lang="en-US" dirty="0"/>
              <a:t>Additional Research &amp; Technical Contributors</a:t>
            </a:r>
          </a:p>
          <a:p>
            <a:pPr lvl="1"/>
            <a:r>
              <a:rPr lang="en-US" dirty="0"/>
              <a:t>Charlie Carpenter</a:t>
            </a:r>
          </a:p>
          <a:p>
            <a:pPr lvl="1"/>
            <a:r>
              <a:rPr lang="en-US" dirty="0"/>
              <a:t>Edith </a:t>
            </a:r>
            <a:r>
              <a:rPr lang="en-US" dirty="0" err="1"/>
              <a:t>Zemanick</a:t>
            </a:r>
            <a:endParaRPr lang="en-US" dirty="0"/>
          </a:p>
          <a:p>
            <a:pPr lvl="1"/>
            <a:r>
              <a:rPr lang="en-US" dirty="0"/>
              <a:t>Brenton Graham</a:t>
            </a:r>
          </a:p>
          <a:p>
            <a:r>
              <a:rPr lang="en-US" dirty="0"/>
              <a:t>Administrative Support</a:t>
            </a:r>
          </a:p>
          <a:p>
            <a:pPr lvl="1"/>
            <a:r>
              <a:rPr lang="en-US" dirty="0"/>
              <a:t>Rocío Vélez-Pesante</a:t>
            </a:r>
          </a:p>
          <a:p>
            <a:pPr lvl="1"/>
            <a:r>
              <a:rPr lang="en-US" dirty="0"/>
              <a:t>Brenda Witt</a:t>
            </a:r>
          </a:p>
          <a:p>
            <a:pPr marL="457200" lvl="1" indent="0">
              <a:buNone/>
            </a:pPr>
            <a:endParaRPr lang="en-US" dirty="0"/>
          </a:p>
        </p:txBody>
      </p:sp>
      <p:pic>
        <p:nvPicPr>
          <p:cNvPr id="1026" name="Picture 2" descr="Center for Global Health | Colorado School of Public Health">
            <a:extLst>
              <a:ext uri="{FF2B5EF4-FFF2-40B4-BE49-F238E27FC236}">
                <a16:creationId xmlns:a16="http://schemas.microsoft.com/office/drawing/2014/main" id="{155F9CF4-B6D8-F5B1-A719-98415E63B8F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89437" y="4001294"/>
            <a:ext cx="3908710" cy="8593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57203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560</TotalTime>
  <Words>1470</Words>
  <Application>Microsoft Office PowerPoint</Application>
  <PresentationFormat>Widescreen</PresentationFormat>
  <Paragraphs>133</Paragraphs>
  <Slides>22</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Aptos</vt:lpstr>
      <vt:lpstr>Aptos Display</vt:lpstr>
      <vt:lpstr>Arial</vt:lpstr>
      <vt:lpstr>Google Sans</vt:lpstr>
      <vt:lpstr>Office Theme</vt:lpstr>
      <vt:lpstr>Multi-Omic Clustering in Children with CF at the Initiation of a Pulmonary Exacerbation</vt:lpstr>
      <vt:lpstr>PowerPoint Presentation</vt:lpstr>
      <vt:lpstr>Why Single-View Approaches Fall Short</vt:lpstr>
      <vt:lpstr>Dataset Overview </vt:lpstr>
      <vt:lpstr>Microbiome and Proteome Overview</vt:lpstr>
      <vt:lpstr>Research Question</vt:lpstr>
      <vt:lpstr>Spectral Clustering</vt:lpstr>
      <vt:lpstr>Multi-Omic Spectral Clustering using the Flag Manifold (MMOC)                       Charlie Carpenter</vt:lpstr>
      <vt:lpstr>Proteomics Clustering</vt:lpstr>
      <vt:lpstr>Microbiome Clustering</vt:lpstr>
      <vt:lpstr>Joint Clustering</vt:lpstr>
      <vt:lpstr>Validation of Number of Joint Clusters</vt:lpstr>
      <vt:lpstr>Cluster Comparison</vt:lpstr>
      <vt:lpstr>Cluster Comparison</vt:lpstr>
      <vt:lpstr>Abundant Bacteria</vt:lpstr>
      <vt:lpstr>Significant Bacteria</vt:lpstr>
      <vt:lpstr>Clinically Relevant Proteins</vt:lpstr>
      <vt:lpstr>Cluster Demographic and Clinical Descriptions</vt:lpstr>
      <vt:lpstr>FEV1/FVC Across Visits</vt:lpstr>
      <vt:lpstr>Discussion</vt:lpstr>
      <vt:lpstr>Questions?</vt:lpstr>
      <vt:lpstr>Thank You and Acknowledgements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Weible, Ezra</dc:creator>
  <cp:lastModifiedBy>Weible, Ezra</cp:lastModifiedBy>
  <cp:revision>2</cp:revision>
  <dcterms:created xsi:type="dcterms:W3CDTF">2026-01-27T00:05:58Z</dcterms:created>
  <dcterms:modified xsi:type="dcterms:W3CDTF">2026-03-30T22:14:48Z</dcterms:modified>
</cp:coreProperties>
</file>